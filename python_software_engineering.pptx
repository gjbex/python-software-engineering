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4"/>
  </p:notesMasterIdLst>
  <p:sldIdLst>
    <p:sldId id="257" r:id="rId3"/>
    <p:sldId id="355" r:id="rId4"/>
    <p:sldId id="357" r:id="rId5"/>
    <p:sldId id="353" r:id="rId6"/>
    <p:sldId id="360" r:id="rId7"/>
    <p:sldId id="362" r:id="rId8"/>
    <p:sldId id="363" r:id="rId9"/>
    <p:sldId id="361" r:id="rId10"/>
    <p:sldId id="365" r:id="rId11"/>
    <p:sldId id="376" r:id="rId12"/>
    <p:sldId id="364" r:id="rId13"/>
    <p:sldId id="378" r:id="rId14"/>
    <p:sldId id="379" r:id="rId15"/>
    <p:sldId id="377" r:id="rId16"/>
    <p:sldId id="380" r:id="rId17"/>
    <p:sldId id="381" r:id="rId18"/>
    <p:sldId id="383" r:id="rId19"/>
    <p:sldId id="384" r:id="rId20"/>
    <p:sldId id="385" r:id="rId21"/>
    <p:sldId id="382" r:id="rId22"/>
    <p:sldId id="297" r:id="rId23"/>
    <p:sldId id="298" r:id="rId24"/>
    <p:sldId id="299" r:id="rId25"/>
    <p:sldId id="300" r:id="rId26"/>
    <p:sldId id="301" r:id="rId27"/>
    <p:sldId id="302" r:id="rId28"/>
    <p:sldId id="268" r:id="rId29"/>
    <p:sldId id="269" r:id="rId30"/>
    <p:sldId id="258" r:id="rId31"/>
    <p:sldId id="259" r:id="rId32"/>
    <p:sldId id="260" r:id="rId33"/>
    <p:sldId id="261" r:id="rId34"/>
    <p:sldId id="262" r:id="rId35"/>
    <p:sldId id="263" r:id="rId36"/>
    <p:sldId id="264" r:id="rId37"/>
    <p:sldId id="265" r:id="rId38"/>
    <p:sldId id="266" r:id="rId39"/>
    <p:sldId id="267" r:id="rId40"/>
    <p:sldId id="270" r:id="rId41"/>
    <p:sldId id="271" r:id="rId42"/>
    <p:sldId id="272" r:id="rId43"/>
    <p:sldId id="303" r:id="rId44"/>
    <p:sldId id="304" r:id="rId45"/>
    <p:sldId id="388" r:id="rId46"/>
    <p:sldId id="389" r:id="rId47"/>
    <p:sldId id="390" r:id="rId48"/>
    <p:sldId id="391" r:id="rId49"/>
    <p:sldId id="392" r:id="rId50"/>
    <p:sldId id="393" r:id="rId51"/>
    <p:sldId id="395" r:id="rId52"/>
    <p:sldId id="396" r:id="rId53"/>
    <p:sldId id="397" r:id="rId54"/>
    <p:sldId id="401" r:id="rId55"/>
    <p:sldId id="398" r:id="rId56"/>
    <p:sldId id="399" r:id="rId57"/>
    <p:sldId id="400" r:id="rId58"/>
    <p:sldId id="394" r:id="rId59"/>
    <p:sldId id="273" r:id="rId60"/>
    <p:sldId id="366" r:id="rId61"/>
    <p:sldId id="274" r:id="rId62"/>
    <p:sldId id="275" r:id="rId63"/>
    <p:sldId id="276" r:id="rId64"/>
    <p:sldId id="277" r:id="rId65"/>
    <p:sldId id="278" r:id="rId66"/>
    <p:sldId id="279" r:id="rId67"/>
    <p:sldId id="280" r:id="rId68"/>
    <p:sldId id="281" r:id="rId69"/>
    <p:sldId id="282" r:id="rId70"/>
    <p:sldId id="283" r:id="rId71"/>
    <p:sldId id="284" r:id="rId72"/>
    <p:sldId id="285" r:id="rId73"/>
    <p:sldId id="286" r:id="rId74"/>
    <p:sldId id="287" r:id="rId75"/>
    <p:sldId id="288" r:id="rId76"/>
    <p:sldId id="289" r:id="rId77"/>
    <p:sldId id="290" r:id="rId78"/>
    <p:sldId id="291" r:id="rId79"/>
    <p:sldId id="292" r:id="rId80"/>
    <p:sldId id="293" r:id="rId81"/>
    <p:sldId id="294" r:id="rId82"/>
    <p:sldId id="295" r:id="rId83"/>
    <p:sldId id="296" r:id="rId84"/>
    <p:sldId id="356" r:id="rId85"/>
    <p:sldId id="358" r:id="rId86"/>
    <p:sldId id="359" r:id="rId87"/>
    <p:sldId id="339" r:id="rId88"/>
    <p:sldId id="340" r:id="rId89"/>
    <p:sldId id="341" r:id="rId90"/>
    <p:sldId id="342" r:id="rId91"/>
    <p:sldId id="343" r:id="rId92"/>
    <p:sldId id="320" r:id="rId93"/>
    <p:sldId id="367" r:id="rId94"/>
    <p:sldId id="321" r:id="rId95"/>
    <p:sldId id="322" r:id="rId96"/>
    <p:sldId id="324" r:id="rId97"/>
    <p:sldId id="325" r:id="rId98"/>
    <p:sldId id="326" r:id="rId99"/>
    <p:sldId id="327" r:id="rId100"/>
    <p:sldId id="331" r:id="rId101"/>
    <p:sldId id="332" r:id="rId102"/>
    <p:sldId id="333" r:id="rId103"/>
    <p:sldId id="334" r:id="rId104"/>
    <p:sldId id="335" r:id="rId105"/>
    <p:sldId id="336" r:id="rId106"/>
    <p:sldId id="337" r:id="rId107"/>
    <p:sldId id="352" r:id="rId108"/>
    <p:sldId id="368" r:id="rId109"/>
    <p:sldId id="369" r:id="rId110"/>
    <p:sldId id="370" r:id="rId111"/>
    <p:sldId id="371" r:id="rId112"/>
    <p:sldId id="372" r:id="rId113"/>
    <p:sldId id="373" r:id="rId114"/>
    <p:sldId id="375" r:id="rId115"/>
    <p:sldId id="345" r:id="rId116"/>
    <p:sldId id="346" r:id="rId117"/>
    <p:sldId id="347" r:id="rId118"/>
    <p:sldId id="348" r:id="rId119"/>
    <p:sldId id="349" r:id="rId120"/>
    <p:sldId id="350" r:id="rId121"/>
    <p:sldId id="351" r:id="rId122"/>
    <p:sldId id="374" r:id="rId1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19D358F-6D81-431B-BCFF-5D55F9D505A7}">
          <p14:sldIdLst>
            <p14:sldId id="257"/>
            <p14:sldId id="355"/>
            <p14:sldId id="357"/>
            <p14:sldId id="353"/>
          </p14:sldIdLst>
        </p14:section>
        <p14:section name="Best practices" id="{B7F93EE8-9376-4A42-B125-2D30E4EA6881}">
          <p14:sldIdLst>
            <p14:sldId id="360"/>
            <p14:sldId id="362"/>
            <p14:sldId id="363"/>
            <p14:sldId id="361"/>
            <p14:sldId id="365"/>
            <p14:sldId id="376"/>
            <p14:sldId id="364"/>
          </p14:sldIdLst>
        </p14:section>
        <p14:section name="Type hints" id="{9AC22D35-D3EF-4EC6-9520-F44D55A15DC6}">
          <p14:sldIdLst>
            <p14:sldId id="378"/>
            <p14:sldId id="379"/>
            <p14:sldId id="377"/>
            <p14:sldId id="380"/>
            <p14:sldId id="381"/>
            <p14:sldId id="383"/>
            <p14:sldId id="384"/>
            <p14:sldId id="385"/>
            <p14:sldId id="382"/>
          </p14:sldIdLst>
        </p14:section>
        <p14:section name="Exception handling" id="{E4D51DF4-3669-4949-94E7-61FC06D0A65A}">
          <p14:sldIdLst>
            <p14:sldId id="297"/>
            <p14:sldId id="298"/>
            <p14:sldId id="299"/>
            <p14:sldId id="300"/>
            <p14:sldId id="301"/>
            <p14:sldId id="302"/>
            <p14:sldId id="268"/>
            <p14:sldId id="269"/>
          </p14:sldIdLst>
        </p14:section>
        <p14:section name="Code organization" id="{8347AA9E-2BCB-48F7-8444-ADE8BE7F8991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ocumentation and doctest" id="{BFE72FDB-CCF5-4969-93A8-E146BBB0CCDC}">
          <p14:sldIdLst>
            <p14:sldId id="264"/>
            <p14:sldId id="265"/>
            <p14:sldId id="266"/>
            <p14:sldId id="267"/>
            <p14:sldId id="270"/>
            <p14:sldId id="271"/>
            <p14:sldId id="272"/>
          </p14:sldIdLst>
        </p14:section>
        <p14:section name="Unit testing" id="{7E877D27-F130-44C4-BFD2-77E74666C206}">
          <p14:sldIdLst>
            <p14:sldId id="303"/>
            <p14:sldId id="304"/>
            <p14:sldId id="388"/>
            <p14:sldId id="389"/>
            <p14:sldId id="390"/>
            <p14:sldId id="391"/>
            <p14:sldId id="392"/>
            <p14:sldId id="393"/>
            <p14:sldId id="395"/>
            <p14:sldId id="396"/>
            <p14:sldId id="397"/>
            <p14:sldId id="401"/>
            <p14:sldId id="398"/>
            <p14:sldId id="399"/>
            <p14:sldId id="400"/>
            <p14:sldId id="394"/>
          </p14:sldIdLst>
        </p14:section>
        <p14:section name="Object oriented Python" id="{7E5409A3-BB52-4BFA-A61A-6CF0A072CD81}">
          <p14:sldIdLst>
            <p14:sldId id="273"/>
            <p14:sldId id="366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356"/>
            <p14:sldId id="358"/>
            <p14:sldId id="359"/>
          </p14:sldIdLst>
        </p14:section>
        <p14:section name="Object orientation case study" id="{A03A616B-94F2-473B-AAA5-BEA3EBD7849B}">
          <p14:sldIdLst>
            <p14:sldId id="339"/>
            <p14:sldId id="340"/>
            <p14:sldId id="341"/>
            <p14:sldId id="342"/>
            <p14:sldId id="343"/>
          </p14:sldIdLst>
        </p14:section>
        <p14:section name="Functional programming" id="{9DC1A7A8-7441-4349-9D38-F6E824FD8545}">
          <p14:sldIdLst>
            <p14:sldId id="320"/>
            <p14:sldId id="367"/>
            <p14:sldId id="321"/>
            <p14:sldId id="322"/>
            <p14:sldId id="324"/>
            <p14:sldId id="325"/>
            <p14:sldId id="326"/>
            <p14:sldId id="327"/>
            <p14:sldId id="331"/>
            <p14:sldId id="332"/>
            <p14:sldId id="333"/>
            <p14:sldId id="334"/>
            <p14:sldId id="335"/>
            <p14:sldId id="336"/>
            <p14:sldId id="337"/>
            <p14:sldId id="352"/>
          </p14:sldIdLst>
        </p14:section>
        <p14:section name="Design patterns" id="{06C2C5E0-A291-416F-924E-D33E8EF5C917}">
          <p14:sldIdLst>
            <p14:sldId id="368"/>
            <p14:sldId id="369"/>
            <p14:sldId id="370"/>
            <p14:sldId id="371"/>
            <p14:sldId id="372"/>
            <p14:sldId id="373"/>
            <p14:sldId id="375"/>
            <p14:sldId id="345"/>
            <p14:sldId id="346"/>
            <p14:sldId id="347"/>
            <p14:sldId id="348"/>
            <p14:sldId id="349"/>
            <p14:sldId id="350"/>
            <p14:sldId id="351"/>
            <p14:sldId id="3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C0504D"/>
    <a:srgbClr val="00206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9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688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tableStyles" Target="tableStyle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notesMaster" Target="notesMasters/notesMaster1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11E36-930F-4398-B50F-A14C32445886}" type="datetimeFigureOut">
              <a:rPr lang="en-US" smtClean="0"/>
              <a:t>2026-03-25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5BECE-6EDA-4885-B32F-0E103394D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266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C7BFDAD-DF5A-4CA6-BBB3-03855AD9181C}" type="slidenum">
              <a:rPr lang="en-US" altLang="nl-BE" smtClean="0"/>
              <a:pPr eaLnBrk="1" hangingPunct="1">
                <a:spcBef>
                  <a:spcPct val="0"/>
                </a:spcBef>
              </a:pPr>
              <a:t>59</a:t>
            </a:fld>
            <a:endParaRPr lang="en-US" altLang="nl-BE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l-BE" altLang="nl-BE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478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</a:t>
            </a:r>
            <a:r>
              <a:rPr lang="en-US" baseline="0" dirty="0"/>
              <a:t> about *points?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2719F6-2AB7-47DE-AD4D-74548843A436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141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A2EF-3A5B-4161-9322-B0B89D2AE613}" type="datetimeFigureOut">
              <a:rPr lang="en-US" smtClean="0"/>
              <a:t>2026-03-25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94CF-211F-4092-94BA-925C5314F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2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A2EF-3A5B-4161-9322-B0B89D2AE613}" type="datetimeFigureOut">
              <a:rPr lang="en-US" smtClean="0"/>
              <a:t>2026-03-25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94CF-211F-4092-94BA-925C5314F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74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A2EF-3A5B-4161-9322-B0B89D2AE613}" type="datetimeFigureOut">
              <a:rPr lang="en-US" smtClean="0"/>
              <a:t>2026-03-25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94CF-211F-4092-94BA-925C5314F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31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A2EF-3A5B-4161-9322-B0B89D2AE613}" type="datetimeFigureOut">
              <a:rPr lang="en-US" smtClean="0"/>
              <a:t>2026-03-25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94CF-211F-4092-94BA-925C5314F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754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A2EF-3A5B-4161-9322-B0B89D2AE613}" type="datetimeFigureOut">
              <a:rPr lang="en-US" smtClean="0"/>
              <a:t>2026-03-25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94CF-211F-4092-94BA-925C5314F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83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A2EF-3A5B-4161-9322-B0B89D2AE613}" type="datetimeFigureOut">
              <a:rPr lang="en-US" smtClean="0"/>
              <a:t>2026-03-25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94CF-211F-4092-94BA-925C5314F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834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A2EF-3A5B-4161-9322-B0B89D2AE613}" type="datetimeFigureOut">
              <a:rPr lang="en-US" smtClean="0"/>
              <a:t>2026-03-25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94CF-211F-4092-94BA-925C5314F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39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A2EF-3A5B-4161-9322-B0B89D2AE613}" type="datetimeFigureOut">
              <a:rPr lang="en-US" smtClean="0"/>
              <a:t>2026-03-25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94CF-211F-4092-94BA-925C5314F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9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A2EF-3A5B-4161-9322-B0B89D2AE613}" type="datetimeFigureOut">
              <a:rPr lang="en-US" smtClean="0"/>
              <a:t>2026-03-25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94CF-211F-4092-94BA-925C5314F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35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A2EF-3A5B-4161-9322-B0B89D2AE613}" type="datetimeFigureOut">
              <a:rPr lang="en-US" smtClean="0"/>
              <a:t>2026-03-25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94CF-211F-4092-94BA-925C5314F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95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A2EF-3A5B-4161-9322-B0B89D2AE613}" type="datetimeFigureOut">
              <a:rPr lang="en-US" smtClean="0"/>
              <a:t>2026-03-25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94CF-211F-4092-94BA-925C5314F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75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080B-4260-48D4-BEBC-624AE09ECE83}" type="datetime1">
              <a:rPr lang="nl-BE" smtClean="0"/>
              <a:t>25/03/2026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73752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48E59-F64F-416B-85C7-F58EA54BAF31}" type="datetime1">
              <a:rPr lang="nl-BE" smtClean="0"/>
              <a:t>25/03/2026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99233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C3B5-60AD-4494-9CFA-8B02B158E887}" type="datetime1">
              <a:rPr lang="nl-BE" smtClean="0"/>
              <a:t>25/03/2026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9777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0EF99-E673-4972-A23A-EB3FD1F7D254}" type="datetime1">
              <a:rPr lang="nl-BE" smtClean="0"/>
              <a:t>25/03/2026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1678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3B20-157B-48BC-A7F6-78FD90E3E349}" type="datetime1">
              <a:rPr lang="nl-BE" smtClean="0"/>
              <a:t>25/03/2026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50054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94A8-27B8-4F4D-B345-90FD4A1447E9}" type="datetime1">
              <a:rPr lang="nl-BE" smtClean="0"/>
              <a:t>25/03/2026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887036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664D4-33A1-4715-AD97-DD0D01FAC894}" type="datetime1">
              <a:rPr lang="nl-BE" smtClean="0"/>
              <a:t>25/03/2026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3082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80A9C-007F-4E0D-B4C6-060FFE64811B}" type="datetime1">
              <a:rPr lang="nl-BE" smtClean="0"/>
              <a:t>25/03/2026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196822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95E27-2F3D-481A-B8B8-8482CE6DA5DC}" type="datetime1">
              <a:rPr lang="nl-BE" smtClean="0"/>
              <a:t>25/03/2026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179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1BB7-A881-4920-B186-797A2AD05998}" type="datetime1">
              <a:rPr lang="nl-BE" smtClean="0"/>
              <a:t>25/03/2026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69137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6BFEC-574C-49E6-96B0-F15D7DB2764A}" type="datetime1">
              <a:rPr lang="nl-BE" smtClean="0"/>
              <a:t>25/03/2026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2519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BA2EF-3A5B-4161-9322-B0B89D2AE613}" type="datetimeFigureOut">
              <a:rPr lang="en-US" smtClean="0"/>
              <a:t>2026-03-25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A94CF-211F-4092-94BA-925C5314F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09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0BB8E-41A9-4D12-9A22-82FF4E94F27A}" type="datetime1">
              <a:rPr lang="nl-BE" smtClean="0"/>
              <a:t>25/03/2026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99872" y="64482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5482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bit.ly/33Vx1T9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stral.sh/ruff/" TargetMode="External"/><Relationship Id="rId2" Type="http://schemas.openxmlformats.org/officeDocument/2006/relationships/hyperlink" Target="https://www.pylint.org/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psf/black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ev/peps/pep-0008/" TargetMode="Externa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yping.readthedocs.io/en/latest/" TargetMode="External"/><Relationship Id="rId2" Type="http://schemas.openxmlformats.org/officeDocument/2006/relationships/hyperlink" Target="https://mypy.readthedocs.io/en/stable/cheat_sheet_py3.html" TargetMode="Externa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software-engineering/tree/master/source-code/error-handling" TargetMode="Externa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software-engineering/tree/master/source-code/code-organization" TargetMode="Externa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software-engineering/tree/master/source-code/testing/DocTest" TargetMode="Externa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realpython.com/documenting-python-code/#docstring-formats" TargetMode="Externa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software-engineering/tree/master/source-code/testing" TargetMode="Externa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coverage.readthedocs.io/" TargetMode="Externa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est.org/en/stable/" TargetMode="Externa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software-engineering/tree/master/source-code/object-orientation" TargetMode="External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w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hyperlink" Target="https://realpython.com/python-data-classes/#more-flexible-data-classes" TargetMode="External"/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software-engineering/tree/master/source-code/design-patterns/finite-state-parser" TargetMode="External"/><Relationship Id="rId1" Type="http://schemas.openxmlformats.org/officeDocument/2006/relationships/slideLayout" Target="../slideLayouts/slideLayout1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Python-software-engineering/tree/master/source-code/iterators" TargetMode="External"/><Relationship Id="rId2" Type="http://schemas.openxmlformats.org/officeDocument/2006/relationships/hyperlink" Target="https://github.com/gjbex/Python-software-engineering/tree/master/source-code/operators-functools" TargetMode="Externa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github.com/gjbex/Python-software-engineering/tree/master/source-code/functional-programming" TargetMode="Externa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python.org/3.7/howto/functional.html" TargetMode="External"/><Relationship Id="rId2" Type="http://schemas.openxmlformats.org/officeDocument/2006/relationships/hyperlink" Target="http://docs.python.org/3.7/howto/sorting.html" TargetMode="External"/><Relationship Id="rId1" Type="http://schemas.openxmlformats.org/officeDocument/2006/relationships/slideLayout" Target="../slideLayouts/slideLayout13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Python-software-engineering/blob/master/source-code/design-patters/decorator_design_pattern.ipynb" TargetMode="External"/><Relationship Id="rId2" Type="http://schemas.openxmlformats.org/officeDocument/2006/relationships/hyperlink" Target="https://github.com/gjbex/Python-software-engineering/blob/master/source-code/design-patters/factory_design_pattern.ipynb" TargetMode="Externa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github.com/gjbex/Python-software-engineering/tree/master/source-code/design-patterns/finite-state-parser" TargetMode="Externa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software-engineering/blob/master/source-code/design-patters/factory_design_pattern.ipynb" TargetMode="External"/><Relationship Id="rId1" Type="http://schemas.openxmlformats.org/officeDocument/2006/relationships/slideLayout" Target="../slideLayouts/slideLayout1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software-engineering/blob/master/source-code/design-patters/decorator_design_pattern.ipynb" TargetMode="External"/><Relationship Id="rId1" Type="http://schemas.openxmlformats.org/officeDocument/2006/relationships/slideLayout" Target="../slideLayouts/slideLayout1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software-engineering/blob/master/source-code/design-patters/strategy_design_pattern.ipynb" TargetMode="External"/><Relationship Id="rId1" Type="http://schemas.openxmlformats.org/officeDocument/2006/relationships/slideLayout" Target="../slideLayouts/slideLayout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software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Geert Jan Bex</a:t>
            </a:r>
          </a:p>
          <a:p>
            <a:r>
              <a:rPr lang="en-US" dirty="0"/>
              <a:t>(</a:t>
            </a:r>
            <a:r>
              <a:rPr lang="en-US" dirty="0">
                <a:hlinkClick r:id="rId2"/>
              </a:rPr>
              <a:t>geertjan.bex@uhasselt.be</a:t>
            </a:r>
            <a:r>
              <a:rPr lang="en-US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26841" y="6009448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 CC BY 4.0,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3"/>
              </a:rPr>
              <a:t>https://creativecommons.org/licenses/by/4.0/deed.ast</a:t>
            </a:r>
            <a:endParaRPr lang="nl-BE" dirty="0"/>
          </a:p>
        </p:txBody>
      </p:sp>
      <p:pic>
        <p:nvPicPr>
          <p:cNvPr id="7" name="Picture 6" descr="A black text on an orange background&#10;&#10;AI-generated content may be incorrect.">
            <a:extLst>
              <a:ext uri="{FF2B5EF4-FFF2-40B4-BE49-F238E27FC236}">
                <a16:creationId xmlns:a16="http://schemas.microsoft.com/office/drawing/2014/main" id="{7B248CF7-55A7-782C-6052-60AFA23757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70" y="318938"/>
            <a:ext cx="3946238" cy="1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0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860836" y="5445224"/>
            <a:ext cx="47799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hlinkClick r:id="rId2"/>
              </a:rPr>
              <a:t>http://bit.ly/33Vx1T9</a:t>
            </a:r>
            <a:r>
              <a:rPr lang="en-US" sz="40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05B4A-0AEC-4423-BF6A-5561652C3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477" y="980729"/>
            <a:ext cx="4093046" cy="409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10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73A4FCC5-DC3D-4500-9780-EECF84D9A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50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Inline code fragments and file names are rendered as, e.g.,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hello_world.py</a:t>
            </a:r>
          </a:p>
          <a:p>
            <a:r>
              <a:rPr lang="en-US" dirty="0"/>
              <a:t>Longer code fragments are rendered as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Data files are rendered as</a:t>
            </a:r>
            <a:endParaRPr lang="nl-BE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09D72-2E9D-49B0-8977-41DCCC66C0BB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5641" y="3137030"/>
            <a:ext cx="5285421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#!/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usr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/bin/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env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python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 __name__ == '__main__':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print('hello world!')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5640" y="4841414"/>
            <a:ext cx="5285421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dim 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1 1 -0.5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2 1 0.0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3 1 0.5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4 2 -0.5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845250" y="3484460"/>
            <a:ext cx="3564285" cy="2926615"/>
            <a:chOff x="1321249" y="3584213"/>
            <a:chExt cx="3564285" cy="2926615"/>
          </a:xfrm>
        </p:grpSpPr>
        <p:sp>
          <p:nvSpPr>
            <p:cNvPr id="7" name="Oval 6"/>
            <p:cNvSpPr/>
            <p:nvPr/>
          </p:nvSpPr>
          <p:spPr>
            <a:xfrm>
              <a:off x="1331639" y="6237312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" name="Straight Arrow Connector 8"/>
            <p:cNvCxnSpPr>
              <a:stCxn id="10" idx="1"/>
              <a:endCxn id="7" idx="6"/>
            </p:cNvCxnSpPr>
            <p:nvPr/>
          </p:nvCxnSpPr>
          <p:spPr>
            <a:xfrm flipH="1">
              <a:off x="1691680" y="5858572"/>
              <a:ext cx="2016224" cy="51549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707904" y="5535406"/>
              <a:ext cx="1177630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fragment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not shown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321249" y="3584213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" name="Straight Arrow Connector 11"/>
            <p:cNvCxnSpPr>
              <a:stCxn id="10" idx="1"/>
              <a:endCxn id="11" idx="6"/>
            </p:cNvCxnSpPr>
            <p:nvPr/>
          </p:nvCxnSpPr>
          <p:spPr>
            <a:xfrm flipH="1" flipV="1">
              <a:off x="1681290" y="3720971"/>
              <a:ext cx="2026614" cy="213760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428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A5471-A4D8-4F5E-B450-200A4C37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02BE0-A82A-4DCE-87F1-E8BD131C7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8DF20-6449-4B12-9A41-DCB2C682E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54523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BFC3-766E-4263-9027-38AAA7CE0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style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31DC0-6B84-4306-9935-19637AFD8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Readability</a:t>
            </a:r>
          </a:p>
          <a:p>
            <a:r>
              <a:rPr lang="en-US" dirty="0"/>
              <a:t>Coding conventions</a:t>
            </a:r>
          </a:p>
          <a:p>
            <a:r>
              <a:rPr lang="en-US" dirty="0"/>
              <a:t>Exception handling</a:t>
            </a:r>
          </a:p>
          <a:p>
            <a:r>
              <a:rPr lang="en-US" dirty="0"/>
              <a:t>Code organization</a:t>
            </a:r>
          </a:p>
          <a:p>
            <a:r>
              <a:rPr lang="en-US" dirty="0"/>
              <a:t>Documentation</a:t>
            </a:r>
          </a:p>
          <a:p>
            <a:r>
              <a:rPr lang="en-US" dirty="0"/>
              <a:t>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6240F-BBD6-42AC-94C1-312F0A79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A90F59-7373-4A5D-BD38-BC2FC0AD7523}"/>
              </a:ext>
            </a:extLst>
          </p:cNvPr>
          <p:cNvSpPr txBox="1"/>
          <p:nvPr/>
        </p:nvSpPr>
        <p:spPr>
          <a:xfrm>
            <a:off x="5544065" y="2875005"/>
            <a:ext cx="5245667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Code must be maintained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Over long periods of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By multiple people</a:t>
            </a:r>
          </a:p>
        </p:txBody>
      </p:sp>
    </p:spTree>
    <p:extLst>
      <p:ext uri="{BB962C8B-B14F-4D97-AF65-F5344CB8AC3E}">
        <p14:creationId xmlns:p14="http://schemas.microsoft.com/office/powerpoint/2010/main" val="71388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360E-1365-44A0-BB5D-200874990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== story telling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5AF9A-9334-482A-843C-761B9FEAD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Names should be descriptive</a:t>
            </a:r>
          </a:p>
          <a:p>
            <a:pPr lvl="1"/>
            <a:r>
              <a:rPr lang="en-US" dirty="0"/>
              <a:t>Variables are nouns</a:t>
            </a:r>
          </a:p>
          <a:p>
            <a:pPr lvl="1"/>
            <a:r>
              <a:rPr lang="en-US" dirty="0"/>
              <a:t>Functions are verbs</a:t>
            </a:r>
          </a:p>
          <a:p>
            <a:pPr lvl="1"/>
            <a:r>
              <a:rPr lang="en-US" dirty="0"/>
              <a:t>Boolean functions are questions</a:t>
            </a:r>
          </a:p>
          <a:p>
            <a:r>
              <a:rPr lang="en-US" dirty="0"/>
              <a:t>Avoid long functions</a:t>
            </a:r>
          </a:p>
          <a:p>
            <a:pPr lvl="1"/>
            <a:r>
              <a:rPr lang="en-US" dirty="0"/>
              <a:t>Should fit on screen</a:t>
            </a:r>
          </a:p>
          <a:p>
            <a:r>
              <a:rPr lang="en-US" dirty="0"/>
              <a:t>Don’t try to be too clever</a:t>
            </a:r>
          </a:p>
          <a:p>
            <a:pPr lvl="1"/>
            <a:r>
              <a:rPr lang="en-US" dirty="0"/>
              <a:t>Others should understand it (including your future self)</a:t>
            </a:r>
          </a:p>
          <a:p>
            <a:pPr lvl="1"/>
            <a:r>
              <a:rPr lang="en-US" dirty="0"/>
              <a:t>Add comments and documentation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A8FB2-156F-4F33-8C52-AF97BC2E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B8CF07-97C0-4944-8604-4E90499DAC71}"/>
              </a:ext>
            </a:extLst>
          </p:cNvPr>
          <p:cNvSpPr txBox="1"/>
          <p:nvPr/>
        </p:nvSpPr>
        <p:spPr>
          <a:xfrm>
            <a:off x="6624320" y="2519680"/>
            <a:ext cx="457003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Python is easy to read,</a:t>
            </a:r>
          </a:p>
          <a:p>
            <a:r>
              <a:rPr lang="en-US" sz="3600" dirty="0"/>
              <a:t>Take advantage of that!</a:t>
            </a:r>
          </a:p>
        </p:txBody>
      </p:sp>
    </p:spTree>
    <p:extLst>
      <p:ext uri="{BB962C8B-B14F-4D97-AF65-F5344CB8AC3E}">
        <p14:creationId xmlns:p14="http://schemas.microsoft.com/office/powerpoint/2010/main" val="61886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E32CC-1C48-48B3-9D84-9FA600785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FFF34-F162-4B13-BEF3-61EBA37D5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 consistent!</a:t>
            </a:r>
          </a:p>
          <a:p>
            <a:pPr lvl="1"/>
            <a:r>
              <a:rPr lang="en-US" dirty="0"/>
              <a:t>Many conventions, choose one, stick to it</a:t>
            </a:r>
          </a:p>
          <a:p>
            <a:r>
              <a:rPr lang="en-US" dirty="0"/>
              <a:t>PEP 8</a:t>
            </a:r>
          </a:p>
          <a:p>
            <a:pPr lvl="1"/>
            <a:r>
              <a:rPr lang="en-US" dirty="0"/>
              <a:t>Use tools to check: flake8, </a:t>
            </a:r>
            <a:r>
              <a:rPr lang="en-US" dirty="0" err="1"/>
              <a:t>pylint</a:t>
            </a:r>
            <a:endParaRPr lang="en-US" dirty="0"/>
          </a:p>
          <a:p>
            <a:pPr lvl="1"/>
            <a:r>
              <a:rPr lang="en-US" dirty="0"/>
              <a:t>Consistent formatting: black</a:t>
            </a:r>
          </a:p>
          <a:p>
            <a:pPr lvl="1"/>
            <a:r>
              <a:rPr lang="en-US" dirty="0"/>
              <a:t>IDE hooks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FD73C-2F86-4E6B-9F90-068CD462F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5071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34170-C529-4CAC-B31D-56A78C9F1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language idioms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09A1C-2A90-428E-983C-53F1E59F0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EED60-6777-4684-A163-0EF2C4B31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9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C955A-E935-474D-BE32-4BF9E04A2DB2}"/>
              </a:ext>
            </a:extLst>
          </p:cNvPr>
          <p:cNvSpPr txBox="1"/>
          <p:nvPr/>
        </p:nvSpPr>
        <p:spPr>
          <a:xfrm>
            <a:off x="644550" y="2270769"/>
            <a:ext cx="4182555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in range(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my_list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my_list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])</a:t>
            </a:r>
            <a:endParaRPr lang="nl-BE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6D516C-6117-4CC6-BAF5-BE1E6A1D9D47}"/>
              </a:ext>
            </a:extLst>
          </p:cNvPr>
          <p:cNvSpPr txBox="1"/>
          <p:nvPr/>
        </p:nvSpPr>
        <p:spPr>
          <a:xfrm>
            <a:off x="644549" y="4004834"/>
            <a:ext cx="2941831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item in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my_list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print(item)</a:t>
            </a:r>
            <a:endParaRPr lang="nl-BE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E19105-815C-4274-AABE-17BC582DEE62}"/>
              </a:ext>
            </a:extLst>
          </p:cNvPr>
          <p:cNvSpPr txBox="1"/>
          <p:nvPr/>
        </p:nvSpPr>
        <p:spPr>
          <a:xfrm>
            <a:off x="6677757" y="2270768"/>
            <a:ext cx="5147563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in range(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(my_list1)):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print(my_list1[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] + my_list2[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])</a:t>
            </a:r>
            <a:endParaRPr lang="nl-BE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5DF42B-DF7B-4EC9-9F73-9AB5EF86D6AE}"/>
              </a:ext>
            </a:extLst>
          </p:cNvPr>
          <p:cNvSpPr txBox="1"/>
          <p:nvPr/>
        </p:nvSpPr>
        <p:spPr>
          <a:xfrm>
            <a:off x="5574891" y="4004834"/>
            <a:ext cx="6250429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item1, item2 in zip(my_list1, my_list2):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print(item1 + item2)</a:t>
            </a:r>
            <a:endParaRPr lang="nl-BE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10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DA280-12D5-031F-30E0-87BE6E042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E535E-37F5-27EB-8DDF-E1B7BD83B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Pylint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https://www.pylint.org/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Check</a:t>
            </a:r>
          </a:p>
          <a:p>
            <a:r>
              <a:rPr lang="en-US" dirty="0"/>
              <a:t>Ruff (</a:t>
            </a:r>
            <a:r>
              <a:rPr lang="en-US" dirty="0">
                <a:hlinkClick r:id="rId3"/>
              </a:rPr>
              <a:t>https://docs.astral.sh/ruff/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Check &amp; format</a:t>
            </a:r>
          </a:p>
          <a:p>
            <a:r>
              <a:rPr lang="en-US" dirty="0"/>
              <a:t>Black (</a:t>
            </a:r>
            <a:r>
              <a:rPr lang="en-US" dirty="0">
                <a:hlinkClick r:id="rId4"/>
              </a:rPr>
              <a:t>https://github.com/psf/black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Format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585AD-49F8-9FF8-84EB-4BE1F5F1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3821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A5E32-F314-468F-875A-42941A871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D3E9C-BE01-49A5-AA51-301AE5435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PEP 8</a:t>
            </a:r>
            <a:br>
              <a:rPr lang="en-US" dirty="0"/>
            </a:br>
            <a:r>
              <a:rPr lang="en-US" sz="2400" dirty="0">
                <a:hlinkClick r:id="rId2"/>
              </a:rPr>
              <a:t>https://www.python.org/dev/peps/pep-0008/</a:t>
            </a:r>
            <a:endParaRPr lang="en-US" sz="2400" dirty="0"/>
          </a:p>
          <a:p>
            <a:r>
              <a:rPr lang="en-US" dirty="0" err="1"/>
              <a:t>Jef</a:t>
            </a:r>
            <a:r>
              <a:rPr lang="en-US" dirty="0"/>
              <a:t> </a:t>
            </a:r>
            <a:r>
              <a:rPr lang="en-US" dirty="0" err="1"/>
              <a:t>Knupp</a:t>
            </a:r>
            <a:r>
              <a:rPr lang="en-US" dirty="0"/>
              <a:t> (2013) </a:t>
            </a:r>
            <a:r>
              <a:rPr lang="en-US" i="1" dirty="0"/>
              <a:t>Writing idiomatic Python 3</a:t>
            </a:r>
            <a:endParaRPr lang="en-US" dirty="0"/>
          </a:p>
          <a:p>
            <a:r>
              <a:rPr lang="en-US" dirty="0"/>
              <a:t>Mariano Anaya (2016) </a:t>
            </a:r>
            <a:r>
              <a:rPr lang="en-US" i="1" dirty="0"/>
              <a:t>Clean code in Python</a:t>
            </a:r>
            <a:r>
              <a:rPr lang="en-US" dirty="0"/>
              <a:t>, </a:t>
            </a:r>
            <a:r>
              <a:rPr lang="en-US" dirty="0" err="1"/>
              <a:t>Packt</a:t>
            </a:r>
            <a:r>
              <a:rPr lang="en-US" dirty="0"/>
              <a:t>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DA9BA-46B8-46A5-9930-390900E1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70732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0943D-33DF-0B0F-96EA-8584BB5D5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hints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17D63-BAE2-0C04-D80B-644625708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7FA5A-3265-2BC8-17E4-5D1218A14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52710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BD77BFB-EC1B-99A4-119C-B0E8E4A46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AF409-6841-DEAD-36ED-0608D3B4B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to verify correctness/catch potential bugs</a:t>
            </a:r>
          </a:p>
          <a:p>
            <a:r>
              <a:rPr lang="en-US" dirty="0"/>
              <a:t>Documents code</a:t>
            </a:r>
          </a:p>
          <a:p>
            <a:r>
              <a:rPr lang="en-US" dirty="0"/>
              <a:t>Only checked statically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no performance impact</a:t>
            </a:r>
          </a:p>
          <a:p>
            <a:r>
              <a:rPr lang="en-US" dirty="0"/>
              <a:t>Can be added gradually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E67D0-57D7-7D31-A719-2992E4B2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13765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0CE5A-33F1-F6A0-BF9F-984E2F70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use?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AA68-DFE0-8174-8BD1-A7B0A5926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  <a:p>
            <a:pPr lvl="1"/>
            <a:r>
              <a:rPr lang="en-US" dirty="0"/>
              <a:t>Parameter type(s)</a:t>
            </a:r>
          </a:p>
          <a:p>
            <a:pPr lvl="1"/>
            <a:r>
              <a:rPr lang="en-US" dirty="0"/>
              <a:t>Return types</a:t>
            </a:r>
          </a:p>
          <a:p>
            <a:r>
              <a:rPr lang="en-US" dirty="0"/>
              <a:t>Classes</a:t>
            </a:r>
          </a:p>
          <a:p>
            <a:pPr lvl="1"/>
            <a:r>
              <a:rPr lang="en-US" dirty="0"/>
              <a:t>Attributes</a:t>
            </a:r>
          </a:p>
          <a:p>
            <a:pPr lvl="1"/>
            <a:r>
              <a:rPr lang="en-US" dirty="0"/>
              <a:t>Methods (see functions)</a:t>
            </a:r>
          </a:p>
          <a:p>
            <a:r>
              <a:rPr lang="en-US" dirty="0"/>
              <a:t>Variables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C3151-4B1C-3A6B-E7BC-BA6EE8FEF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8406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76BF5-A2EA-8709-A75F-85A0A71D6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BF891-031F-E137-0BC8-7CA74D9F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15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80472-5EFD-F89E-7CBB-6719E1447AAB}"/>
              </a:ext>
            </a:extLst>
          </p:cNvPr>
          <p:cNvSpPr txBox="1"/>
          <p:nvPr/>
        </p:nvSpPr>
        <p:spPr>
          <a:xfrm>
            <a:off x="3033186" y="2420060"/>
            <a:ext cx="6250429" cy="2585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word_count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(text: str) -&gt;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dict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[str, int]: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counts: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dict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[str, int] = {}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words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re.split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(r'\W+', text)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for word in words: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word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word.lower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if word not in counts: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counts[word] = 0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counts[word] += 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return counts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651F995-E62A-A732-9F03-8BFC9EBA18D3}"/>
              </a:ext>
            </a:extLst>
          </p:cNvPr>
          <p:cNvGrpSpPr/>
          <p:nvPr/>
        </p:nvGrpSpPr>
        <p:grpSpPr>
          <a:xfrm>
            <a:off x="3562379" y="2775154"/>
            <a:ext cx="1969477" cy="2135860"/>
            <a:chOff x="1173743" y="2625863"/>
            <a:chExt cx="1969477" cy="213586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4B5AC62-CAAD-F5EB-3E2E-02E2D348DD0B}"/>
                </a:ext>
              </a:extLst>
            </p:cNvPr>
            <p:cNvSpPr/>
            <p:nvPr/>
          </p:nvSpPr>
          <p:spPr>
            <a:xfrm>
              <a:off x="1259633" y="2625863"/>
              <a:ext cx="1674827" cy="248496"/>
            </a:xfrm>
            <a:prstGeom prst="roundRect">
              <a:avLst/>
            </a:prstGeom>
            <a:solidFill>
              <a:srgbClr val="4F81BD">
                <a:alpha val="41961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05C89B6-4F23-952B-386D-21401219B3D5}"/>
                </a:ext>
              </a:extLst>
            </p:cNvPr>
            <p:cNvSpPr/>
            <p:nvPr/>
          </p:nvSpPr>
          <p:spPr>
            <a:xfrm>
              <a:off x="1173743" y="4513227"/>
              <a:ext cx="1969477" cy="248496"/>
            </a:xfrm>
            <a:prstGeom prst="roundRect">
              <a:avLst/>
            </a:prstGeom>
            <a:solidFill>
              <a:srgbClr val="4F81BD">
                <a:alpha val="41961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5C95CE-88CC-BA83-0CB0-8900C52600B1}"/>
              </a:ext>
            </a:extLst>
          </p:cNvPr>
          <p:cNvSpPr/>
          <p:nvPr/>
        </p:nvSpPr>
        <p:spPr>
          <a:xfrm>
            <a:off x="7048919" y="3004459"/>
            <a:ext cx="602183" cy="248496"/>
          </a:xfrm>
          <a:prstGeom prst="roundRect">
            <a:avLst/>
          </a:prstGeom>
          <a:solidFill>
            <a:srgbClr val="FF0000">
              <a:alpha val="41961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778B12E-377F-D56E-6572-63E744F46411}"/>
              </a:ext>
            </a:extLst>
          </p:cNvPr>
          <p:cNvGrpSpPr/>
          <p:nvPr/>
        </p:nvGrpSpPr>
        <p:grpSpPr>
          <a:xfrm>
            <a:off x="5145047" y="2775154"/>
            <a:ext cx="1143785" cy="1859371"/>
            <a:chOff x="2756411" y="2625863"/>
            <a:chExt cx="1143785" cy="1859371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3B1AC79-762A-7F4B-06B4-B6D64E9B824B}"/>
                </a:ext>
              </a:extLst>
            </p:cNvPr>
            <p:cNvSpPr/>
            <p:nvPr/>
          </p:nvSpPr>
          <p:spPr>
            <a:xfrm>
              <a:off x="3305229" y="3972052"/>
              <a:ext cx="594967" cy="248496"/>
            </a:xfrm>
            <a:prstGeom prst="roundRect">
              <a:avLst/>
            </a:prstGeom>
            <a:solidFill>
              <a:srgbClr val="00B050">
                <a:alpha val="41961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60E4518-C4DD-ED4C-D6E7-BBB4362AC059}"/>
                </a:ext>
              </a:extLst>
            </p:cNvPr>
            <p:cNvSpPr/>
            <p:nvPr/>
          </p:nvSpPr>
          <p:spPr>
            <a:xfrm>
              <a:off x="2756411" y="4236738"/>
              <a:ext cx="594967" cy="248496"/>
            </a:xfrm>
            <a:prstGeom prst="roundRect">
              <a:avLst/>
            </a:prstGeom>
            <a:solidFill>
              <a:srgbClr val="00B050">
                <a:alpha val="41961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DD63D24-B72B-E4DE-5E92-BA4AFDB8BCC8}"/>
                </a:ext>
              </a:extLst>
            </p:cNvPr>
            <p:cNvSpPr/>
            <p:nvPr/>
          </p:nvSpPr>
          <p:spPr>
            <a:xfrm>
              <a:off x="3002237" y="2625863"/>
              <a:ext cx="464535" cy="248496"/>
            </a:xfrm>
            <a:prstGeom prst="roundRect">
              <a:avLst/>
            </a:prstGeom>
            <a:solidFill>
              <a:srgbClr val="00B050">
                <a:alpha val="41961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EB33E6F-54CF-00AF-584D-11D7E8F68AAA}"/>
              </a:ext>
            </a:extLst>
          </p:cNvPr>
          <p:cNvGrpSpPr/>
          <p:nvPr/>
        </p:nvGrpSpPr>
        <p:grpSpPr>
          <a:xfrm>
            <a:off x="5145047" y="2488645"/>
            <a:ext cx="3720145" cy="248496"/>
            <a:chOff x="2756411" y="2339354"/>
            <a:chExt cx="3720145" cy="24849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E6E4DB4-D1FB-3EF9-1847-68B2A8E25637}"/>
                </a:ext>
              </a:extLst>
            </p:cNvPr>
            <p:cNvSpPr/>
            <p:nvPr/>
          </p:nvSpPr>
          <p:spPr>
            <a:xfrm>
              <a:off x="4632290" y="2339354"/>
              <a:ext cx="602183" cy="248496"/>
            </a:xfrm>
            <a:prstGeom prst="roundRect">
              <a:avLst/>
            </a:prstGeom>
            <a:solidFill>
              <a:srgbClr val="4F81BD">
                <a:alpha val="41961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A5792FA-1092-CFB9-2FD6-E4A9E6E19477}"/>
                </a:ext>
              </a:extLst>
            </p:cNvPr>
            <p:cNvSpPr/>
            <p:nvPr/>
          </p:nvSpPr>
          <p:spPr>
            <a:xfrm>
              <a:off x="2756411" y="2339354"/>
              <a:ext cx="1274413" cy="248496"/>
            </a:xfrm>
            <a:prstGeom prst="roundRect">
              <a:avLst/>
            </a:prstGeom>
            <a:solidFill>
              <a:srgbClr val="FF0000">
                <a:alpha val="41961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F3C97B0-D1BC-FE80-3446-D12DCE48F582}"/>
                </a:ext>
              </a:extLst>
            </p:cNvPr>
            <p:cNvSpPr/>
            <p:nvPr/>
          </p:nvSpPr>
          <p:spPr>
            <a:xfrm>
              <a:off x="5371404" y="2339354"/>
              <a:ext cx="464535" cy="248496"/>
            </a:xfrm>
            <a:prstGeom prst="roundRect">
              <a:avLst/>
            </a:prstGeom>
            <a:solidFill>
              <a:srgbClr val="00B050">
                <a:alpha val="41961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DB258B0-E58C-B767-B8E2-D571CCB48ABB}"/>
                </a:ext>
              </a:extLst>
            </p:cNvPr>
            <p:cNvSpPr/>
            <p:nvPr/>
          </p:nvSpPr>
          <p:spPr>
            <a:xfrm>
              <a:off x="6012021" y="2339354"/>
              <a:ext cx="464535" cy="248496"/>
            </a:xfrm>
            <a:prstGeom prst="roundRect">
              <a:avLst/>
            </a:prstGeom>
            <a:solidFill>
              <a:srgbClr val="7030A0">
                <a:alpha val="41961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0F8156C-AC1B-D7AE-CFA1-D08BD293DFFD}"/>
              </a:ext>
            </a:extLst>
          </p:cNvPr>
          <p:cNvGrpSpPr/>
          <p:nvPr/>
        </p:nvGrpSpPr>
        <p:grpSpPr>
          <a:xfrm>
            <a:off x="6090780" y="2755963"/>
            <a:ext cx="902154" cy="1878562"/>
            <a:chOff x="3702144" y="2606672"/>
            <a:chExt cx="902154" cy="187856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36E6D9A-0CB9-C624-1DEE-84CFCA541CA9}"/>
                </a:ext>
              </a:extLst>
            </p:cNvPr>
            <p:cNvSpPr/>
            <p:nvPr/>
          </p:nvSpPr>
          <p:spPr>
            <a:xfrm>
              <a:off x="4372030" y="3956795"/>
              <a:ext cx="232268" cy="263753"/>
            </a:xfrm>
            <a:prstGeom prst="roundRect">
              <a:avLst/>
            </a:prstGeom>
            <a:solidFill>
              <a:srgbClr val="7030A0">
                <a:alpha val="41961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BA5A0B5-21EE-C74E-8008-D8C51435EAC8}"/>
                </a:ext>
              </a:extLst>
            </p:cNvPr>
            <p:cNvSpPr/>
            <p:nvPr/>
          </p:nvSpPr>
          <p:spPr>
            <a:xfrm>
              <a:off x="3960486" y="4221481"/>
              <a:ext cx="232268" cy="263753"/>
            </a:xfrm>
            <a:prstGeom prst="roundRect">
              <a:avLst/>
            </a:prstGeom>
            <a:solidFill>
              <a:srgbClr val="7030A0">
                <a:alpha val="41961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0D6511B-DFAA-5CD7-7CBF-7702AF35BE80}"/>
                </a:ext>
              </a:extLst>
            </p:cNvPr>
            <p:cNvSpPr/>
            <p:nvPr/>
          </p:nvSpPr>
          <p:spPr>
            <a:xfrm>
              <a:off x="3702144" y="2606672"/>
              <a:ext cx="464535" cy="248496"/>
            </a:xfrm>
            <a:prstGeom prst="roundRect">
              <a:avLst/>
            </a:prstGeom>
            <a:solidFill>
              <a:srgbClr val="7030A0">
                <a:alpha val="41961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0775283-5B6C-43AE-BD63-F702D8F0EC90}"/>
              </a:ext>
            </a:extLst>
          </p:cNvPr>
          <p:cNvGrpSpPr/>
          <p:nvPr/>
        </p:nvGrpSpPr>
        <p:grpSpPr>
          <a:xfrm>
            <a:off x="5782254" y="1705032"/>
            <a:ext cx="3437381" cy="811605"/>
            <a:chOff x="2724539" y="1555741"/>
            <a:chExt cx="3437381" cy="811605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FB9881E-5DCC-3929-1D7B-1FB121AE7040}"/>
                </a:ext>
              </a:extLst>
            </p:cNvPr>
            <p:cNvCxnSpPr>
              <a:cxnSpLocks/>
              <a:stCxn id="26" idx="1"/>
              <a:endCxn id="9" idx="0"/>
            </p:cNvCxnSpPr>
            <p:nvPr/>
          </p:nvCxnSpPr>
          <p:spPr>
            <a:xfrm flipH="1">
              <a:off x="2724539" y="1740407"/>
              <a:ext cx="1306285" cy="62693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8C8C55-5716-DD4C-1510-1490F3D4ADC1}"/>
                </a:ext>
              </a:extLst>
            </p:cNvPr>
            <p:cNvSpPr txBox="1"/>
            <p:nvPr/>
          </p:nvSpPr>
          <p:spPr>
            <a:xfrm>
              <a:off x="4030824" y="1555741"/>
              <a:ext cx="2131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Function parameters</a:t>
              </a:r>
              <a:endParaRPr lang="LID4096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8863E31-AEEB-8DA8-6968-046CD33EE869}"/>
              </a:ext>
            </a:extLst>
          </p:cNvPr>
          <p:cNvGrpSpPr/>
          <p:nvPr/>
        </p:nvGrpSpPr>
        <p:grpSpPr>
          <a:xfrm>
            <a:off x="6992934" y="1855406"/>
            <a:ext cx="3958410" cy="933986"/>
            <a:chOff x="7552769" y="1706115"/>
            <a:chExt cx="3958410" cy="933986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A072A60B-9D14-269B-F72A-23EF393BF560}"/>
                </a:ext>
              </a:extLst>
            </p:cNvPr>
            <p:cNvSpPr/>
            <p:nvPr/>
          </p:nvSpPr>
          <p:spPr>
            <a:xfrm>
              <a:off x="7552769" y="2270769"/>
              <a:ext cx="1920068" cy="369332"/>
            </a:xfrm>
            <a:prstGeom prst="roundRect">
              <a:avLst/>
            </a:prstGeom>
            <a:solidFill>
              <a:srgbClr val="FFC000">
                <a:alpha val="23922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F9A6332-B46C-A906-C090-3348C346DCEE}"/>
                </a:ext>
              </a:extLst>
            </p:cNvPr>
            <p:cNvGrpSpPr/>
            <p:nvPr/>
          </p:nvGrpSpPr>
          <p:grpSpPr>
            <a:xfrm>
              <a:off x="9472837" y="1706115"/>
              <a:ext cx="2038342" cy="749320"/>
              <a:chOff x="3284374" y="1555741"/>
              <a:chExt cx="2038342" cy="749320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AFC93E2E-7A5E-C651-982F-83A093C8F183}"/>
                  </a:ext>
                </a:extLst>
              </p:cNvPr>
              <p:cNvCxnSpPr>
                <a:cxnSpLocks/>
                <a:stCxn id="32" idx="1"/>
                <a:endCxn id="29" idx="3"/>
              </p:cNvCxnSpPr>
              <p:nvPr/>
            </p:nvCxnSpPr>
            <p:spPr>
              <a:xfrm flipH="1">
                <a:off x="3284374" y="1740407"/>
                <a:ext cx="746450" cy="564654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EC1F6A7-72BE-97A5-46A1-6CF15D17AAF1}"/>
                  </a:ext>
                </a:extLst>
              </p:cNvPr>
              <p:cNvSpPr txBox="1"/>
              <p:nvPr/>
            </p:nvSpPr>
            <p:spPr>
              <a:xfrm>
                <a:off x="4030824" y="1555741"/>
                <a:ext cx="1291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Return type</a:t>
                </a:r>
                <a:endParaRPr lang="LID4096" dirty="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7F4BD26-C8A7-FD01-1CA9-2F0060CFF1F9}"/>
              </a:ext>
            </a:extLst>
          </p:cNvPr>
          <p:cNvGrpSpPr/>
          <p:nvPr/>
        </p:nvGrpSpPr>
        <p:grpSpPr>
          <a:xfrm>
            <a:off x="1079226" y="2740642"/>
            <a:ext cx="5593856" cy="633149"/>
            <a:chOff x="1639061" y="2591351"/>
            <a:chExt cx="5593856" cy="633149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FD82743-1082-4B83-BF59-C43A7DD2C44A}"/>
                </a:ext>
              </a:extLst>
            </p:cNvPr>
            <p:cNvGrpSpPr/>
            <p:nvPr/>
          </p:nvGrpSpPr>
          <p:grpSpPr>
            <a:xfrm>
              <a:off x="1639061" y="2749283"/>
              <a:ext cx="2483153" cy="475217"/>
              <a:chOff x="4583797" y="1450008"/>
              <a:chExt cx="2483153" cy="475217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6501EC88-2C27-98E6-F557-4FA3FFF677A4}"/>
                  </a:ext>
                </a:extLst>
              </p:cNvPr>
              <p:cNvCxnSpPr>
                <a:cxnSpLocks/>
                <a:stCxn id="36" idx="3"/>
                <a:endCxn id="39" idx="1"/>
              </p:cNvCxnSpPr>
              <p:nvPr/>
            </p:nvCxnSpPr>
            <p:spPr>
              <a:xfrm flipV="1">
                <a:off x="6002775" y="1450008"/>
                <a:ext cx="1064175" cy="290551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194B8DB-D439-A927-AAED-72B2E868174F}"/>
                  </a:ext>
                </a:extLst>
              </p:cNvPr>
              <p:cNvSpPr txBox="1"/>
              <p:nvPr/>
            </p:nvSpPr>
            <p:spPr>
              <a:xfrm>
                <a:off x="4583797" y="1555893"/>
                <a:ext cx="14189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Variable type</a:t>
                </a:r>
                <a:endParaRPr lang="LID4096" dirty="0"/>
              </a:p>
            </p:txBody>
          </p:sp>
        </p:grp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E0A16E7F-B4C1-7A4C-EBED-1A3E9CA33B24}"/>
                </a:ext>
              </a:extLst>
            </p:cNvPr>
            <p:cNvSpPr/>
            <p:nvPr/>
          </p:nvSpPr>
          <p:spPr>
            <a:xfrm>
              <a:off x="4122214" y="2591351"/>
              <a:ext cx="3110703" cy="315864"/>
            </a:xfrm>
            <a:prstGeom prst="roundRect">
              <a:avLst/>
            </a:prstGeom>
            <a:solidFill>
              <a:srgbClr val="002060">
                <a:alpha val="23922"/>
              </a:srgb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385906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2FDE9-262D-CDBB-BC8C-B241138B8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82F54-16E4-100B-660E-C868B74B7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Better: type statements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EF61E-78E4-DE4D-1AC2-32EB47DD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16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125D17-3F99-AB2D-6C68-2641F5B1F053}"/>
              </a:ext>
            </a:extLst>
          </p:cNvPr>
          <p:cNvSpPr txBox="1"/>
          <p:nvPr/>
        </p:nvSpPr>
        <p:spPr>
          <a:xfrm>
            <a:off x="3844950" y="2420060"/>
            <a:ext cx="5009705" cy="31393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type Count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dict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[str, int]</a:t>
            </a: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word_count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(text: str) -&gt; Count: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counts: Count = {}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words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re.split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(r'\W+', text)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for word in words: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word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word.lower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if word not in counts: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counts[word] = 0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counts[word] += 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return counts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9269A9-6E0D-9EE2-9502-6EF19C7A908A}"/>
              </a:ext>
            </a:extLst>
          </p:cNvPr>
          <p:cNvGrpSpPr/>
          <p:nvPr/>
        </p:nvGrpSpPr>
        <p:grpSpPr>
          <a:xfrm>
            <a:off x="1520058" y="2437311"/>
            <a:ext cx="6166959" cy="936480"/>
            <a:chOff x="1268129" y="2288020"/>
            <a:chExt cx="6166959" cy="93648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AD437F9-3FF5-CD22-3E42-92FB3EFAA9E9}"/>
                </a:ext>
              </a:extLst>
            </p:cNvPr>
            <p:cNvGrpSpPr/>
            <p:nvPr/>
          </p:nvGrpSpPr>
          <p:grpSpPr>
            <a:xfrm>
              <a:off x="1268129" y="2449591"/>
              <a:ext cx="2324892" cy="774909"/>
              <a:chOff x="4212865" y="1150316"/>
              <a:chExt cx="2324892" cy="774909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BD241EFB-3395-81C9-D658-3AF1BC82FFBA}"/>
                  </a:ext>
                </a:extLst>
              </p:cNvPr>
              <p:cNvCxnSpPr>
                <a:cxnSpLocks/>
                <a:stCxn id="33" idx="3"/>
                <a:endCxn id="24" idx="1"/>
              </p:cNvCxnSpPr>
              <p:nvPr/>
            </p:nvCxnSpPr>
            <p:spPr>
              <a:xfrm flipV="1">
                <a:off x="5955201" y="1150316"/>
                <a:ext cx="582556" cy="590243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2B3673F-A262-84BE-1824-60ED8594AA48}"/>
                  </a:ext>
                </a:extLst>
              </p:cNvPr>
              <p:cNvSpPr txBox="1"/>
              <p:nvPr/>
            </p:nvSpPr>
            <p:spPr>
              <a:xfrm>
                <a:off x="4212865" y="1555893"/>
                <a:ext cx="17423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Define type alias</a:t>
                </a:r>
                <a:endParaRPr lang="LID4096" dirty="0"/>
              </a:p>
            </p:txBody>
          </p:sp>
        </p:grp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92EECB8-A70F-8B7C-0839-81A36D2884A3}"/>
                </a:ext>
              </a:extLst>
            </p:cNvPr>
            <p:cNvSpPr/>
            <p:nvPr/>
          </p:nvSpPr>
          <p:spPr>
            <a:xfrm>
              <a:off x="3593021" y="2288020"/>
              <a:ext cx="3842067" cy="323141"/>
            </a:xfrm>
            <a:prstGeom prst="roundRect">
              <a:avLst/>
            </a:prstGeom>
            <a:solidFill>
              <a:srgbClr val="002060">
                <a:alpha val="23922"/>
              </a:srgb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03A1DD7-B145-86A7-67C7-FF0D75F54E83}"/>
              </a:ext>
            </a:extLst>
          </p:cNvPr>
          <p:cNvGrpSpPr/>
          <p:nvPr/>
        </p:nvGrpSpPr>
        <p:grpSpPr>
          <a:xfrm>
            <a:off x="5493386" y="3013086"/>
            <a:ext cx="3153067" cy="561330"/>
            <a:chOff x="4681622" y="3013086"/>
            <a:chExt cx="3153067" cy="561330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4ACCCC9B-09F6-72BB-D0AB-141552189406}"/>
                </a:ext>
              </a:extLst>
            </p:cNvPr>
            <p:cNvSpPr/>
            <p:nvPr/>
          </p:nvSpPr>
          <p:spPr>
            <a:xfrm>
              <a:off x="6978273" y="3013086"/>
              <a:ext cx="856416" cy="290832"/>
            </a:xfrm>
            <a:prstGeom prst="roundRect">
              <a:avLst/>
            </a:prstGeom>
            <a:solidFill>
              <a:srgbClr val="002060">
                <a:alpha val="23922"/>
              </a:srgb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B254FEED-42E5-ABA2-8526-D6D748893B86}"/>
                </a:ext>
              </a:extLst>
            </p:cNvPr>
            <p:cNvSpPr/>
            <p:nvPr/>
          </p:nvSpPr>
          <p:spPr>
            <a:xfrm>
              <a:off x="4681622" y="3283584"/>
              <a:ext cx="856416" cy="290832"/>
            </a:xfrm>
            <a:prstGeom prst="roundRect">
              <a:avLst/>
            </a:prstGeom>
            <a:solidFill>
              <a:srgbClr val="002060">
                <a:alpha val="23922"/>
              </a:srgb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276939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EA567948-048D-3424-53DF-61654C60855F}"/>
              </a:ext>
            </a:extLst>
          </p:cNvPr>
          <p:cNvGrpSpPr/>
          <p:nvPr/>
        </p:nvGrpSpPr>
        <p:grpSpPr>
          <a:xfrm>
            <a:off x="672539" y="1263064"/>
            <a:ext cx="8042586" cy="5355312"/>
            <a:chOff x="672539" y="1263064"/>
            <a:chExt cx="8042586" cy="535531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5B83807-0241-BBB2-FBA5-A913C9346725}"/>
                </a:ext>
              </a:extLst>
            </p:cNvPr>
            <p:cNvSpPr txBox="1"/>
            <p:nvPr/>
          </p:nvSpPr>
          <p:spPr>
            <a:xfrm>
              <a:off x="672539" y="1263064"/>
              <a:ext cx="8042586" cy="535531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from typing import TYPE_CHECKING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if TYPE_CHECKING: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from _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typeshed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import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ConvertibleToInt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class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MyClass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:</a:t>
              </a: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def __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init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__(self, data: '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ConvertibleToInt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') -&gt; None: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self._data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int(data)</a:t>
              </a: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@property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def data(self) -&gt; int: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return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self._data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@data.setter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def data(self, value: '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ConvertibleToInt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') -&gt; None: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self._data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int(value)</a:t>
              </a: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print_data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(data: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MyClass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 -&gt; None: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print(data)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B2DB00-FDAD-8C9F-8C15-F12ACD906B9C}"/>
                </a:ext>
              </a:extLst>
            </p:cNvPr>
            <p:cNvSpPr txBox="1"/>
            <p:nvPr/>
          </p:nvSpPr>
          <p:spPr>
            <a:xfrm>
              <a:off x="7805196" y="6310599"/>
              <a:ext cx="909929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classes.py</a:t>
              </a:r>
              <a:endParaRPr lang="LID4096" sz="14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2EEB3A3-3F1C-3E4F-4999-7C984E99E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0E822-A6A8-1094-CBF9-02A6118EC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17</a:t>
            </a:fld>
            <a:endParaRPr lang="nl-B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74F3C5F-FD8A-AD98-E969-593F876AB340}"/>
              </a:ext>
            </a:extLst>
          </p:cNvPr>
          <p:cNvGrpSpPr/>
          <p:nvPr/>
        </p:nvGrpSpPr>
        <p:grpSpPr>
          <a:xfrm>
            <a:off x="4236836" y="1475030"/>
            <a:ext cx="6485436" cy="669602"/>
            <a:chOff x="3593022" y="1941559"/>
            <a:chExt cx="6485436" cy="66960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4A917BF-4831-C129-D41B-B15F92F5F26E}"/>
                </a:ext>
              </a:extLst>
            </p:cNvPr>
            <p:cNvGrpSpPr/>
            <p:nvPr/>
          </p:nvGrpSpPr>
          <p:grpSpPr>
            <a:xfrm>
              <a:off x="5887616" y="1941559"/>
              <a:ext cx="4190842" cy="508032"/>
              <a:chOff x="8832352" y="642284"/>
              <a:chExt cx="4190842" cy="508032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C101AFD1-1657-4372-F550-FBBF7BEE5377}"/>
                  </a:ext>
                </a:extLst>
              </p:cNvPr>
              <p:cNvCxnSpPr>
                <a:cxnSpLocks/>
                <a:stCxn id="9" idx="1"/>
                <a:endCxn id="7" idx="3"/>
              </p:cNvCxnSpPr>
              <p:nvPr/>
            </p:nvCxnSpPr>
            <p:spPr>
              <a:xfrm flipH="1">
                <a:off x="8832352" y="826950"/>
                <a:ext cx="2448506" cy="323366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0FD931-0763-2F4D-1197-4C6150703497}"/>
                  </a:ext>
                </a:extLst>
              </p:cNvPr>
              <p:cNvSpPr txBox="1"/>
              <p:nvPr/>
            </p:nvSpPr>
            <p:spPr>
              <a:xfrm>
                <a:off x="11280858" y="642284"/>
                <a:ext cx="17423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Define type alias</a:t>
                </a:r>
                <a:endParaRPr lang="LID4096" dirty="0"/>
              </a:p>
            </p:txBody>
          </p:sp>
        </p:grp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4C2D240-936C-D6AB-CAC7-6E603CFEADC0}"/>
                </a:ext>
              </a:extLst>
            </p:cNvPr>
            <p:cNvSpPr/>
            <p:nvPr/>
          </p:nvSpPr>
          <p:spPr>
            <a:xfrm>
              <a:off x="3593022" y="2288020"/>
              <a:ext cx="2294594" cy="323141"/>
            </a:xfrm>
            <a:prstGeom prst="roundRect">
              <a:avLst/>
            </a:prstGeom>
            <a:solidFill>
              <a:srgbClr val="002060">
                <a:alpha val="23922"/>
              </a:srgb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1E6F9A-8B6F-83EC-11D1-A814B05D9C3C}"/>
              </a:ext>
            </a:extLst>
          </p:cNvPr>
          <p:cNvGrpSpPr/>
          <p:nvPr/>
        </p:nvGrpSpPr>
        <p:grpSpPr>
          <a:xfrm>
            <a:off x="4236836" y="2891401"/>
            <a:ext cx="3013051" cy="2528275"/>
            <a:chOff x="4236836" y="2891401"/>
            <a:chExt cx="3013051" cy="2528275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42B83DC-456A-757B-2CDC-1B97C67480F1}"/>
                </a:ext>
              </a:extLst>
            </p:cNvPr>
            <p:cNvSpPr/>
            <p:nvPr/>
          </p:nvSpPr>
          <p:spPr>
            <a:xfrm>
              <a:off x="4684503" y="2891401"/>
              <a:ext cx="2565384" cy="323141"/>
            </a:xfrm>
            <a:prstGeom prst="roundRect">
              <a:avLst/>
            </a:prstGeom>
            <a:solidFill>
              <a:srgbClr val="002060">
                <a:alpha val="23922"/>
              </a:srgb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FBC174F-9DE0-347B-A639-4A1502B8CA1A}"/>
                </a:ext>
              </a:extLst>
            </p:cNvPr>
            <p:cNvSpPr/>
            <p:nvPr/>
          </p:nvSpPr>
          <p:spPr>
            <a:xfrm>
              <a:off x="4236836" y="5096535"/>
              <a:ext cx="2565384" cy="323141"/>
            </a:xfrm>
            <a:prstGeom prst="roundRect">
              <a:avLst/>
            </a:prstGeom>
            <a:solidFill>
              <a:srgbClr val="002060">
                <a:alpha val="23922"/>
              </a:srgb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53902E8-A45B-58DF-57B6-0408EE447F52}"/>
              </a:ext>
            </a:extLst>
          </p:cNvPr>
          <p:cNvSpPr/>
          <p:nvPr/>
        </p:nvSpPr>
        <p:spPr>
          <a:xfrm>
            <a:off x="3717891" y="4045287"/>
            <a:ext cx="462962" cy="267158"/>
          </a:xfrm>
          <a:prstGeom prst="roundRect">
            <a:avLst/>
          </a:prstGeom>
          <a:solidFill>
            <a:srgbClr val="FF0000">
              <a:alpha val="41961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F30713-210C-8D8A-6719-2C9E3B110C93}"/>
              </a:ext>
            </a:extLst>
          </p:cNvPr>
          <p:cNvSpPr/>
          <p:nvPr/>
        </p:nvSpPr>
        <p:spPr>
          <a:xfrm>
            <a:off x="3604548" y="5950145"/>
            <a:ext cx="976783" cy="323140"/>
          </a:xfrm>
          <a:prstGeom prst="roundRect">
            <a:avLst/>
          </a:prstGeom>
          <a:solidFill>
            <a:srgbClr val="00B050">
              <a:alpha val="41961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617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87D8401C-D532-D382-1332-03D417CF6D02}"/>
              </a:ext>
            </a:extLst>
          </p:cNvPr>
          <p:cNvGrpSpPr/>
          <p:nvPr/>
        </p:nvGrpSpPr>
        <p:grpSpPr>
          <a:xfrm>
            <a:off x="2538664" y="1263064"/>
            <a:ext cx="5285421" cy="5355312"/>
            <a:chOff x="672539" y="1263064"/>
            <a:chExt cx="5285421" cy="535531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6DC24D0-0228-6F66-2941-D679211E2790}"/>
                </a:ext>
              </a:extLst>
            </p:cNvPr>
            <p:cNvSpPr txBox="1"/>
            <p:nvPr/>
          </p:nvSpPr>
          <p:spPr>
            <a:xfrm>
              <a:off x="672539" y="1263064"/>
              <a:ext cx="5285421" cy="535531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from typing import Self</a:t>
              </a: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class Node[T]: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_left: Self | None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_right: Self | None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_data: T</a:t>
              </a: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def __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init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__(self, data: T):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self._left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None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self._right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None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self._data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data</a:t>
              </a: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@property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def left(self) -&gt; Self | None: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return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self._left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@data.setter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it-IT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 data(self, data: T) -&gt; None:</a:t>
              </a:r>
            </a:p>
            <a:p>
              <a:r>
                <a:rPr lang="it-IT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self._data = data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58FD61-CF4A-21AF-121C-49C3DBFF831F}"/>
                </a:ext>
              </a:extLst>
            </p:cNvPr>
            <p:cNvSpPr txBox="1"/>
            <p:nvPr/>
          </p:nvSpPr>
          <p:spPr>
            <a:xfrm>
              <a:off x="5252382" y="1263064"/>
              <a:ext cx="705578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tree.py</a:t>
              </a:r>
              <a:endParaRPr lang="LID4096" sz="14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B7A43C-1AA7-FE37-DA1E-129E3FAD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types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618C94-66B5-14A9-296B-7493B6A6A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18</a:t>
            </a:fld>
            <a:endParaRPr lang="nl-BE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C16E515-B60D-6046-EC3E-4E8B7CCCCB05}"/>
              </a:ext>
            </a:extLst>
          </p:cNvPr>
          <p:cNvGrpSpPr/>
          <p:nvPr/>
        </p:nvGrpSpPr>
        <p:grpSpPr>
          <a:xfrm>
            <a:off x="3387014" y="1821491"/>
            <a:ext cx="6694491" cy="1156675"/>
            <a:chOff x="1520889" y="1821491"/>
            <a:chExt cx="6694491" cy="115667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8722B9C-8AFB-DE3E-11C0-58AB880FA7F7}"/>
                </a:ext>
              </a:extLst>
            </p:cNvPr>
            <p:cNvGrpSpPr/>
            <p:nvPr/>
          </p:nvGrpSpPr>
          <p:grpSpPr>
            <a:xfrm>
              <a:off x="1520889" y="1821491"/>
              <a:ext cx="6694491" cy="694495"/>
              <a:chOff x="877075" y="2288020"/>
              <a:chExt cx="6694491" cy="694495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97D5E8FB-DC04-3870-2BF4-55570CA1F53E}"/>
                  </a:ext>
                </a:extLst>
              </p:cNvPr>
              <p:cNvGrpSpPr/>
              <p:nvPr/>
            </p:nvGrpSpPr>
            <p:grpSpPr>
              <a:xfrm>
                <a:off x="1903442" y="2449591"/>
                <a:ext cx="5668124" cy="532924"/>
                <a:chOff x="4848178" y="1150316"/>
                <a:chExt cx="5668124" cy="532924"/>
              </a:xfrm>
            </p:grpSpPr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753929C5-2B75-72F9-B00E-5FA7517CBD11}"/>
                    </a:ext>
                  </a:extLst>
                </p:cNvPr>
                <p:cNvCxnSpPr>
                  <a:cxnSpLocks/>
                  <a:stCxn id="9" idx="1"/>
                  <a:endCxn id="7" idx="3"/>
                </p:cNvCxnSpPr>
                <p:nvPr/>
              </p:nvCxnSpPr>
              <p:spPr>
                <a:xfrm flipH="1" flipV="1">
                  <a:off x="4848178" y="1150316"/>
                  <a:ext cx="4282808" cy="348258"/>
                </a:xfrm>
                <a:prstGeom prst="straightConnector1">
                  <a:avLst/>
                </a:prstGeom>
                <a:ln w="28575">
                  <a:solidFill>
                    <a:srgbClr val="002060"/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E5E7CC7-2E8D-189F-A5B8-77D79B7F7683}"/>
                    </a:ext>
                  </a:extLst>
                </p:cNvPr>
                <p:cNvSpPr txBox="1"/>
                <p:nvPr/>
              </p:nvSpPr>
              <p:spPr>
                <a:xfrm>
                  <a:off x="9130986" y="1313908"/>
                  <a:ext cx="13853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Generic type</a:t>
                  </a:r>
                  <a:endParaRPr lang="LID4096" dirty="0"/>
                </a:p>
              </p:txBody>
            </p:sp>
          </p:grp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A91D847B-19F3-B2FD-B5F8-16E11800ABAE}"/>
                  </a:ext>
                </a:extLst>
              </p:cNvPr>
              <p:cNvSpPr/>
              <p:nvPr/>
            </p:nvSpPr>
            <p:spPr>
              <a:xfrm>
                <a:off x="877075" y="2288020"/>
                <a:ext cx="1026367" cy="323141"/>
              </a:xfrm>
              <a:prstGeom prst="roundRect">
                <a:avLst/>
              </a:prstGeom>
              <a:solidFill>
                <a:srgbClr val="002060">
                  <a:alpha val="23922"/>
                </a:srgbClr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BF88062-A717-E822-A156-BA8BC4790313}"/>
                </a:ext>
              </a:extLst>
            </p:cNvPr>
            <p:cNvCxnSpPr>
              <a:cxnSpLocks/>
              <a:stCxn id="9" idx="1"/>
              <a:endCxn id="16" idx="3"/>
            </p:cNvCxnSpPr>
            <p:nvPr/>
          </p:nvCxnSpPr>
          <p:spPr>
            <a:xfrm flipH="1">
              <a:off x="2485050" y="2331320"/>
              <a:ext cx="4345014" cy="485276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8705809-DE21-9A45-295C-E11558A8AA49}"/>
                </a:ext>
              </a:extLst>
            </p:cNvPr>
            <p:cNvSpPr/>
            <p:nvPr/>
          </p:nvSpPr>
          <p:spPr>
            <a:xfrm>
              <a:off x="2183363" y="2655025"/>
              <a:ext cx="301687" cy="323141"/>
            </a:xfrm>
            <a:prstGeom prst="roundRect">
              <a:avLst/>
            </a:prstGeom>
            <a:solidFill>
              <a:srgbClr val="002060">
                <a:alpha val="23922"/>
              </a:srgb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9BB6BD0-6275-1585-EF27-6168BF653A5D}"/>
              </a:ext>
            </a:extLst>
          </p:cNvPr>
          <p:cNvGrpSpPr/>
          <p:nvPr/>
        </p:nvGrpSpPr>
        <p:grpSpPr>
          <a:xfrm>
            <a:off x="5965374" y="3164854"/>
            <a:ext cx="859995" cy="3082136"/>
            <a:chOff x="4099249" y="3164854"/>
            <a:chExt cx="859995" cy="3082136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9A38928-396B-FFD7-469E-BDEEB5A75F11}"/>
                </a:ext>
              </a:extLst>
            </p:cNvPr>
            <p:cNvSpPr/>
            <p:nvPr/>
          </p:nvSpPr>
          <p:spPr>
            <a:xfrm>
              <a:off x="4657557" y="3164854"/>
              <a:ext cx="301687" cy="323141"/>
            </a:xfrm>
            <a:prstGeom prst="roundRect">
              <a:avLst/>
            </a:prstGeom>
            <a:solidFill>
              <a:srgbClr val="002060">
                <a:alpha val="23922"/>
              </a:srgb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351366D-E3EC-994F-6750-42D34FD79E97}"/>
                </a:ext>
              </a:extLst>
            </p:cNvPr>
            <p:cNvSpPr/>
            <p:nvPr/>
          </p:nvSpPr>
          <p:spPr>
            <a:xfrm>
              <a:off x="4099249" y="5923849"/>
              <a:ext cx="301687" cy="323141"/>
            </a:xfrm>
            <a:prstGeom prst="roundRect">
              <a:avLst/>
            </a:prstGeom>
            <a:solidFill>
              <a:srgbClr val="002060">
                <a:alpha val="23922"/>
              </a:srgb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ADD3687-EF73-DE0D-F721-67497D5947D5}"/>
              </a:ext>
            </a:extLst>
          </p:cNvPr>
          <p:cNvSpPr/>
          <p:nvPr/>
        </p:nvSpPr>
        <p:spPr>
          <a:xfrm>
            <a:off x="5618433" y="4840440"/>
            <a:ext cx="623751" cy="323141"/>
          </a:xfrm>
          <a:prstGeom prst="roundRect">
            <a:avLst/>
          </a:prstGeom>
          <a:solidFill>
            <a:srgbClr val="00B050">
              <a:alpha val="41961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5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87A09-C4A2-2251-697E-F5237517F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981B3DD3-B81C-8A38-ACCA-52119D866933}"/>
              </a:ext>
            </a:extLst>
          </p:cNvPr>
          <p:cNvGrpSpPr/>
          <p:nvPr/>
        </p:nvGrpSpPr>
        <p:grpSpPr>
          <a:xfrm>
            <a:off x="4502687" y="1557638"/>
            <a:ext cx="5009705" cy="3416320"/>
            <a:chOff x="672539" y="1263064"/>
            <a:chExt cx="5009705" cy="341632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62117FC-09FE-80A9-ADE8-CF9C21C9E652}"/>
                </a:ext>
              </a:extLst>
            </p:cNvPr>
            <p:cNvSpPr txBox="1"/>
            <p:nvPr/>
          </p:nvSpPr>
          <p:spPr>
            <a:xfrm>
              <a:off x="672539" y="1263064"/>
              <a:ext cx="5009705" cy="341632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from typing import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NewType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PersonId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NewType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('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PersonId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', int)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Age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NewType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('Age', int)</a:t>
              </a: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class Person: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person_id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: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PersonId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age: Age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Person.age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Age(25)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Person.age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25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C44CCFD-6959-5315-5F5C-8C8707C65D72}"/>
                </a:ext>
              </a:extLst>
            </p:cNvPr>
            <p:cNvSpPr txBox="1"/>
            <p:nvPr/>
          </p:nvSpPr>
          <p:spPr>
            <a:xfrm>
              <a:off x="4459280" y="1263064"/>
              <a:ext cx="1203984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new_types.py</a:t>
              </a:r>
              <a:endParaRPr lang="LID4096" sz="14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53EC88A-4187-32CC-FA85-788DB299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types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8F5F32-7B45-2283-C55A-273C285E7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19</a:t>
            </a:fld>
            <a:endParaRPr lang="nl-BE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3319A4A-705B-A88D-46BB-0AE35D191739}"/>
              </a:ext>
            </a:extLst>
          </p:cNvPr>
          <p:cNvGrpSpPr/>
          <p:nvPr/>
        </p:nvGrpSpPr>
        <p:grpSpPr>
          <a:xfrm>
            <a:off x="1847739" y="2142361"/>
            <a:ext cx="3955899" cy="584933"/>
            <a:chOff x="-317213" y="-241250"/>
            <a:chExt cx="3955899" cy="5849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DA2E081-5486-9977-17A1-5CCB504F0212}"/>
                </a:ext>
              </a:extLst>
            </p:cNvPr>
            <p:cNvGrpSpPr/>
            <p:nvPr/>
          </p:nvGrpSpPr>
          <p:grpSpPr>
            <a:xfrm>
              <a:off x="-317213" y="-241250"/>
              <a:ext cx="3955899" cy="482298"/>
              <a:chOff x="-961027" y="225279"/>
              <a:chExt cx="3955899" cy="482298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686A53CA-9DEB-6288-44D0-6AA30AACF2DE}"/>
                  </a:ext>
                </a:extLst>
              </p:cNvPr>
              <p:cNvGrpSpPr/>
              <p:nvPr/>
            </p:nvGrpSpPr>
            <p:grpSpPr>
              <a:xfrm>
                <a:off x="-961027" y="338245"/>
                <a:ext cx="2707400" cy="369332"/>
                <a:chOff x="1983709" y="-961030"/>
                <a:chExt cx="2707400" cy="369332"/>
              </a:xfrm>
            </p:grpSpPr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A01848A0-7859-F7F2-DAA7-F0EE86672563}"/>
                    </a:ext>
                  </a:extLst>
                </p:cNvPr>
                <p:cNvCxnSpPr>
                  <a:cxnSpLocks/>
                  <a:stCxn id="9" idx="3"/>
                  <a:endCxn id="7" idx="1"/>
                </p:cNvCxnSpPr>
                <p:nvPr/>
              </p:nvCxnSpPr>
              <p:spPr>
                <a:xfrm flipV="1">
                  <a:off x="3354597" y="-936861"/>
                  <a:ext cx="1336512" cy="160497"/>
                </a:xfrm>
                <a:prstGeom prst="straightConnector1">
                  <a:avLst/>
                </a:prstGeom>
                <a:ln w="28575">
                  <a:solidFill>
                    <a:srgbClr val="002060"/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684F46B-1224-C05F-7795-CA10CD996C99}"/>
                    </a:ext>
                  </a:extLst>
                </p:cNvPr>
                <p:cNvSpPr txBox="1"/>
                <p:nvPr/>
              </p:nvSpPr>
              <p:spPr>
                <a:xfrm>
                  <a:off x="1983709" y="-961030"/>
                  <a:ext cx="13708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Specific type</a:t>
                  </a:r>
                  <a:endParaRPr lang="LID4096" dirty="0"/>
                </a:p>
              </p:txBody>
            </p:sp>
          </p:grp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C2BEFB34-EBE6-5E03-49C6-5BCE2A215295}"/>
                  </a:ext>
                </a:extLst>
              </p:cNvPr>
              <p:cNvSpPr/>
              <p:nvPr/>
            </p:nvSpPr>
            <p:spPr>
              <a:xfrm>
                <a:off x="1746373" y="225279"/>
                <a:ext cx="1248499" cy="274270"/>
              </a:xfrm>
              <a:prstGeom prst="roundRect">
                <a:avLst/>
              </a:prstGeom>
              <a:solidFill>
                <a:srgbClr val="002060">
                  <a:alpha val="23922"/>
                </a:srgbClr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77A3790-852B-2352-EC89-25C8CF2272DC}"/>
                </a:ext>
              </a:extLst>
            </p:cNvPr>
            <p:cNvCxnSpPr>
              <a:cxnSpLocks/>
              <a:stCxn id="9" idx="3"/>
              <a:endCxn id="16" idx="1"/>
            </p:cNvCxnSpPr>
            <p:nvPr/>
          </p:nvCxnSpPr>
          <p:spPr>
            <a:xfrm>
              <a:off x="1053675" y="56382"/>
              <a:ext cx="1336512" cy="150166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8892795-F7F6-398F-45F9-C651A8C24BF6}"/>
                </a:ext>
              </a:extLst>
            </p:cNvPr>
            <p:cNvSpPr/>
            <p:nvPr/>
          </p:nvSpPr>
          <p:spPr>
            <a:xfrm>
              <a:off x="2390187" y="69413"/>
              <a:ext cx="523824" cy="274270"/>
            </a:xfrm>
            <a:prstGeom prst="roundRect">
              <a:avLst/>
            </a:prstGeom>
            <a:solidFill>
              <a:srgbClr val="002060">
                <a:alpha val="23922"/>
              </a:srgb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2DC969-E552-157F-3DA3-E40CF419807E}"/>
              </a:ext>
            </a:extLst>
          </p:cNvPr>
          <p:cNvGrpSpPr/>
          <p:nvPr/>
        </p:nvGrpSpPr>
        <p:grpSpPr>
          <a:xfrm>
            <a:off x="4502687" y="4609322"/>
            <a:ext cx="2224684" cy="387998"/>
            <a:chOff x="4502687" y="4609322"/>
            <a:chExt cx="2224684" cy="387998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0843BE7-0677-CABA-09E0-622C29C485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5139" y="4609322"/>
              <a:ext cx="2172232" cy="36463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462599-DA63-5345-101A-BD9C411C15A0}"/>
                </a:ext>
              </a:extLst>
            </p:cNvPr>
            <p:cNvCxnSpPr>
              <a:cxnSpLocks/>
            </p:cNvCxnSpPr>
            <p:nvPr/>
          </p:nvCxnSpPr>
          <p:spPr>
            <a:xfrm>
              <a:off x="4502687" y="4632684"/>
              <a:ext cx="2172232" cy="36463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379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04762-D7F7-0F15-37AB-07A5F7C8D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9E8E4-F653-B9C9-3571-8754E54A3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45D48-7FBF-475C-0DF7-C819AFE0C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mypy</a:t>
            </a:r>
            <a:r>
              <a:rPr lang="en-US" dirty="0"/>
              <a:t> cheat sheet:</a:t>
            </a:r>
            <a:br>
              <a:rPr lang="en-US" dirty="0"/>
            </a:br>
            <a:r>
              <a:rPr lang="en-US" sz="2400" dirty="0">
                <a:hlinkClick r:id="rId2"/>
              </a:rPr>
              <a:t>https://mypy.readthedocs.io/en/stable/cheat_sheet_py3.html</a:t>
            </a:r>
            <a:endParaRPr lang="en-US" sz="2400" dirty="0"/>
          </a:p>
          <a:p>
            <a:r>
              <a:rPr lang="en-US" dirty="0"/>
              <a:t>Static typing with Python</a:t>
            </a:r>
            <a:br>
              <a:rPr lang="en-US" dirty="0"/>
            </a:br>
            <a:r>
              <a:rPr lang="en-US" sz="2400" dirty="0">
                <a:hlinkClick r:id="rId3"/>
              </a:rPr>
              <a:t>https://typing.readthedocs.io/en/latest/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39A4B-414A-ED3E-2220-BF9E14A1D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3852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Errors:</a:t>
            </a:r>
            <a:br>
              <a:rPr lang="en-US" dirty="0"/>
            </a:br>
            <a:r>
              <a:rPr lang="en-US" dirty="0"/>
              <a:t>dealing with exceptions</a:t>
            </a:r>
            <a:endParaRPr lang="nl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hlinkClick r:id="rId2"/>
              </a:rPr>
              <a:t>https://github.com/gjbex/Python-software-engineering/tree/master/source-code/error-handling</a:t>
            </a:r>
            <a:endParaRPr lang="en-US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2680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</a:t>
            </a:r>
            <a:endParaRPr lang="nl-BE" dirty="0"/>
          </a:p>
        </p:txBody>
      </p:sp>
      <p:sp>
        <p:nvSpPr>
          <p:cNvPr id="6" name="TextBox 5"/>
          <p:cNvSpPr txBox="1"/>
          <p:nvPr/>
        </p:nvSpPr>
        <p:spPr>
          <a:xfrm>
            <a:off x="2063552" y="1408708"/>
            <a:ext cx="8064896" cy="20313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main():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file_name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sys.argv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[1]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with open(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file_name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as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in_file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for line in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in_file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print(f"|{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line.rstrip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('\r\n')}|")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15878" y="3861049"/>
            <a:ext cx="6112571" cy="203132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 python quote.py</a:t>
            </a:r>
          </a:p>
          <a:p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Traceback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(most recent call last):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File "./quote.0.py", line 13, in &lt;module&gt;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  status = main()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File "./quote.py", line 6, in main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file_name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sys.argv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[1]</a:t>
            </a:r>
          </a:p>
          <a:p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IndexError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: list index out of 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9656" y="6135688"/>
            <a:ext cx="637251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Either check length of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sys.argv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, or deal with error!</a:t>
            </a:r>
            <a:endParaRPr lang="nl-BE" sz="240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847529" y="4869161"/>
            <a:ext cx="3680517" cy="1023213"/>
            <a:chOff x="323528" y="4869160"/>
            <a:chExt cx="3680517" cy="1023213"/>
          </a:xfrm>
        </p:grpSpPr>
        <p:sp>
          <p:nvSpPr>
            <p:cNvPr id="9" name="Rounded Rectangle 8"/>
            <p:cNvSpPr/>
            <p:nvPr/>
          </p:nvSpPr>
          <p:spPr>
            <a:xfrm>
              <a:off x="2491877" y="5517232"/>
              <a:ext cx="1512168" cy="375141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3528" y="4869160"/>
              <a:ext cx="140121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Calibri"/>
                </a:rPr>
                <a:t>exception</a:t>
              </a:r>
              <a:br>
                <a:rPr lang="en-US" sz="2400" dirty="0">
                  <a:solidFill>
                    <a:srgbClr val="FF0000"/>
                  </a:solidFill>
                  <a:latin typeface="Calibri"/>
                </a:rPr>
              </a:br>
              <a:r>
                <a:rPr lang="en-US" sz="2400" dirty="0">
                  <a:solidFill>
                    <a:srgbClr val="FF0000"/>
                  </a:solidFill>
                  <a:latin typeface="Calibri"/>
                </a:rPr>
                <a:t>thrown</a:t>
              </a:r>
              <a:endParaRPr lang="nl-BE" sz="2400" dirty="0">
                <a:solidFill>
                  <a:srgbClr val="FF0000"/>
                </a:solidFill>
                <a:latin typeface="Calibri"/>
              </a:endParaRPr>
            </a:p>
          </p:txBody>
        </p:sp>
        <p:cxnSp>
          <p:nvCxnSpPr>
            <p:cNvPr id="12" name="Straight Arrow Connector 11"/>
            <p:cNvCxnSpPr>
              <a:stCxn id="10" idx="3"/>
              <a:endCxn id="9" idx="1"/>
            </p:cNvCxnSpPr>
            <p:nvPr/>
          </p:nvCxnSpPr>
          <p:spPr>
            <a:xfrm>
              <a:off x="1724745" y="5284659"/>
              <a:ext cx="767132" cy="42014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22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750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Playing catch</a:t>
            </a:r>
            <a:endParaRPr lang="nl-BE" dirty="0"/>
          </a:p>
        </p:txBody>
      </p:sp>
      <p:sp>
        <p:nvSpPr>
          <p:cNvPr id="3" name="TextBox 2"/>
          <p:cNvSpPr txBox="1"/>
          <p:nvPr/>
        </p:nvSpPr>
        <p:spPr>
          <a:xfrm>
            <a:off x="2063552" y="1408708"/>
            <a:ext cx="8064896" cy="34163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main():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try: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file_name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sys.argv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[1]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except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IndexError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as e: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print('### error: no input file',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file=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sys.stderr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sys.exit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(1)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with open(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file_name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as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in_file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for line in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in_file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print(f"|{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line.rstrip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(r'\r\n')}|")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15680" y="5573932"/>
            <a:ext cx="3493264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white"/>
                </a:solidFill>
                <a:latin typeface="Courier New" pitchFamily="49" charset="0"/>
                <a:cs typeface="Courier New" pitchFamily="49" charset="0"/>
              </a:rPr>
              <a:t>$ python quote.py</a:t>
            </a:r>
            <a:br>
              <a:rPr lang="en-US" b="1" dirty="0">
                <a:solidFill>
                  <a:prstClr val="white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white"/>
                </a:solidFill>
                <a:latin typeface="Courier New" pitchFamily="49" charset="0"/>
                <a:cs typeface="Courier New" pitchFamily="49" charset="0"/>
              </a:rPr>
              <a:t>### error: no input file</a:t>
            </a:r>
            <a:endParaRPr lang="en-US" b="1" dirty="0">
              <a:solidFill>
                <a:prstClr val="white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23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438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trouble</a:t>
            </a:r>
            <a:endParaRPr lang="nl-BE" dirty="0"/>
          </a:p>
        </p:txBody>
      </p:sp>
      <p:sp>
        <p:nvSpPr>
          <p:cNvPr id="3" name="TextBox 2"/>
          <p:cNvSpPr txBox="1"/>
          <p:nvPr/>
        </p:nvSpPr>
        <p:spPr>
          <a:xfrm>
            <a:off x="2495601" y="1628801"/>
            <a:ext cx="7215437" cy="203132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 python quote.py  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bla</a:t>
            </a:r>
            <a:endParaRPr lang="en-US" b="1" dirty="0">
              <a:solidFill>
                <a:srgbClr val="EEECE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Traceback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(most recent call last):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File "./quote.py", line 17, in &lt;module&gt;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  status = main()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File "./quote.py", line 11, in main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  with open(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file_name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) as 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in_file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IOError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: [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Errno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2] No such file or directory: '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bla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'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061974" y="3310799"/>
            <a:ext cx="1513746" cy="1933114"/>
            <a:chOff x="1493428" y="4601763"/>
            <a:chExt cx="1513746" cy="1933114"/>
          </a:xfrm>
        </p:grpSpPr>
        <p:sp>
          <p:nvSpPr>
            <p:cNvPr id="5" name="Rounded Rectangle 4"/>
            <p:cNvSpPr/>
            <p:nvPr/>
          </p:nvSpPr>
          <p:spPr>
            <a:xfrm>
              <a:off x="2007171" y="4601763"/>
              <a:ext cx="1000003" cy="375141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93428" y="5703880"/>
              <a:ext cx="140121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Calibri"/>
                </a:rPr>
                <a:t>exception</a:t>
              </a:r>
              <a:br>
                <a:rPr lang="en-US" sz="2400" dirty="0">
                  <a:solidFill>
                    <a:srgbClr val="FF0000"/>
                  </a:solidFill>
                  <a:latin typeface="Calibri"/>
                </a:rPr>
              </a:br>
              <a:r>
                <a:rPr lang="en-US" sz="2400" dirty="0">
                  <a:solidFill>
                    <a:srgbClr val="FF0000"/>
                  </a:solidFill>
                  <a:latin typeface="Calibri"/>
                </a:rPr>
                <a:t>thrown</a:t>
              </a:r>
              <a:endParaRPr lang="nl-BE" sz="2400" dirty="0">
                <a:solidFill>
                  <a:srgbClr val="FF0000"/>
                </a:solidFill>
                <a:latin typeface="Calibri"/>
              </a:endParaRPr>
            </a:p>
          </p:txBody>
        </p:sp>
        <p:cxnSp>
          <p:nvCxnSpPr>
            <p:cNvPr id="7" name="Straight Arrow Connector 6"/>
            <p:cNvCxnSpPr>
              <a:stCxn id="6" idx="0"/>
              <a:endCxn id="5" idx="2"/>
            </p:cNvCxnSpPr>
            <p:nvPr/>
          </p:nvCxnSpPr>
          <p:spPr>
            <a:xfrm flipV="1">
              <a:off x="2194037" y="4976904"/>
              <a:ext cx="313136" cy="72697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24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757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Catching more</a:t>
            </a:r>
            <a:endParaRPr lang="nl-BE" dirty="0"/>
          </a:p>
        </p:txBody>
      </p:sp>
      <p:sp>
        <p:nvSpPr>
          <p:cNvPr id="3" name="TextBox 2"/>
          <p:cNvSpPr txBox="1"/>
          <p:nvPr/>
        </p:nvSpPr>
        <p:spPr>
          <a:xfrm>
            <a:off x="1693121" y="1408709"/>
            <a:ext cx="8856984" cy="452431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main():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try: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file_name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sys.argv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[1]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in_file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open(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file_name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with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in_file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for line in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in_file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print(f"|{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line.rstrip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('\r\n')}|")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except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IndexError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as e: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print('### error: no input file\n', file=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sys.stderr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sys.exit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(1)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except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IOError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as e: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print(f"### I/O error on '{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e.filename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}': {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e.strerror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}“,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file=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sys.stderr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sys.exit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(2)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25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6298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handled!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Now all exceptions are handled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 that code size increased from 5 to 16 lines</a:t>
            </a:r>
          </a:p>
          <a:p>
            <a:pPr lvl="1"/>
            <a:r>
              <a:rPr lang="en-US" dirty="0"/>
              <a:t>Handling errors takes effort</a:t>
            </a:r>
          </a:p>
          <a:p>
            <a:pPr lvl="1"/>
            <a:r>
              <a:rPr lang="en-US" dirty="0"/>
              <a:t>Worthwhile if others are using your software!</a:t>
            </a:r>
          </a:p>
          <a:p>
            <a:r>
              <a:rPr lang="en-US" dirty="0"/>
              <a:t>One can create own exceptions, derive class from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Exception</a:t>
            </a:r>
            <a:endParaRPr lang="nl-BE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8931" y="2424365"/>
            <a:ext cx="6939720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 python quote.py  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bla</a:t>
            </a:r>
            <a:endParaRPr lang="en-US" b="1" dirty="0">
              <a:solidFill>
                <a:srgbClr val="EEECE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### I/O error on '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bla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': No such file or directory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26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58C60B-AA7B-CFC2-E03D-1EC8C60C55FB}"/>
              </a:ext>
            </a:extLst>
          </p:cNvPr>
          <p:cNvGrpSpPr/>
          <p:nvPr/>
        </p:nvGrpSpPr>
        <p:grpSpPr>
          <a:xfrm>
            <a:off x="8504700" y="1077663"/>
            <a:ext cx="3155315" cy="1324126"/>
            <a:chOff x="7320137" y="3284986"/>
            <a:chExt cx="3155315" cy="1324126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F09B43D0-CB59-3D74-78F6-59361F571E69}"/>
                </a:ext>
              </a:extLst>
            </p:cNvPr>
            <p:cNvSpPr/>
            <p:nvPr/>
          </p:nvSpPr>
          <p:spPr>
            <a:xfrm>
              <a:off x="7320137" y="3284986"/>
              <a:ext cx="3155315" cy="13241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2D0603F-1338-86E2-C505-86D461D19D8D}"/>
                </a:ext>
              </a:extLst>
            </p:cNvPr>
            <p:cNvSpPr txBox="1"/>
            <p:nvPr/>
          </p:nvSpPr>
          <p:spPr>
            <a:xfrm>
              <a:off x="7450281" y="3309924"/>
              <a:ext cx="27761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"</a:t>
              </a:r>
              <a:r>
                <a:rPr lang="en-US" dirty="0">
                  <a:latin typeface="Informal Roman" panose="030604020304060B0204" pitchFamily="66" charset="0"/>
                </a:rPr>
                <a:t>Always remember that it’s much easier to apologize than to get permission.</a:t>
              </a:r>
              <a:r>
                <a:rPr lang="en-US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"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D53295-D7EB-E945-1C81-47112A8E6EB1}"/>
                </a:ext>
              </a:extLst>
            </p:cNvPr>
            <p:cNvSpPr txBox="1"/>
            <p:nvPr/>
          </p:nvSpPr>
          <p:spPr>
            <a:xfrm>
              <a:off x="8338651" y="4270557"/>
              <a:ext cx="15750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Calibri"/>
                </a:rPr>
                <a:t>— Grace Hopper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449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Testing pre and post conditions</a:t>
            </a:r>
          </a:p>
          <a:p>
            <a:pPr lvl="1"/>
            <a:r>
              <a:rPr lang="en-US" dirty="0"/>
              <a:t>Programming by contract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27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07569" y="2804736"/>
            <a:ext cx="8042586" cy="2031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fac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(n):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assert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isinstance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(n, int), 'argument must be integer'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assert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n &gt;= 0, 'argument must be positive'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if n &lt; 2: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return 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else: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return n*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fac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(n - 1)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536161" y="3820397"/>
            <a:ext cx="2245209" cy="640522"/>
            <a:chOff x="-1070938" y="3292534"/>
            <a:chExt cx="2245209" cy="640522"/>
          </a:xfrm>
        </p:grpSpPr>
        <p:sp>
          <p:nvSpPr>
            <p:cNvPr id="7" name="TextBox 6"/>
            <p:cNvSpPr txBox="1"/>
            <p:nvPr/>
          </p:nvSpPr>
          <p:spPr>
            <a:xfrm>
              <a:off x="179512" y="3563724"/>
              <a:ext cx="994759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Optional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H="1" flipV="1">
              <a:off x="-1070938" y="3292534"/>
              <a:ext cx="1250450" cy="4558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2207569" y="5108992"/>
            <a:ext cx="7491153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 python  -c 'from 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fac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import 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fac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; print(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fac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(-1))'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assert n &gt;= 0, 'argument must be positive'</a:t>
            </a:r>
          </a:p>
          <a:p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AssertionError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: argument must be positive</a:t>
            </a:r>
          </a:p>
        </p:txBody>
      </p:sp>
    </p:spTree>
    <p:extLst>
      <p:ext uri="{BB962C8B-B14F-4D97-AF65-F5344CB8AC3E}">
        <p14:creationId xmlns:p14="http://schemas.microsoft.com/office/powerpoint/2010/main" val="95157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 use cases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development only, </a:t>
            </a:r>
            <a:r>
              <a:rPr lang="en-US" i="1" dirty="0"/>
              <a:t>not</a:t>
            </a:r>
            <a:r>
              <a:rPr lang="en-US" dirty="0"/>
              <a:t> production!</a:t>
            </a:r>
          </a:p>
          <a:p>
            <a:r>
              <a:rPr lang="en-US" i="1" dirty="0"/>
              <a:t>Not</a:t>
            </a:r>
            <a:r>
              <a:rPr lang="en-US" dirty="0"/>
              <a:t> a substitute for error handling, i.e., exception handling</a:t>
            </a:r>
          </a:p>
          <a:p>
            <a:r>
              <a:rPr lang="en-US" dirty="0"/>
              <a:t>Run without assertions, run optimized: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-O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28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07568" y="4005065"/>
            <a:ext cx="7848872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 python  -O  -c 'from 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fac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import 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fac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; print(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fac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(-1))'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31704" y="5373217"/>
            <a:ext cx="550131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latin typeface="Calibri"/>
              </a:rPr>
              <a:t>Useful feature, but don't abuse!</a:t>
            </a:r>
            <a:endParaRPr lang="nl-BE" sz="32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5734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organization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BE" sz="1800" dirty="0">
                <a:hlinkClick r:id="rId2"/>
              </a:rPr>
              <a:t>https://github.com/gjbex/Python-software-engineering/tree/master/source-code/code-organization</a:t>
            </a:r>
            <a:r>
              <a:rPr lang="nl-BE" sz="1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29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937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modules &amp; packages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Code organization</a:t>
            </a:r>
          </a:p>
          <a:p>
            <a:pPr lvl="1"/>
            <a:r>
              <a:rPr lang="en-US" dirty="0"/>
              <a:t>Functions common to multiple scripts can be put in separate file = module</a:t>
            </a:r>
          </a:p>
          <a:p>
            <a:pPr lvl="1"/>
            <a:r>
              <a:rPr lang="en-US" dirty="0"/>
              <a:t>Modules can be organized hierarchically in directory structure = packages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Python standard library is organized in packages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3215681" y="4077073"/>
            <a:ext cx="667266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Don't forget </a:t>
            </a:r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__init__.py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in package directories!</a:t>
            </a:r>
            <a:endParaRPr lang="nl-BE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30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201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module &amp; use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53136"/>
          </a:xfrm>
        </p:spPr>
        <p:txBody>
          <a:bodyPr/>
          <a:lstStyle/>
          <a:p>
            <a:r>
              <a:rPr lang="en-US" dirty="0"/>
              <a:t>Module file: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Using the module in script:</a:t>
            </a:r>
            <a:endParaRPr lang="nl-B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690760" y="2204865"/>
            <a:ext cx="9283311" cy="2031325"/>
            <a:chOff x="166760" y="2204864"/>
            <a:chExt cx="9283311" cy="2031325"/>
          </a:xfrm>
        </p:grpSpPr>
        <p:sp>
          <p:nvSpPr>
            <p:cNvPr id="3" name="TextBox 2"/>
            <p:cNvSpPr txBox="1"/>
            <p:nvPr/>
          </p:nvSpPr>
          <p:spPr>
            <a:xfrm>
              <a:off x="166760" y="2204864"/>
              <a:ext cx="9283311" cy="203132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from collections import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namedtuple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Line_Data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namedtuple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('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Line_Data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’, ['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case_nr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', '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dim_nr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’, 'temp’])</a:t>
              </a: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parse_line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(line,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sep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=None):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data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line.rstrip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('\r\n').split(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sep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return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Line_Data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case_nr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=int(data[0]),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dim_nr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=int(data[1]),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         temp=float(data[2]))</a:t>
              </a:r>
              <a:endParaRPr lang="nl-BE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635670" y="2204864"/>
              <a:ext cx="1795684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data_parsing.py</a:t>
              </a:r>
              <a:endParaRPr lang="en-US" sz="14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689256" y="5032635"/>
            <a:ext cx="6939720" cy="1754326"/>
            <a:chOff x="165256" y="5032635"/>
            <a:chExt cx="6939720" cy="1754326"/>
          </a:xfrm>
        </p:grpSpPr>
        <p:sp>
          <p:nvSpPr>
            <p:cNvPr id="5" name="TextBox 4"/>
            <p:cNvSpPr txBox="1"/>
            <p:nvPr/>
          </p:nvSpPr>
          <p:spPr>
            <a:xfrm>
              <a:off x="165256" y="5032635"/>
              <a:ext cx="6939720" cy="175432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import 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data_parsing</a:t>
              </a:r>
              <a:endPara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main():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…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for line in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sys.stdin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line_data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data_parsing.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parse_line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(line)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…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38896" y="5045471"/>
              <a:ext cx="136608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counting.py</a:t>
              </a:r>
              <a:endParaRPr lang="en-US" sz="1400" dirty="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084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Importing functions directly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Importing function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parse_line</a:t>
            </a:r>
            <a:r>
              <a:rPr lang="en-US" dirty="0"/>
              <a:t> from module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data_parsing</a:t>
            </a:r>
            <a:r>
              <a:rPr lang="en-US" dirty="0"/>
              <a:t> in script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counting.py</a:t>
            </a:r>
            <a:r>
              <a:rPr lang="en-US" dirty="0"/>
              <a:t>: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32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21366" y="5802998"/>
            <a:ext cx="5145733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from math import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sqrt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cmath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import </a:t>
            </a:r>
            <a:r>
              <a:rPr lang="en-US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csqrt</a:t>
            </a:r>
            <a:endParaRPr lang="en-US" b="1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1919537" y="3284984"/>
            <a:ext cx="5147563" cy="2308324"/>
            <a:chOff x="395536" y="3284984"/>
            <a:chExt cx="5147563" cy="2308324"/>
          </a:xfrm>
        </p:grpSpPr>
        <p:sp>
          <p:nvSpPr>
            <p:cNvPr id="5" name="TextBox 4"/>
            <p:cNvSpPr txBox="1"/>
            <p:nvPr/>
          </p:nvSpPr>
          <p:spPr>
            <a:xfrm>
              <a:off x="395536" y="3284984"/>
              <a:ext cx="5147563" cy="23083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…</a:t>
              </a:r>
            </a:p>
            <a:p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from 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data_parsing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import 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parse_line</a:t>
              </a:r>
              <a:endPara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endParaRP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main():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…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for line in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sys.stdin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data = 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parse_line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(line)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…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172454" y="3284984"/>
              <a:ext cx="136608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counting.py</a:t>
              </a:r>
              <a:endParaRPr lang="en-US" sz="140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744073" y="4128493"/>
            <a:ext cx="3305585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More concise, but name</a:t>
            </a:r>
            <a:br>
              <a:rPr lang="en-US" sz="2400" dirty="0">
                <a:solidFill>
                  <a:prstClr val="black"/>
                </a:solidFill>
                <a:latin typeface="Calibri"/>
              </a:rPr>
            </a:br>
            <a:r>
              <a:rPr lang="en-US" sz="2400" dirty="0">
                <a:solidFill>
                  <a:prstClr val="black"/>
                </a:solidFill>
                <a:latin typeface="Calibri"/>
              </a:rPr>
              <a:t>clashes can occur!</a:t>
            </a:r>
            <a:br>
              <a:rPr lang="en-US" sz="2400" dirty="0">
                <a:solidFill>
                  <a:prstClr val="black"/>
                </a:solidFill>
                <a:latin typeface="Calibri"/>
              </a:rPr>
            </a:br>
            <a:r>
              <a:rPr lang="en-US" sz="2400" dirty="0">
                <a:solidFill>
                  <a:prstClr val="black"/>
                </a:solidFill>
                <a:latin typeface="Calibri"/>
              </a:rPr>
              <a:t>E.g., </a:t>
            </a:r>
            <a:r>
              <a:rPr lang="en-US" sz="2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math.sqrt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versus</a:t>
            </a:r>
            <a:br>
              <a:rPr lang="en-US" sz="2400" dirty="0">
                <a:solidFill>
                  <a:prstClr val="black"/>
                </a:solidFill>
                <a:latin typeface="Calibri"/>
              </a:rPr>
            </a:br>
            <a:r>
              <a:rPr lang="en-US" sz="2400" dirty="0">
                <a:solidFill>
                  <a:prstClr val="black"/>
                </a:solidFill>
                <a:latin typeface="Calibri"/>
              </a:rPr>
              <a:t>        </a:t>
            </a:r>
            <a:r>
              <a:rPr lang="en-US" sz="2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cmath.sqrt</a:t>
            </a:r>
            <a:endParaRPr lang="nl-BE" sz="2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CA63F-DBCF-43F5-93EC-26290F002DD5}"/>
              </a:ext>
            </a:extLst>
          </p:cNvPr>
          <p:cNvSpPr txBox="1"/>
          <p:nvPr/>
        </p:nvSpPr>
        <p:spPr>
          <a:xfrm rot="20468391">
            <a:off x="7364666" y="2362501"/>
            <a:ext cx="4424609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Never, ever</a:t>
            </a:r>
            <a:br>
              <a:rPr lang="en-US" sz="2400" dirty="0"/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my_module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*</a:t>
            </a:r>
          </a:p>
        </p:txBody>
      </p:sp>
    </p:spTree>
    <p:extLst>
      <p:ext uri="{BB962C8B-B14F-4D97-AF65-F5344CB8AC3E}">
        <p14:creationId xmlns:p14="http://schemas.microsoft.com/office/powerpoint/2010/main" val="361940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duty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33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1991545" y="1412777"/>
            <a:ext cx="7491153" cy="5078313"/>
            <a:chOff x="467544" y="1412776"/>
            <a:chExt cx="7491153" cy="5078313"/>
          </a:xfrm>
        </p:grpSpPr>
        <p:sp>
          <p:nvSpPr>
            <p:cNvPr id="4" name="TextBox 3"/>
            <p:cNvSpPr txBox="1"/>
            <p:nvPr/>
          </p:nvSpPr>
          <p:spPr>
            <a:xfrm>
              <a:off x="467544" y="1412776"/>
              <a:ext cx="7491153" cy="507831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#!/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usr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/bin/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env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python</a:t>
              </a: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from collections import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namedtuple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Line_Data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namedtuple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('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Line_Data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',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           ['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case_nr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', '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dim_nr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', 'temp'])</a:t>
              </a: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parse_line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(line,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sep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=None):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data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line.rstrip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('\r\n').split(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sep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return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Line_Data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case_nr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=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(data[0]),</a:t>
              </a:r>
              <a:b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</a:b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     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dim_nr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=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(data[1]),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         temp=float(data[2]))</a:t>
              </a: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if __name__ == '__main__':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…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for line in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sys.stdin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line_data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parse_line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(line)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…</a:t>
              </a:r>
            </a:p>
            <a:p>
              <a:endParaRPr lang="nl-BE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163013" y="1412776"/>
              <a:ext cx="1795684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data_parsing.py</a:t>
              </a:r>
              <a:endParaRPr lang="en-US" sz="14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7548912" y="4869160"/>
            <a:ext cx="2494192" cy="1224136"/>
            <a:chOff x="5724128" y="4869160"/>
            <a:chExt cx="2494192" cy="1224136"/>
          </a:xfrm>
        </p:grpSpPr>
        <p:sp>
          <p:nvSpPr>
            <p:cNvPr id="5" name="Right Brace 4"/>
            <p:cNvSpPr/>
            <p:nvPr/>
          </p:nvSpPr>
          <p:spPr>
            <a:xfrm>
              <a:off x="5724128" y="4869160"/>
              <a:ext cx="216024" cy="1224136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120502" y="5158062"/>
              <a:ext cx="2097818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Only executed when</a:t>
              </a:r>
              <a:br>
                <a:rPr lang="en-US" dirty="0">
                  <a:solidFill>
                    <a:prstClr val="black"/>
                  </a:solidFill>
                  <a:latin typeface="Calibri"/>
                </a:rPr>
              </a:br>
              <a:r>
                <a:rPr lang="en-US" dirty="0">
                  <a:solidFill>
                    <a:prstClr val="black"/>
                  </a:solidFill>
                  <a:latin typeface="Calibri"/>
                </a:rPr>
                <a:t>run as script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347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layout &amp; use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weave.py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vsc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__init__.py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util.py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parameter_weaver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__init__.py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artifact.py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base_formatter.py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</a:p>
          <a:p>
            <a:pPr lvl="3">
              <a:buFont typeface="Wingdings" pitchFamily="2" charset="2"/>
              <a:buChar char="Ø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__init__.py</a:t>
            </a:r>
          </a:p>
          <a:p>
            <a:pPr lvl="3">
              <a:buFont typeface="Wingdings" pitchFamily="2" charset="2"/>
              <a:buChar char="Ø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formatter.py</a:t>
            </a:r>
          </a:p>
          <a:p>
            <a:pPr lvl="3">
              <a:buFont typeface="Wingdings" pitchFamily="2" charset="2"/>
              <a:buChar char="Ø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fortran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>
              <a:buFont typeface="Wingdings" pitchFamily="2" charset="2"/>
              <a:buChar char="Ø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__init__.py</a:t>
            </a:r>
          </a:p>
          <a:p>
            <a:pPr lvl="3">
              <a:buFont typeface="Wingdings" pitchFamily="2" charset="2"/>
              <a:buChar char="Ø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formatter.py</a:t>
            </a:r>
          </a:p>
          <a:p>
            <a:pPr lvl="3">
              <a:buFont typeface="Wingdings" pitchFamily="2" charset="2"/>
              <a:buChar char="Ø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59897" y="4149080"/>
            <a:ext cx="5367175" cy="6001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vsc.parameter_weaver.base_formatter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BaseFormatter</a:t>
            </a:r>
            <a:endParaRPr lang="en-US" sz="11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896" y="1456250"/>
            <a:ext cx="5367175" cy="6001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vsc.parameter_weaver.c.formatter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Formatter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34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4995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documentation &amp; simple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hlinkClick r:id="rId2"/>
              </a:rPr>
              <a:t>https://github.com/gjbex/Python-software-engineering/tree/master/source-code/testing/DocTest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35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99384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documentation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Documentation is very important!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use </a:t>
            </a:r>
            <a:r>
              <a:rPr lang="en-US" dirty="0" err="1"/>
              <a:t>DocString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07568" y="2160281"/>
            <a:ext cx="7766870" cy="2031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parse_line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(line,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=None):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'''Split a line into its fields, convert to the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appropriate types, and return as a tuple.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'''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 using \r, \n should work for Windows &amp; *nix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data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line.rstrip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('\r\n').split(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return 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(data[0]),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(data[1]), float(data[2]))</a:t>
            </a:r>
            <a:endParaRPr lang="nl-BE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1906" y="4480095"/>
            <a:ext cx="7762531" cy="203132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&gt;&gt;&gt; import 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data_parsing</a:t>
            </a:r>
            <a:b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&gt;&gt;&gt; help(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data_parsing.parse_line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)</a:t>
            </a:r>
            <a:b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Help on function 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parse_line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in module validator:</a:t>
            </a:r>
          </a:p>
          <a:p>
            <a:endParaRPr lang="en-US" b="1" dirty="0">
              <a:solidFill>
                <a:srgbClr val="EEECE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parse_line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(line)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  Split a line into its fields, convert to the</a:t>
            </a:r>
            <a:b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  appropriate types, and return as a tuple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36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600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</a:t>
            </a:r>
            <a:r>
              <a:rPr lang="en-US" dirty="0" err="1"/>
              <a:t>docstrings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37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123714" y="1909764"/>
            <a:ext cx="3544287" cy="216730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Many options</a:t>
            </a:r>
          </a:p>
          <a:p>
            <a:pPr lvl="1"/>
            <a:r>
              <a:rPr lang="en-US" dirty="0"/>
              <a:t>Google</a:t>
            </a:r>
          </a:p>
          <a:p>
            <a:pPr lvl="1"/>
            <a:r>
              <a:rPr lang="en-US" dirty="0" err="1"/>
              <a:t>reStructured</a:t>
            </a:r>
            <a:r>
              <a:rPr lang="en-US" dirty="0"/>
              <a:t> Text</a:t>
            </a:r>
          </a:p>
          <a:p>
            <a:pPr lvl="1"/>
            <a:r>
              <a:rPr lang="en-US" dirty="0" err="1"/>
              <a:t>numpy</a:t>
            </a:r>
            <a:r>
              <a:rPr lang="en-US" dirty="0"/>
              <a:t>/</a:t>
            </a:r>
            <a:r>
              <a:rPr lang="en-US" dirty="0" err="1"/>
              <a:t>scipy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47528" y="1691804"/>
            <a:ext cx="5184576" cy="47705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parse_line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(line,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sep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=None):</a:t>
            </a:r>
            <a:b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'''Split line into fields,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converted to appropriate types</a:t>
            </a:r>
          </a:p>
          <a:p>
            <a:endParaRPr lang="en-US" sz="16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Parameters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----------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line: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str</a:t>
            </a:r>
            <a:endParaRPr lang="en-US" sz="16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line of input to parse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sep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str</a:t>
            </a:r>
            <a:endParaRPr lang="en-US" sz="16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field separator, default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whitespace</a:t>
            </a:r>
          </a:p>
          <a:p>
            <a:endParaRPr lang="en-US" sz="16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Returns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-------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tuple[int, int, float]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data fields: case number,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dimension number, temperature        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'''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…</a:t>
            </a:r>
            <a:endParaRPr lang="nl-BE" sz="16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rot="1173769">
            <a:off x="6049710" y="4637075"/>
            <a:ext cx="1786899" cy="461665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Calibri"/>
              </a:rPr>
              <a:t>numpy</a:t>
            </a:r>
            <a:r>
              <a:rPr lang="en-US" sz="2400" dirty="0">
                <a:solidFill>
                  <a:srgbClr val="C00000"/>
                </a:solidFill>
                <a:latin typeface="Calibri"/>
              </a:rPr>
              <a:t>/</a:t>
            </a:r>
            <a:r>
              <a:rPr lang="en-US" sz="2400" dirty="0" err="1">
                <a:solidFill>
                  <a:srgbClr val="C00000"/>
                </a:solidFill>
                <a:latin typeface="Calibri"/>
              </a:rPr>
              <a:t>scipy</a:t>
            </a:r>
            <a:endParaRPr lang="en-US" sz="2400" dirty="0">
              <a:solidFill>
                <a:srgbClr val="C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75489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document and how?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DocString</a:t>
            </a:r>
            <a:r>
              <a:rPr lang="en-US" dirty="0"/>
              <a:t> for</a:t>
            </a:r>
          </a:p>
          <a:p>
            <a:pPr lvl="1"/>
            <a:r>
              <a:rPr lang="en-US" dirty="0"/>
              <a:t>functions</a:t>
            </a:r>
          </a:p>
          <a:p>
            <a:pPr lvl="1"/>
            <a:r>
              <a:rPr lang="en-US" dirty="0"/>
              <a:t>classes</a:t>
            </a:r>
          </a:p>
          <a:p>
            <a:pPr lvl="1"/>
            <a:r>
              <a:rPr lang="en-US" dirty="0"/>
              <a:t>methods</a:t>
            </a:r>
          </a:p>
          <a:p>
            <a:pPr lvl="1"/>
            <a:r>
              <a:rPr lang="en-US" dirty="0"/>
              <a:t>modules</a:t>
            </a:r>
          </a:p>
          <a:p>
            <a:pPr lvl="1"/>
            <a:r>
              <a:rPr lang="en-US" dirty="0"/>
              <a:t>packages</a:t>
            </a:r>
          </a:p>
          <a:p>
            <a:r>
              <a:rPr lang="en-US" dirty="0"/>
              <a:t>Comments</a:t>
            </a:r>
          </a:p>
          <a:p>
            <a:pPr lvl="1"/>
            <a:r>
              <a:rPr lang="en-US" dirty="0"/>
              <a:t>particular code fragments you had to think about</a:t>
            </a:r>
            <a:endParaRPr lang="nl-BE" dirty="0"/>
          </a:p>
        </p:txBody>
      </p:sp>
      <p:grpSp>
        <p:nvGrpSpPr>
          <p:cNvPr id="4" name="Group 3"/>
          <p:cNvGrpSpPr/>
          <p:nvPr/>
        </p:nvGrpSpPr>
        <p:grpSpPr>
          <a:xfrm>
            <a:off x="3198201" y="2852938"/>
            <a:ext cx="1565630" cy="720080"/>
            <a:chOff x="5796136" y="3356994"/>
            <a:chExt cx="1565630" cy="720080"/>
          </a:xfrm>
        </p:grpSpPr>
        <p:grpSp>
          <p:nvGrpSpPr>
            <p:cNvPr id="5" name="Group 4"/>
            <p:cNvGrpSpPr/>
            <p:nvPr/>
          </p:nvGrpSpPr>
          <p:grpSpPr>
            <a:xfrm rot="5400000">
              <a:off x="5724128" y="3429002"/>
              <a:ext cx="720080" cy="576064"/>
              <a:chOff x="4355977" y="2708921"/>
              <a:chExt cx="720080" cy="576064"/>
            </a:xfrm>
          </p:grpSpPr>
          <p:sp>
            <p:nvSpPr>
              <p:cNvPr id="7" name="Left Brace 6"/>
              <p:cNvSpPr/>
              <p:nvPr/>
            </p:nvSpPr>
            <p:spPr>
              <a:xfrm rot="5400000" flipV="1">
                <a:off x="4680012" y="2888941"/>
                <a:ext cx="72009" cy="720080"/>
              </a:xfrm>
              <a:prstGeom prst="lef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BE">
                  <a:solidFill>
                    <a:prstClr val="black"/>
                  </a:solidFill>
                  <a:latin typeface="Calibri"/>
                </a:endParaRPr>
              </a:p>
            </p:txBody>
          </p:sp>
          <p:cxnSp>
            <p:nvCxnSpPr>
              <p:cNvPr id="8" name="Straight Arrow Connector 7"/>
              <p:cNvCxnSpPr>
                <a:stCxn id="6" idx="1"/>
                <a:endCxn id="7" idx="1"/>
              </p:cNvCxnSpPr>
              <p:nvPr/>
            </p:nvCxnSpPr>
            <p:spPr>
              <a:xfrm rot="16200000" flipH="1">
                <a:off x="4459250" y="2956209"/>
                <a:ext cx="504055" cy="947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/>
            <p:cNvSpPr txBox="1"/>
            <p:nvPr/>
          </p:nvSpPr>
          <p:spPr>
            <a:xfrm>
              <a:off x="6372200" y="3522889"/>
              <a:ext cx="98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see later</a:t>
              </a:r>
              <a:endParaRPr lang="nl-BE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38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3411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Testing: meeting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Tests are important!</a:t>
            </a:r>
          </a:p>
          <a:p>
            <a:pPr lvl="1"/>
            <a:r>
              <a:rPr lang="en-US" dirty="0" err="1"/>
              <a:t>unittest</a:t>
            </a:r>
            <a:r>
              <a:rPr lang="en-US" dirty="0"/>
              <a:t>: more features, but harder</a:t>
            </a:r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doctest</a:t>
            </a:r>
            <a:r>
              <a:rPr lang="en-US" dirty="0"/>
              <a:t>: simple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7923" y="2996952"/>
            <a:ext cx="7766870" cy="23083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parse_line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(line):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'''Split a line into its fields, convert to the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appropriate types, and return as a tuple.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</a:t>
            </a:r>
            <a:r>
              <a:rPr lang="en-US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parse_line</a:t>
            </a:r>
            <a:r>
              <a: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('5  3  3.7')</a:t>
            </a:r>
            <a:br>
              <a: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(5, 3, 3.7)</a:t>
            </a:r>
            <a:br>
              <a: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'''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data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line.rstrip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('\r\n').split()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return (int(data[0]), int(data[1]), float(data[2]))</a:t>
            </a:r>
            <a:endParaRPr lang="nl-BE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320041" y="3412744"/>
            <a:ext cx="1740293" cy="646331"/>
            <a:chOff x="-48613" y="4283804"/>
            <a:chExt cx="1740293" cy="646331"/>
          </a:xfrm>
        </p:grpSpPr>
        <p:sp>
          <p:nvSpPr>
            <p:cNvPr id="5" name="TextBox 4"/>
            <p:cNvSpPr txBox="1"/>
            <p:nvPr/>
          </p:nvSpPr>
          <p:spPr>
            <a:xfrm>
              <a:off x="-48613" y="4283804"/>
              <a:ext cx="1164229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Statement</a:t>
              </a:r>
              <a:br>
                <a:rPr lang="en-US" dirty="0">
                  <a:solidFill>
                    <a:prstClr val="black"/>
                  </a:solidFill>
                  <a:latin typeface="Calibri"/>
                </a:rPr>
              </a:br>
              <a:r>
                <a:rPr lang="en-US" dirty="0">
                  <a:solidFill>
                    <a:prstClr val="black"/>
                  </a:solidFill>
                  <a:latin typeface="Calibri"/>
                </a:rPr>
                <a:t>to execute</a:t>
              </a:r>
            </a:p>
          </p:txBody>
        </p:sp>
        <p:cxnSp>
          <p:nvCxnSpPr>
            <p:cNvPr id="7" name="Straight Arrow Connector 6"/>
            <p:cNvCxnSpPr>
              <a:stCxn id="5" idx="3"/>
            </p:cNvCxnSpPr>
            <p:nvPr/>
          </p:nvCxnSpPr>
          <p:spPr>
            <a:xfrm>
              <a:off x="1115616" y="4606970"/>
              <a:ext cx="576064" cy="2528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4963090" y="4214123"/>
            <a:ext cx="3329304" cy="369332"/>
            <a:chOff x="-1519922" y="3563724"/>
            <a:chExt cx="3329304" cy="369332"/>
          </a:xfrm>
        </p:grpSpPr>
        <p:sp>
          <p:nvSpPr>
            <p:cNvPr id="10" name="TextBox 9"/>
            <p:cNvSpPr txBox="1"/>
            <p:nvPr/>
          </p:nvSpPr>
          <p:spPr>
            <a:xfrm>
              <a:off x="179512" y="3563724"/>
              <a:ext cx="162987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Expected result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 flipV="1">
              <a:off x="-1519922" y="3635732"/>
              <a:ext cx="1699434" cy="11265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2351585" y="6023030"/>
            <a:ext cx="5147563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 python  -m 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doctest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data_parsing.py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5881" y="5570076"/>
            <a:ext cx="533889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libri"/>
              </a:rPr>
              <a:t>No output: hooray, all tests passed!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39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7824192" y="1546186"/>
            <a:ext cx="2624720" cy="1142975"/>
            <a:chOff x="4821276" y="3871774"/>
            <a:chExt cx="2624720" cy="1142975"/>
          </a:xfrm>
        </p:grpSpPr>
        <p:sp>
          <p:nvSpPr>
            <p:cNvPr id="15" name="Rounded Rectangle 14"/>
            <p:cNvSpPr/>
            <p:nvPr/>
          </p:nvSpPr>
          <p:spPr>
            <a:xfrm>
              <a:off x="4821276" y="3871774"/>
              <a:ext cx="2623120" cy="11429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60032" y="3896713"/>
              <a:ext cx="258596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A program that has not</a:t>
              </a:r>
            </a:p>
            <a:p>
              <a:r>
                <a:rPr lang="en-US" sz="2000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been tested does not work.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347219" y="4526811"/>
              <a:ext cx="2097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Calibri"/>
                </a:rPr>
                <a:t>— Bjarne </a:t>
              </a:r>
              <a:r>
                <a:rPr lang="en-US" dirty="0" err="1">
                  <a:solidFill>
                    <a:srgbClr val="0070C0"/>
                  </a:solidFill>
                  <a:latin typeface="Calibri"/>
                </a:rPr>
                <a:t>Stroustrup</a:t>
              </a:r>
              <a:endParaRPr lang="en-US" dirty="0">
                <a:solidFill>
                  <a:srgbClr val="0070C0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274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" grpId="0" animBg="1"/>
      <p:bldP spid="17" grpId="0" animBg="1"/>
      <p:bldP spid="1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Failing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071" y="1268761"/>
            <a:ext cx="7215437" cy="34163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parse_line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(line):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'''Split a line into its fields, convert to the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appropriate types, and return as a tuple.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</a:t>
            </a:r>
            <a:r>
              <a:rPr lang="en-US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parse_line</a:t>
            </a:r>
            <a:r>
              <a: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('5  3  3.7')</a:t>
            </a:r>
            <a:br>
              <a: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(5, 3, 3.7)</a:t>
            </a:r>
            <a:br>
              <a: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&gt;&gt;&gt; </a:t>
            </a:r>
            <a:r>
              <a:rPr lang="en-US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parse_line</a:t>
            </a:r>
            <a:r>
              <a: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('5 3 3')</a:t>
            </a:r>
            <a:br>
              <a: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(5, 3, 3)</a:t>
            </a:r>
            <a:br>
              <a: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'''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data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line.rstrip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('\r\n').split()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return (int(data[0]),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int(data[1]),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float(data[2]))</a:t>
            </a:r>
            <a:endParaRPr lang="nl-BE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59195" y="3493597"/>
            <a:ext cx="6199133" cy="295465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 python  -m </a:t>
            </a:r>
            <a:r>
              <a:rPr lang="en-US" sz="1400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doctest</a:t>
            </a:r>
            <a: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data_parsing.py</a:t>
            </a:r>
          </a:p>
          <a:p>
            <a: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*********************************************</a:t>
            </a:r>
          </a:p>
          <a:p>
            <a: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File "./data_parsing.py", line 9, in __main__.</a:t>
            </a:r>
            <a:r>
              <a:rPr lang="en-US" sz="1400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parse_line</a:t>
            </a:r>
            <a:b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Failed example:</a:t>
            </a:r>
            <a:b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parse_line</a:t>
            </a:r>
            <a: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('5 3 3')</a:t>
            </a:r>
            <a:b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Expected:</a:t>
            </a:r>
            <a:b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  (5, 3, 3)</a:t>
            </a:r>
            <a:b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Got:</a:t>
            </a:r>
            <a:b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  (5, 3, 3.0)</a:t>
            </a:r>
            <a:b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**********************************************</a:t>
            </a:r>
            <a:b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1 items had failures:</a:t>
            </a:r>
            <a:b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 1 of   2 in __main__.</a:t>
            </a:r>
            <a:r>
              <a:rPr lang="en-US" sz="1400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parse_line</a:t>
            </a:r>
            <a:b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4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***Test Failed*** 1 failures.$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0851" y="2720393"/>
            <a:ext cx="3456384" cy="51305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40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128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reading: documentation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Documenting Python: a complete guide</a:t>
            </a:r>
            <a:br>
              <a:rPr lang="en-US" dirty="0"/>
            </a:br>
            <a:r>
              <a:rPr lang="en-US" sz="2000" dirty="0">
                <a:hlinkClick r:id="rId2"/>
              </a:rPr>
              <a:t>https://realpython.com/documenting-python-code/#docstring-formats</a:t>
            </a:r>
            <a:r>
              <a:rPr lang="en-US" sz="2000" dirty="0"/>
              <a:t>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29183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sz="1800" dirty="0">
                <a:hlinkClick r:id="rId2"/>
              </a:rPr>
              <a:t>https://github.com/gjbex/Python-software-engineering/tree/master/source-code/testing</a:t>
            </a:r>
            <a:r>
              <a:rPr lang="nl-BE" sz="1800" dirty="0"/>
              <a:t> 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187472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  <a:endParaRPr lang="nl-B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Key concepts</a:t>
            </a:r>
          </a:p>
          <a:p>
            <a:pPr lvl="1"/>
            <a:r>
              <a:rPr lang="en-US" dirty="0"/>
              <a:t>Implementation tested through API</a:t>
            </a:r>
          </a:p>
          <a:p>
            <a:pPr lvl="1"/>
            <a:r>
              <a:rPr lang="en-US" dirty="0"/>
              <a:t>Testing should be easy</a:t>
            </a:r>
          </a:p>
          <a:p>
            <a:pPr lvl="1"/>
            <a:r>
              <a:rPr lang="en-US" dirty="0"/>
              <a:t>Tests are independent of one another</a:t>
            </a:r>
          </a:p>
          <a:p>
            <a:r>
              <a:rPr lang="en-US" dirty="0"/>
              <a:t>Find problems early/fast</a:t>
            </a:r>
          </a:p>
          <a:p>
            <a:r>
              <a:rPr lang="en-US" dirty="0"/>
              <a:t>Facilitates change</a:t>
            </a:r>
          </a:p>
          <a:p>
            <a:pPr lvl="1"/>
            <a:r>
              <a:rPr lang="en-US" dirty="0"/>
              <a:t>Make small change, run tests</a:t>
            </a:r>
          </a:p>
          <a:p>
            <a:r>
              <a:rPr lang="en-US" dirty="0"/>
              <a:t>TDD: Test Driven Development</a:t>
            </a:r>
          </a:p>
          <a:p>
            <a:pPr lvl="1"/>
            <a:r>
              <a:rPr lang="en-US" dirty="0"/>
              <a:t>Write tests first, then implement</a:t>
            </a:r>
          </a:p>
          <a:p>
            <a:r>
              <a:rPr lang="en-US" dirty="0"/>
              <a:t>Programming framework, e.g., Python's </a:t>
            </a:r>
            <a:r>
              <a:rPr lang="en-US" dirty="0" err="1"/>
              <a:t>unittest</a:t>
            </a:r>
            <a:r>
              <a:rPr lang="en-US" dirty="0"/>
              <a:t>, </a:t>
            </a:r>
            <a:r>
              <a:rPr lang="en-US" dirty="0" err="1"/>
              <a:t>pytest</a:t>
            </a:r>
            <a:endParaRPr lang="nl-BE" dirty="0"/>
          </a:p>
        </p:txBody>
      </p:sp>
      <p:grpSp>
        <p:nvGrpSpPr>
          <p:cNvPr id="6" name="Group 5"/>
          <p:cNvGrpSpPr/>
          <p:nvPr/>
        </p:nvGrpSpPr>
        <p:grpSpPr>
          <a:xfrm>
            <a:off x="7320137" y="3284985"/>
            <a:ext cx="3155315" cy="1980559"/>
            <a:chOff x="4821276" y="3871774"/>
            <a:chExt cx="3155315" cy="1980559"/>
          </a:xfrm>
        </p:grpSpPr>
        <p:sp>
          <p:nvSpPr>
            <p:cNvPr id="7" name="Rounded Rectangle 6"/>
            <p:cNvSpPr/>
            <p:nvPr/>
          </p:nvSpPr>
          <p:spPr>
            <a:xfrm>
              <a:off x="4821276" y="3871774"/>
              <a:ext cx="3155315" cy="19805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60032" y="3896713"/>
              <a:ext cx="3116559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n-US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"How to test?" is a question that</a:t>
              </a:r>
            </a:p>
            <a:p>
              <a:pPr algn="just"/>
              <a:r>
                <a:rPr lang="en-US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cannot be answered in general.</a:t>
              </a:r>
            </a:p>
            <a:p>
              <a:pPr algn="just"/>
              <a:r>
                <a:rPr lang="en-US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"When to test?" however, does have</a:t>
              </a:r>
            </a:p>
            <a:p>
              <a:pPr algn="just"/>
              <a:r>
                <a:rPr lang="en-US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a general answer: as early and as</a:t>
              </a:r>
            </a:p>
            <a:p>
              <a:pPr algn="just"/>
              <a:r>
                <a:rPr lang="en-US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often as possible.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839790" y="5408069"/>
              <a:ext cx="18878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Calibri"/>
                </a:rPr>
                <a:t>— Bjarne </a:t>
              </a:r>
              <a:r>
                <a:rPr lang="en-US" sz="1600" dirty="0" err="1">
                  <a:solidFill>
                    <a:srgbClr val="0070C0"/>
                  </a:solidFill>
                  <a:latin typeface="Calibri"/>
                </a:rPr>
                <a:t>Stroustrup</a:t>
              </a:r>
              <a:endParaRPr lang="en-US" sz="1600" dirty="0">
                <a:solidFill>
                  <a:srgbClr val="0070C0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63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16938-33EA-801B-9BEF-BE6450254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D0BAF1-33C2-B770-2BC0-B850573DC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file(s) that start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test_</a:t>
            </a:r>
          </a:p>
          <a:p>
            <a:r>
              <a:rPr lang="en-US" dirty="0"/>
              <a:t>Function with name that starts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test_</a:t>
            </a:r>
          </a:p>
          <a:p>
            <a:r>
              <a:rPr lang="en-US" dirty="0"/>
              <a:t>One or more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lang="en-US" dirty="0"/>
              <a:t> statements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8ACB22-6729-5C22-4E55-699AE38D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44</a:t>
            </a:fld>
            <a:endParaRPr lang="nl-B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13DCDE4-E868-3A34-9D13-EFD41D9A3C64}"/>
              </a:ext>
            </a:extLst>
          </p:cNvPr>
          <p:cNvGrpSpPr/>
          <p:nvPr/>
        </p:nvGrpSpPr>
        <p:grpSpPr>
          <a:xfrm>
            <a:off x="2094408" y="3429001"/>
            <a:ext cx="4992951" cy="3139321"/>
            <a:chOff x="570407" y="3429000"/>
            <a:chExt cx="4992951" cy="313932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BA959CF-C341-AD20-F3B0-67FC28362ABF}"/>
                </a:ext>
              </a:extLst>
            </p:cNvPr>
            <p:cNvSpPr txBox="1"/>
            <p:nvPr/>
          </p:nvSpPr>
          <p:spPr>
            <a:xfrm>
              <a:off x="570407" y="3429000"/>
              <a:ext cx="4992951" cy="313932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from fac import fac</a:t>
              </a: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 test_fac_3():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assert fac(3) == 6</a:t>
              </a: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 test_fac_0():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assert fac(0) == 1</a:t>
              </a: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 test_fac_1():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assert fac(1) == 1</a:t>
              </a:r>
              <a:endParaRPr lang="nl-BE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837B96-E8B5-BFC5-BD99-CA5C15E87BD5}"/>
                </a:ext>
              </a:extLst>
            </p:cNvPr>
            <p:cNvSpPr txBox="1"/>
            <p:nvPr/>
          </p:nvSpPr>
          <p:spPr>
            <a:xfrm>
              <a:off x="4355976" y="6278060"/>
              <a:ext cx="1207382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test_fac.py</a:t>
              </a:r>
              <a:endParaRPr lang="nl-BE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8F4E6BE-ECF2-9D57-C7FE-4FF08264C009}"/>
              </a:ext>
            </a:extLst>
          </p:cNvPr>
          <p:cNvGrpSpPr/>
          <p:nvPr/>
        </p:nvGrpSpPr>
        <p:grpSpPr>
          <a:xfrm>
            <a:off x="5274412" y="4808577"/>
            <a:ext cx="2374514" cy="421770"/>
            <a:chOff x="-565132" y="3511286"/>
            <a:chExt cx="2374514" cy="42177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CEF484-82A7-BF01-CEE7-BEB70AF5D5A3}"/>
                </a:ext>
              </a:extLst>
            </p:cNvPr>
            <p:cNvSpPr txBox="1"/>
            <p:nvPr/>
          </p:nvSpPr>
          <p:spPr>
            <a:xfrm>
              <a:off x="179512" y="3563724"/>
              <a:ext cx="162987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Expected result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1DC3567-2F87-4BD8-D121-5AED40C42A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65132" y="3511286"/>
              <a:ext cx="744644" cy="23710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8A63E78-0412-175A-9802-D812ED92396A}"/>
              </a:ext>
            </a:extLst>
          </p:cNvPr>
          <p:cNvGrpSpPr/>
          <p:nvPr/>
        </p:nvGrpSpPr>
        <p:grpSpPr>
          <a:xfrm>
            <a:off x="4366727" y="3298465"/>
            <a:ext cx="3023343" cy="874586"/>
            <a:chOff x="-2249069" y="2966955"/>
            <a:chExt cx="3023343" cy="87458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6EE840-674B-B266-7668-12821C45EABD}"/>
                </a:ext>
              </a:extLst>
            </p:cNvPr>
            <p:cNvSpPr txBox="1"/>
            <p:nvPr/>
          </p:nvSpPr>
          <p:spPr>
            <a:xfrm>
              <a:off x="-735819" y="2966955"/>
              <a:ext cx="1510093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Individual test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637BAEC-8B05-F0D3-84C2-431FBE4F9BC9}"/>
                </a:ext>
              </a:extLst>
            </p:cNvPr>
            <p:cNvCxnSpPr>
              <a:cxnSpLocks/>
              <a:stCxn id="17" idx="1"/>
            </p:cNvCxnSpPr>
            <p:nvPr/>
          </p:nvCxnSpPr>
          <p:spPr>
            <a:xfrm flipH="1">
              <a:off x="-2249069" y="3151621"/>
              <a:ext cx="1513250" cy="6899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90BC6C1-CDD0-79EF-7FC8-47B61AA7B880}"/>
              </a:ext>
            </a:extLst>
          </p:cNvPr>
          <p:cNvGrpSpPr/>
          <p:nvPr/>
        </p:nvGrpSpPr>
        <p:grpSpPr>
          <a:xfrm>
            <a:off x="4525347" y="4133156"/>
            <a:ext cx="2202746" cy="498078"/>
            <a:chOff x="-662862" y="3563724"/>
            <a:chExt cx="2202746" cy="49807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1603E67-BFE1-787B-57C0-99C3EE5D1183}"/>
                </a:ext>
              </a:extLst>
            </p:cNvPr>
            <p:cNvSpPr txBox="1"/>
            <p:nvPr/>
          </p:nvSpPr>
          <p:spPr>
            <a:xfrm>
              <a:off x="179512" y="3563724"/>
              <a:ext cx="136037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Value to test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74B3C7C-6804-D5F4-C89F-F93F099338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662862" y="3748390"/>
              <a:ext cx="842374" cy="3134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647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0C351-55D8-56C3-6AFB-EAC14E6CE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8D864-1118-5496-ADB6-30FFA6E33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tests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03E24-BEEA-544C-6C47-BFF53D585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9031B9-3F90-FFC5-A7BD-3E843F1F3A17}"/>
              </a:ext>
            </a:extLst>
          </p:cNvPr>
          <p:cNvSpPr txBox="1"/>
          <p:nvPr/>
        </p:nvSpPr>
        <p:spPr>
          <a:xfrm>
            <a:off x="475159" y="2164644"/>
            <a:ext cx="10799751" cy="430887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1600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pytest</a:t>
            </a:r>
            <a:endParaRPr lang="en-US" sz="1600" b="1" dirty="0">
              <a:solidFill>
                <a:srgbClr val="EEECE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======================== test session starts =====================</a:t>
            </a:r>
          </a:p>
          <a:p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platform </a:t>
            </a:r>
            <a:r>
              <a:rPr lang="en-US" sz="1600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linux</a:t>
            </a:r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-- Python 3.12.3, pytest-8.1.1, pluggy-1.4.0</a:t>
            </a:r>
          </a:p>
          <a:p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en-US" sz="1600" b="1" dirty="0">
              <a:solidFill>
                <a:srgbClr val="EEECE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collected 10 items</a:t>
            </a:r>
          </a:p>
          <a:p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test_fac.py .........F     [100%]</a:t>
            </a:r>
          </a:p>
          <a:p>
            <a:endParaRPr lang="en-US" sz="1600" b="1" dirty="0">
              <a:solidFill>
                <a:srgbClr val="EEECE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======================== FAILURES ================================</a:t>
            </a:r>
          </a:p>
          <a:p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________________________ </a:t>
            </a:r>
            <a:r>
              <a:rPr lang="en-US" sz="1600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test_bad_fac_negative</a:t>
            </a:r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___________________</a:t>
            </a:r>
          </a:p>
          <a:p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  def </a:t>
            </a:r>
            <a:r>
              <a:rPr lang="en-US" sz="1600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test_bad_fac_negative</a:t>
            </a:r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():</a:t>
            </a:r>
          </a:p>
          <a:p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&gt;       with </a:t>
            </a:r>
            <a:r>
              <a:rPr lang="en-US" sz="1600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pytest.raises</a:t>
            </a:r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ValueError</a:t>
            </a:r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):</a:t>
            </a:r>
          </a:p>
          <a:p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E       Failed: DID NOT RAISE &lt;class '</a:t>
            </a:r>
            <a:r>
              <a:rPr lang="en-US" sz="1600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ValueError</a:t>
            </a:r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'&gt;</a:t>
            </a:r>
          </a:p>
          <a:p>
            <a:endParaRPr lang="en-US" sz="1600" b="1" dirty="0">
              <a:solidFill>
                <a:srgbClr val="EEECE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test_fac.py:35: Failed</a:t>
            </a:r>
          </a:p>
          <a:p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======================== short test summary info =================</a:t>
            </a:r>
          </a:p>
          <a:p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FAILED test_fac.py::</a:t>
            </a:r>
            <a:r>
              <a:rPr lang="en-US" sz="1600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test_bad_fac_negative</a:t>
            </a:r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- Failed: DID NOT RAISE &lt;class '</a:t>
            </a:r>
            <a:r>
              <a:rPr lang="en-US" sz="1600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ValueError</a:t>
            </a:r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'&gt;</a:t>
            </a:r>
          </a:p>
          <a:p>
            <a:r>
              <a:rPr lang="en-US" sz="1600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======================== 1 failed, 9 passed in 0.23s =============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5CCF46-4E18-B0A6-D106-0DB05EA176AA}"/>
              </a:ext>
            </a:extLst>
          </p:cNvPr>
          <p:cNvSpPr/>
          <p:nvPr/>
        </p:nvSpPr>
        <p:spPr>
          <a:xfrm>
            <a:off x="2015412" y="3429001"/>
            <a:ext cx="1296955" cy="228600"/>
          </a:xfrm>
          <a:prstGeom prst="roundRect">
            <a:avLst/>
          </a:prstGeom>
          <a:solidFill>
            <a:srgbClr val="C0504D">
              <a:alpha val="16863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45612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FD5E-0158-5215-543D-4709532EE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87838-B4DE-A9FF-D64A-76945F327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Python's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</a:p>
          <a:p>
            <a:r>
              <a:rPr lang="en-US" dirty="0"/>
              <a:t>Functions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pytest.approx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pytest.fail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Decorators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@pytest.fixture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@pytest.mark.parameterize</a:t>
            </a:r>
          </a:p>
          <a:p>
            <a:r>
              <a:rPr lang="en-US" dirty="0"/>
              <a:t>Context managers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pytest.raises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pytest.warns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602D3-F3CB-806B-27A5-51F1E9D33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46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7957A-4E76-DC6A-38D2-51BA8FBD2947}"/>
              </a:ext>
            </a:extLst>
          </p:cNvPr>
          <p:cNvSpPr txBox="1"/>
          <p:nvPr/>
        </p:nvSpPr>
        <p:spPr>
          <a:xfrm>
            <a:off x="5747657" y="2258009"/>
            <a:ext cx="387157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Remember:</a:t>
            </a:r>
            <a:br>
              <a:rPr lang="en-US" sz="2400" dirty="0"/>
            </a:b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(5)**2 != 5</a:t>
            </a:r>
            <a:endParaRPr lang="LID4096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36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C87BA-FEB1-DD73-B4EC-CD342644A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131AB-7CCE-F091-B713-EC2003446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for expected failure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44FAD-4041-0D64-6BBC-6A5831725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Exceptions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Also useful: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match</a:t>
            </a:r>
            <a:r>
              <a:rPr lang="en-US" dirty="0">
                <a:cs typeface="Courier New" panose="02070309020205020404" pitchFamily="49" charset="0"/>
              </a:rPr>
              <a:t> optional argument to filter on string representation of exception</a:t>
            </a:r>
          </a:p>
          <a:p>
            <a:r>
              <a:rPr lang="en-US" dirty="0"/>
              <a:t>Warnings: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test.warns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296C68-6819-4297-E14B-785A6480066E}"/>
              </a:ext>
            </a:extLst>
          </p:cNvPr>
          <p:cNvSpPr txBox="1"/>
          <p:nvPr/>
        </p:nvSpPr>
        <p:spPr>
          <a:xfrm>
            <a:off x="2094408" y="2276873"/>
            <a:ext cx="5009705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pytest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test_fib_negative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with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pytest.raises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ValueError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_ = fib(-1)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C67BD6-40DA-05B5-8BBF-DDE7181DCAB6}"/>
              </a:ext>
            </a:extLst>
          </p:cNvPr>
          <p:cNvGrpSpPr/>
          <p:nvPr/>
        </p:nvGrpSpPr>
        <p:grpSpPr>
          <a:xfrm>
            <a:off x="6223519" y="2276873"/>
            <a:ext cx="4160065" cy="874586"/>
            <a:chOff x="-2249069" y="2966955"/>
            <a:chExt cx="4160065" cy="87458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E373F9-16E8-975E-97A9-5AF4387E07D2}"/>
                </a:ext>
              </a:extLst>
            </p:cNvPr>
            <p:cNvSpPr txBox="1"/>
            <p:nvPr/>
          </p:nvSpPr>
          <p:spPr>
            <a:xfrm>
              <a:off x="-735819" y="2966955"/>
              <a:ext cx="2646815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Can be single exception or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tuple</a:t>
              </a:r>
              <a:r>
                <a:rPr lang="en-US" dirty="0">
                  <a:solidFill>
                    <a:prstClr val="black"/>
                  </a:solidFill>
                  <a:latin typeface="Calibri"/>
                </a:rPr>
                <a:t> of exceptions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A59D743-D1F4-CE44-A3BE-E97988020E11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>
              <a:off x="-2249069" y="3290121"/>
              <a:ext cx="1513250" cy="5514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40558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D3F35-7B12-4EA3-303D-7FF418D37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CF266-42C0-00C7-B389-C22557A56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Parametrized tests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D2EA0-E500-1A4C-967A-70E37DA9C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check for a series of arguments/expected values</a:t>
            </a:r>
            <a:endParaRPr lang="nl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9A4DC5-05B2-1A67-75DD-F968D56A1A11}"/>
              </a:ext>
            </a:extLst>
          </p:cNvPr>
          <p:cNvSpPr txBox="1"/>
          <p:nvPr/>
        </p:nvSpPr>
        <p:spPr>
          <a:xfrm>
            <a:off x="2458300" y="2510126"/>
            <a:ext cx="5836854" cy="28623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pytest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@pytest.mark.parametrize("n, expected", [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(0, 1),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(1, 1),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(2, 2),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(5, 8),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])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test_fib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(n, expected):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assert fib(n) == expected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860E4FC-E903-F649-C68A-71737E14D837}"/>
              </a:ext>
            </a:extLst>
          </p:cNvPr>
          <p:cNvGrpSpPr/>
          <p:nvPr/>
        </p:nvGrpSpPr>
        <p:grpSpPr>
          <a:xfrm>
            <a:off x="3166187" y="3088433"/>
            <a:ext cx="3169300" cy="2223794"/>
            <a:chOff x="1365379" y="2995127"/>
            <a:chExt cx="3169300" cy="222379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4843363-45FD-6F51-60AE-8F03EEAF9C52}"/>
                </a:ext>
              </a:extLst>
            </p:cNvPr>
            <p:cNvSpPr/>
            <p:nvPr/>
          </p:nvSpPr>
          <p:spPr>
            <a:xfrm>
              <a:off x="4264091" y="2995127"/>
              <a:ext cx="270588" cy="298579"/>
            </a:xfrm>
            <a:prstGeom prst="roundRect">
              <a:avLst/>
            </a:prstGeom>
            <a:solidFill>
              <a:srgbClr val="4F81BD">
                <a:alpha val="2313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3474C83-E717-F1B6-592D-43B8DFBA40D6}"/>
                </a:ext>
              </a:extLst>
            </p:cNvPr>
            <p:cNvSpPr/>
            <p:nvPr/>
          </p:nvSpPr>
          <p:spPr>
            <a:xfrm>
              <a:off x="1365379" y="3279710"/>
              <a:ext cx="270588" cy="1105678"/>
            </a:xfrm>
            <a:prstGeom prst="roundRect">
              <a:avLst/>
            </a:prstGeom>
            <a:solidFill>
              <a:srgbClr val="4F81BD">
                <a:alpha val="2313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9AFFF57-2C9C-F956-8113-50FC2B3F32DE}"/>
                </a:ext>
              </a:extLst>
            </p:cNvPr>
            <p:cNvSpPr/>
            <p:nvPr/>
          </p:nvSpPr>
          <p:spPr>
            <a:xfrm>
              <a:off x="2466391" y="4621763"/>
              <a:ext cx="270588" cy="298579"/>
            </a:xfrm>
            <a:prstGeom prst="roundRect">
              <a:avLst/>
            </a:prstGeom>
            <a:solidFill>
              <a:srgbClr val="4F81BD">
                <a:alpha val="2313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8CC2A07-66FB-AA06-084D-DABBDCE57433}"/>
                </a:ext>
              </a:extLst>
            </p:cNvPr>
            <p:cNvSpPr/>
            <p:nvPr/>
          </p:nvSpPr>
          <p:spPr>
            <a:xfrm>
              <a:off x="2732688" y="4920342"/>
              <a:ext cx="270588" cy="298579"/>
            </a:xfrm>
            <a:prstGeom prst="roundRect">
              <a:avLst/>
            </a:prstGeom>
            <a:solidFill>
              <a:srgbClr val="4F81BD">
                <a:alpha val="2313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29E7B71-72CE-67E2-CA22-E36016071DE4}"/>
              </a:ext>
            </a:extLst>
          </p:cNvPr>
          <p:cNvGrpSpPr/>
          <p:nvPr/>
        </p:nvGrpSpPr>
        <p:grpSpPr>
          <a:xfrm>
            <a:off x="3589174" y="3088433"/>
            <a:ext cx="4071258" cy="2226903"/>
            <a:chOff x="1788366" y="2995127"/>
            <a:chExt cx="4071258" cy="2226903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DFD1691-05D3-36F2-964F-65AE2ADD7725}"/>
                </a:ext>
              </a:extLst>
            </p:cNvPr>
            <p:cNvSpPr/>
            <p:nvPr/>
          </p:nvSpPr>
          <p:spPr>
            <a:xfrm>
              <a:off x="1788366" y="3279710"/>
              <a:ext cx="270588" cy="1105678"/>
            </a:xfrm>
            <a:prstGeom prst="roundRect">
              <a:avLst/>
            </a:prstGeom>
            <a:solidFill>
              <a:srgbClr val="FF0000">
                <a:alpha val="23137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50C9B26-FE1C-16B2-B5B1-FACA9B18DC65}"/>
                </a:ext>
              </a:extLst>
            </p:cNvPr>
            <p:cNvSpPr/>
            <p:nvPr/>
          </p:nvSpPr>
          <p:spPr>
            <a:xfrm>
              <a:off x="4582571" y="2995127"/>
              <a:ext cx="1277053" cy="298579"/>
            </a:xfrm>
            <a:prstGeom prst="roundRect">
              <a:avLst/>
            </a:prstGeom>
            <a:solidFill>
              <a:srgbClr val="FF0000">
                <a:alpha val="23137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5EA4069-2D1D-45CB-DB1B-450972FEBF1B}"/>
                </a:ext>
              </a:extLst>
            </p:cNvPr>
            <p:cNvSpPr/>
            <p:nvPr/>
          </p:nvSpPr>
          <p:spPr>
            <a:xfrm>
              <a:off x="2851192" y="4621763"/>
              <a:ext cx="1277053" cy="298579"/>
            </a:xfrm>
            <a:prstGeom prst="roundRect">
              <a:avLst/>
            </a:prstGeom>
            <a:solidFill>
              <a:srgbClr val="FF0000">
                <a:alpha val="23137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BB5701D-C887-7D3A-EC43-8030240B877B}"/>
                </a:ext>
              </a:extLst>
            </p:cNvPr>
            <p:cNvSpPr/>
            <p:nvPr/>
          </p:nvSpPr>
          <p:spPr>
            <a:xfrm>
              <a:off x="3575919" y="4923451"/>
              <a:ext cx="1277053" cy="298579"/>
            </a:xfrm>
            <a:prstGeom prst="roundRect">
              <a:avLst/>
            </a:prstGeom>
            <a:solidFill>
              <a:srgbClr val="FF0000">
                <a:alpha val="23137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319389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77FCE-4EE1-9E60-8AD2-60112DB62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57C2C-449B-5DB0-FAF8-6B80CA44E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Fixtures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F0F78-F5A5-05EB-4836-266ACBA9E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Prepare for test(s), clean up after test(s), e.g.,</a:t>
            </a:r>
          </a:p>
          <a:p>
            <a:pPr lvl="1"/>
            <a:r>
              <a:rPr lang="en-US" dirty="0"/>
              <a:t>Open/close a file</a:t>
            </a:r>
          </a:p>
          <a:p>
            <a:pPr lvl="1"/>
            <a:r>
              <a:rPr lang="en-US" dirty="0"/>
              <a:t>Open/close a database connection, initialize a cursor</a:t>
            </a:r>
          </a:p>
          <a:p>
            <a:pPr lvl="1"/>
            <a:r>
              <a:rPr lang="en-US" dirty="0"/>
              <a:t>Initialize data structures/objects</a:t>
            </a:r>
          </a:p>
          <a:p>
            <a:r>
              <a:rPr lang="en-US" dirty="0"/>
              <a:t>Scopes</a:t>
            </a:r>
          </a:p>
          <a:p>
            <a:pPr lvl="1"/>
            <a:r>
              <a:rPr lang="en-US" dirty="0"/>
              <a:t>Before/after any test in module is run: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US" dirty="0"/>
              <a:t> (default)</a:t>
            </a:r>
          </a:p>
          <a:p>
            <a:pPr lvl="1"/>
            <a:r>
              <a:rPr lang="en-US" dirty="0"/>
              <a:t>Before/after first/last test in module is run: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</a:p>
          <a:p>
            <a:pPr lvl="1"/>
            <a:r>
              <a:rPr lang="en-US" dirty="0"/>
              <a:t>Before/after first/last test in package is run: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package</a:t>
            </a:r>
          </a:p>
          <a:p>
            <a:pPr lvl="1"/>
            <a:r>
              <a:rPr lang="en-US" dirty="0"/>
              <a:t>Before/after first/last test of the session is run: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session</a:t>
            </a:r>
          </a:p>
        </p:txBody>
      </p:sp>
    </p:spTree>
    <p:extLst>
      <p:ext uri="{BB962C8B-B14F-4D97-AF65-F5344CB8AC3E}">
        <p14:creationId xmlns:p14="http://schemas.microsoft.com/office/powerpoint/2010/main" val="239035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CB26390-62D2-2E25-F11A-0783C66F6668}"/>
              </a:ext>
            </a:extLst>
          </p:cNvPr>
          <p:cNvGrpSpPr/>
          <p:nvPr/>
        </p:nvGrpSpPr>
        <p:grpSpPr>
          <a:xfrm>
            <a:off x="1525239" y="1228050"/>
            <a:ext cx="6526146" cy="5355312"/>
            <a:chOff x="1525239" y="1228050"/>
            <a:chExt cx="6526146" cy="535531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96D2A38-0D4F-E753-D1C0-F9729802F6B8}"/>
                </a:ext>
              </a:extLst>
            </p:cNvPr>
            <p:cNvSpPr txBox="1"/>
            <p:nvPr/>
          </p:nvSpPr>
          <p:spPr>
            <a:xfrm>
              <a:off x="1525239" y="1228050"/>
              <a:ext cx="6526146" cy="535531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import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pytest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@pytest.fixture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non_empty_list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():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return list(range(5))</a:t>
              </a: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test_pop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non_empty_list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orig_len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len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non_empty_list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assert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non_empty_list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[-1] ==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orig_len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- 1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non_empty_list.pop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assert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len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non_empty_list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 ==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orig_len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- 1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assert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non_empty_list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[-1] ==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orig_len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- 2</a:t>
              </a:r>
            </a:p>
            <a:p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test_append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non_empty_list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):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orig_len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len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non_empty_list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assert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non_empty_list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[-1] ==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orig_len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- 1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non_empty_list.append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orig_len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assert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len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non_empty_list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 ==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orig_len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+ 1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assert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non_empty_list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[-1] ==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orig_len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30A617-1B5F-1734-EB77-B911719BDF16}"/>
                </a:ext>
              </a:extLst>
            </p:cNvPr>
            <p:cNvSpPr txBox="1"/>
            <p:nvPr/>
          </p:nvSpPr>
          <p:spPr>
            <a:xfrm>
              <a:off x="6741364" y="1228050"/>
              <a:ext cx="1300356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test_list.py</a:t>
              </a:r>
              <a:endParaRPr lang="nl-BE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C1D86FE-92AB-5AF2-C6B7-72D4D915D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Function-level fixtures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421FA-4BA7-25D0-F34E-B247AC78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50</a:t>
            </a:fld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883D5-7B0E-B767-A4BD-262BDEF1E853}"/>
              </a:ext>
            </a:extLst>
          </p:cNvPr>
          <p:cNvSpPr txBox="1"/>
          <p:nvPr/>
        </p:nvSpPr>
        <p:spPr>
          <a:xfrm>
            <a:off x="6567156" y="1819470"/>
            <a:ext cx="3249736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Oops?!?</a:t>
            </a:r>
            <a:br>
              <a:rPr lang="en-US" sz="2800" dirty="0"/>
            </a:br>
            <a:r>
              <a:rPr lang="en-US" sz="2800" dirty="0"/>
              <a:t>Should test succeed?</a:t>
            </a:r>
            <a:endParaRPr lang="LID4096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F9B7B7-B42F-60C2-BE33-D9A82622469B}"/>
              </a:ext>
            </a:extLst>
          </p:cNvPr>
          <p:cNvSpPr txBox="1"/>
          <p:nvPr/>
        </p:nvSpPr>
        <p:spPr>
          <a:xfrm>
            <a:off x="7887582" y="4675843"/>
            <a:ext cx="3858620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Yes!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non_empty_list</a:t>
            </a:r>
            <a:br>
              <a:rPr lang="en-US" sz="2800" dirty="0"/>
            </a:br>
            <a:r>
              <a:rPr lang="en-US" sz="2800" dirty="0"/>
              <a:t>is same for each test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31644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A39C3-5640-8A51-FBCE-B6B4FD5F4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8A1AC66-DA92-1EA7-9342-4BF51B3823C9}"/>
              </a:ext>
            </a:extLst>
          </p:cNvPr>
          <p:cNvGrpSpPr/>
          <p:nvPr/>
        </p:nvGrpSpPr>
        <p:grpSpPr>
          <a:xfrm>
            <a:off x="351698" y="1807429"/>
            <a:ext cx="5368777" cy="3046988"/>
            <a:chOff x="1525239" y="1228050"/>
            <a:chExt cx="5368777" cy="304698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7B0361D-661A-D1FA-4DF7-A020106C6E7F}"/>
                </a:ext>
              </a:extLst>
            </p:cNvPr>
            <p:cNvSpPr txBox="1"/>
            <p:nvPr/>
          </p:nvSpPr>
          <p:spPr>
            <a:xfrm>
              <a:off x="1525239" y="1228050"/>
              <a:ext cx="5368777" cy="30469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from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pathlib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import Path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import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pytest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@pytest.fixture(scope='module')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text_file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():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file_path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Path('my_text.txt')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nr_lines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nr_words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10, 0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with open(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file_path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, 'w') as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out_file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: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yield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file_path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nr_lines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nr_words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file_path.unlink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D11EDE-053E-E8A3-86F2-13F3388794EF}"/>
                </a:ext>
              </a:extLst>
            </p:cNvPr>
            <p:cNvSpPr txBox="1"/>
            <p:nvPr/>
          </p:nvSpPr>
          <p:spPr>
            <a:xfrm>
              <a:off x="5758730" y="1228050"/>
              <a:ext cx="1114408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test_wc.py</a:t>
              </a:r>
              <a:endParaRPr lang="nl-BE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8B8413-755F-FFBF-D85F-30D5DABDE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Module-level fixtures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386ED-7534-85D2-3112-81BB30646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51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B0739-C568-1052-0732-EA55BE3CA41A}"/>
              </a:ext>
            </a:extLst>
          </p:cNvPr>
          <p:cNvSpPr txBox="1"/>
          <p:nvPr/>
        </p:nvSpPr>
        <p:spPr>
          <a:xfrm>
            <a:off x="2249247" y="5503168"/>
            <a:ext cx="336912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File created only once</a:t>
            </a:r>
            <a:endParaRPr lang="LID4096" sz="2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19CEEC-A2A8-F8A3-8D7E-FF4CE051A1FD}"/>
              </a:ext>
            </a:extLst>
          </p:cNvPr>
          <p:cNvGrpSpPr/>
          <p:nvPr/>
        </p:nvGrpSpPr>
        <p:grpSpPr>
          <a:xfrm>
            <a:off x="6007130" y="1541671"/>
            <a:ext cx="5739072" cy="1815882"/>
            <a:chOff x="1525239" y="1228050"/>
            <a:chExt cx="5739072" cy="181588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35DBD16-4E2F-3024-9185-9D315C172300}"/>
                </a:ext>
              </a:extLst>
            </p:cNvPr>
            <p:cNvSpPr txBox="1"/>
            <p:nvPr/>
          </p:nvSpPr>
          <p:spPr>
            <a:xfrm>
              <a:off x="1525239" y="1228050"/>
              <a:ext cx="5739072" cy="181588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test_wc_l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text_file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):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path,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nr_lines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, _ =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text_file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output =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check_output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(['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wc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', '-l', path])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assert int(lines) ==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nr_lines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27D6793-29BF-9974-B9C0-17C603CAA3BF}"/>
                </a:ext>
              </a:extLst>
            </p:cNvPr>
            <p:cNvSpPr txBox="1"/>
            <p:nvPr/>
          </p:nvSpPr>
          <p:spPr>
            <a:xfrm>
              <a:off x="6130205" y="1228050"/>
              <a:ext cx="1114408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test_wc.py</a:t>
              </a:r>
              <a:endParaRPr lang="nl-BE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650749-F996-9983-609F-049767D958B6}"/>
              </a:ext>
            </a:extLst>
          </p:cNvPr>
          <p:cNvGrpSpPr/>
          <p:nvPr/>
        </p:nvGrpSpPr>
        <p:grpSpPr>
          <a:xfrm>
            <a:off x="6007130" y="3583777"/>
            <a:ext cx="5739072" cy="1815882"/>
            <a:chOff x="1525239" y="1228050"/>
            <a:chExt cx="5739072" cy="181588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38521A-B9E2-6F6C-19FA-36948D827B50}"/>
                </a:ext>
              </a:extLst>
            </p:cNvPr>
            <p:cNvSpPr txBox="1"/>
            <p:nvPr/>
          </p:nvSpPr>
          <p:spPr>
            <a:xfrm>
              <a:off x="1525239" y="1228050"/>
              <a:ext cx="5739072" cy="181588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test_wc_w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text_file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):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path, _,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nr_words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text_file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output =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check_output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(['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wc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', '-w', path])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assert int(words) ==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nr_words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E48E39-7AD6-7585-0C63-13F50BEE360B}"/>
                </a:ext>
              </a:extLst>
            </p:cNvPr>
            <p:cNvSpPr txBox="1"/>
            <p:nvPr/>
          </p:nvSpPr>
          <p:spPr>
            <a:xfrm>
              <a:off x="6130205" y="1228050"/>
              <a:ext cx="1114408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test_wc.py</a:t>
              </a:r>
              <a:endParaRPr lang="nl-BE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635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5F4C9-21B8-B1F6-8C87-A3377BCA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Tear down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6ADC6-5CC0-B3B9-9A97-D3742B69D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fixture creates resources, should clean up, e.g.,</a:t>
            </a:r>
          </a:p>
          <a:p>
            <a:pPr lvl="1"/>
            <a:r>
              <a:rPr lang="en-US" dirty="0"/>
              <a:t>Close database connection</a:t>
            </a:r>
          </a:p>
          <a:p>
            <a:pPr lvl="1"/>
            <a:r>
              <a:rPr lang="en-US" dirty="0"/>
              <a:t>Remove test file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51EC9F-D54A-4130-11AF-78EDC9713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52</a:t>
            </a:fld>
            <a:endParaRPr lang="nl-B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11FB28-CED2-78B4-8FD9-C71DD431F452}"/>
              </a:ext>
            </a:extLst>
          </p:cNvPr>
          <p:cNvGrpSpPr/>
          <p:nvPr/>
        </p:nvGrpSpPr>
        <p:grpSpPr>
          <a:xfrm>
            <a:off x="836330" y="3401264"/>
            <a:ext cx="5368777" cy="3046988"/>
            <a:chOff x="1525239" y="1228050"/>
            <a:chExt cx="5368777" cy="304698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E85D3F2-525F-F1EF-E67E-EBA36CD8F05F}"/>
                </a:ext>
              </a:extLst>
            </p:cNvPr>
            <p:cNvSpPr txBox="1"/>
            <p:nvPr/>
          </p:nvSpPr>
          <p:spPr>
            <a:xfrm>
              <a:off x="1525239" y="1228050"/>
              <a:ext cx="5368777" cy="30469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from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pathlib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import Path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import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pytest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@pytest.fixture(scope='module')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text_file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():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file_path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Path('my_text.txt')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nr_lines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nr_words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10, 0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with open(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file_path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, 'w') as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out_file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: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yield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file_path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nr_lines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nr_words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sz="16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file_path.unlink</a:t>
              </a:r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</a:p>
            <a:p>
              <a:r>
                <a:rPr lang="en-US" sz="16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BABA65-8544-DCF8-237C-B6A9D7F0A3BF}"/>
                </a:ext>
              </a:extLst>
            </p:cNvPr>
            <p:cNvSpPr txBox="1"/>
            <p:nvPr/>
          </p:nvSpPr>
          <p:spPr>
            <a:xfrm>
              <a:off x="5758730" y="1228050"/>
              <a:ext cx="1114408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test_wc.py</a:t>
              </a:r>
              <a:endParaRPr lang="nl-BE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2676046-BFF1-BF55-1C84-BA97FA591BB5}"/>
              </a:ext>
            </a:extLst>
          </p:cNvPr>
          <p:cNvGrpSpPr/>
          <p:nvPr/>
        </p:nvGrpSpPr>
        <p:grpSpPr>
          <a:xfrm>
            <a:off x="6431773" y="4727275"/>
            <a:ext cx="1320716" cy="1104182"/>
            <a:chOff x="6431773" y="4727275"/>
            <a:chExt cx="1320716" cy="1104182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2ABF897F-9DE7-D18D-2F1B-048CB7209F3E}"/>
                </a:ext>
              </a:extLst>
            </p:cNvPr>
            <p:cNvSpPr/>
            <p:nvPr/>
          </p:nvSpPr>
          <p:spPr>
            <a:xfrm>
              <a:off x="6431773" y="4727275"/>
              <a:ext cx="227819" cy="1104182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A0D51B6-DCFF-8B4C-C12A-AAC7C23F63F0}"/>
                </a:ext>
              </a:extLst>
            </p:cNvPr>
            <p:cNvSpPr txBox="1"/>
            <p:nvPr/>
          </p:nvSpPr>
          <p:spPr>
            <a:xfrm>
              <a:off x="6779209" y="5048533"/>
              <a:ext cx="9732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Set up</a:t>
              </a:r>
              <a:endParaRPr lang="LID4096" sz="24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A6DC40-4E71-A962-BCA8-1DFC685B77DD}"/>
              </a:ext>
            </a:extLst>
          </p:cNvPr>
          <p:cNvGrpSpPr/>
          <p:nvPr/>
        </p:nvGrpSpPr>
        <p:grpSpPr>
          <a:xfrm>
            <a:off x="6431773" y="5893013"/>
            <a:ext cx="1837203" cy="461665"/>
            <a:chOff x="6431773" y="4703023"/>
            <a:chExt cx="1837203" cy="461665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A3DC03AA-73D6-2730-9EC8-DE78B924757F}"/>
                </a:ext>
              </a:extLst>
            </p:cNvPr>
            <p:cNvSpPr/>
            <p:nvPr/>
          </p:nvSpPr>
          <p:spPr>
            <a:xfrm>
              <a:off x="6431773" y="4727276"/>
              <a:ext cx="227819" cy="321258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2A18BDC-8458-B4C9-CA50-E9266100DE0C}"/>
                </a:ext>
              </a:extLst>
            </p:cNvPr>
            <p:cNvSpPr txBox="1"/>
            <p:nvPr/>
          </p:nvSpPr>
          <p:spPr>
            <a:xfrm>
              <a:off x="6779209" y="4703023"/>
              <a:ext cx="14897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Tear down</a:t>
              </a:r>
              <a:endParaRPr lang="LID4096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5657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6F788-1F6C-949F-F243-32E73163A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FEC3F-9B65-18D8-1440-D7210DB0D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tests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61157-3F76-3D26-1F5D-E935F8835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file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All tests</a:t>
            </a:r>
            <a:endParaRPr lang="nl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21C1D4-AB92-26AB-7F83-340B3E48D280}"/>
              </a:ext>
            </a:extLst>
          </p:cNvPr>
          <p:cNvSpPr txBox="1"/>
          <p:nvPr/>
        </p:nvSpPr>
        <p:spPr>
          <a:xfrm>
            <a:off x="2855639" y="2389805"/>
            <a:ext cx="341040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pytest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./test_fib.py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F1E77F-BF51-DDD6-CBF7-C6B72E28BD90}"/>
              </a:ext>
            </a:extLst>
          </p:cNvPr>
          <p:cNvSpPr txBox="1"/>
          <p:nvPr/>
        </p:nvSpPr>
        <p:spPr>
          <a:xfrm>
            <a:off x="2855640" y="4114455"/>
            <a:ext cx="341040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endParaRPr lang="en-US" b="1" dirty="0">
              <a:solidFill>
                <a:prstClr val="white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006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00AC9-C199-11EB-8672-A80A4DCF6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AABE9-7ABE-56D5-4CCF-C0D41CD62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50C14-4E47-A911-61DB-902B7C1DC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Easy to overlook</a:t>
            </a:r>
          </a:p>
          <a:p>
            <a:pPr lvl="1"/>
            <a:r>
              <a:rPr lang="en-US" dirty="0"/>
              <a:t>functions/methods</a:t>
            </a:r>
          </a:p>
          <a:p>
            <a:pPr lvl="1"/>
            <a:r>
              <a:rPr lang="en-US" dirty="0"/>
              <a:t>code paths</a:t>
            </a:r>
          </a:p>
          <a:p>
            <a:r>
              <a:rPr lang="en-US" dirty="0"/>
              <a:t>Use code coverage tool</a:t>
            </a:r>
            <a:br>
              <a:rPr lang="en-US" dirty="0"/>
            </a:br>
            <a:r>
              <a:rPr lang="en-US" dirty="0">
                <a:hlinkClick r:id="rId2"/>
              </a:rPr>
              <a:t>https://coverage.readthedocs.io/</a:t>
            </a:r>
            <a:r>
              <a:rPr lang="en-US" dirty="0"/>
              <a:t> </a:t>
            </a:r>
          </a:p>
          <a:p>
            <a:r>
              <a:rPr lang="en-US" dirty="0"/>
              <a:t>Steps</a:t>
            </a:r>
          </a:p>
          <a:p>
            <a:pPr lvl="1"/>
            <a:r>
              <a:rPr lang="en-US" dirty="0"/>
              <a:t>run code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coverage run</a:t>
            </a:r>
          </a:p>
          <a:p>
            <a:pPr lvl="1"/>
            <a:r>
              <a:rPr lang="en-US" dirty="0"/>
              <a:t>create detailed report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coverage annotate</a:t>
            </a:r>
          </a:p>
          <a:p>
            <a:pPr lvl="1"/>
            <a:r>
              <a:rPr lang="en-US" dirty="0"/>
              <a:t>add tests until covered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654CD-1ABA-73B3-A86E-E420F4520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54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4699FFD-775F-B495-6BBD-30AE6EA5B46C}"/>
              </a:ext>
            </a:extLst>
          </p:cNvPr>
          <p:cNvGrpSpPr/>
          <p:nvPr/>
        </p:nvGrpSpPr>
        <p:grpSpPr>
          <a:xfrm>
            <a:off x="7384696" y="2060849"/>
            <a:ext cx="2808312" cy="1080119"/>
            <a:chOff x="4821276" y="3871775"/>
            <a:chExt cx="2808312" cy="108011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B4326654-040B-C044-5661-9E8E111634CE}"/>
                </a:ext>
              </a:extLst>
            </p:cNvPr>
            <p:cNvSpPr/>
            <p:nvPr/>
          </p:nvSpPr>
          <p:spPr>
            <a:xfrm>
              <a:off x="4821276" y="3871775"/>
              <a:ext cx="2808312" cy="10801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2544A90-576B-B203-B980-A089DF4C72D8}"/>
                </a:ext>
              </a:extLst>
            </p:cNvPr>
            <p:cNvSpPr txBox="1"/>
            <p:nvPr/>
          </p:nvSpPr>
          <p:spPr>
            <a:xfrm>
              <a:off x="4860032" y="3896713"/>
              <a:ext cx="258596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A program that has not</a:t>
              </a:r>
            </a:p>
            <a:p>
              <a:r>
                <a:rPr lang="en-US" sz="2000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been tested does not work.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CC80E3-A326-4EF5-8816-5CCE2ABD0858}"/>
                </a:ext>
              </a:extLst>
            </p:cNvPr>
            <p:cNvSpPr txBox="1"/>
            <p:nvPr/>
          </p:nvSpPr>
          <p:spPr>
            <a:xfrm>
              <a:off x="5306743" y="4492721"/>
              <a:ext cx="2097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Calibri"/>
                </a:rPr>
                <a:t>— Bjarne </a:t>
              </a:r>
              <a:r>
                <a:rPr lang="en-US" dirty="0" err="1">
                  <a:solidFill>
                    <a:srgbClr val="0070C0"/>
                  </a:solidFill>
                  <a:latin typeface="Calibri"/>
                </a:rPr>
                <a:t>Stroustrup</a:t>
              </a:r>
              <a:endParaRPr lang="en-US" dirty="0">
                <a:solidFill>
                  <a:srgbClr val="0070C0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909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8F9DE-1ECD-553F-1598-BE91E2F9F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08309-AEEE-F621-0C3A-64CC059C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Coverage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868FC-C6E4-60AA-9A08-1469A1CD0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code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B4F60-C58A-2ADE-A8CD-1CF9158B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55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7D27F-7C19-81A4-A5D3-95AA73BF1FE2}"/>
              </a:ext>
            </a:extLst>
          </p:cNvPr>
          <p:cNvSpPr txBox="1"/>
          <p:nvPr/>
        </p:nvSpPr>
        <p:spPr>
          <a:xfrm>
            <a:off x="2351585" y="2346301"/>
            <a:ext cx="6624737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 coverage  run  ./prog.py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DBA895-CB41-F0F1-5F0C-CA8585C3BB2B}"/>
              </a:ext>
            </a:extLst>
          </p:cNvPr>
          <p:cNvSpPr txBox="1"/>
          <p:nvPr/>
        </p:nvSpPr>
        <p:spPr>
          <a:xfrm>
            <a:off x="2351584" y="4145012"/>
            <a:ext cx="6624737" cy="230832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 coverage  report  -m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coverage report -m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Name           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Stmts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 Miss  Cover   Missing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--------------------------------------------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functions.py       9      3    67%   2-5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prog.py           14      2    86%   17-18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--------------------------------------------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TOTAL             23      5    78%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B2CCBE0-1C09-103D-9EFE-84B14BA90DB8}"/>
              </a:ext>
            </a:extLst>
          </p:cNvPr>
          <p:cNvGrpSpPr/>
          <p:nvPr/>
        </p:nvGrpSpPr>
        <p:grpSpPr>
          <a:xfrm>
            <a:off x="8607393" y="5214278"/>
            <a:ext cx="1954560" cy="646331"/>
            <a:chOff x="-876831" y="3698448"/>
            <a:chExt cx="1954560" cy="64633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6FA5C69-D131-3369-4613-56642EB95918}"/>
                </a:ext>
              </a:extLst>
            </p:cNvPr>
            <p:cNvSpPr txBox="1"/>
            <p:nvPr/>
          </p:nvSpPr>
          <p:spPr>
            <a:xfrm>
              <a:off x="-334068" y="3698448"/>
              <a:ext cx="1411797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Calibri"/>
                </a:rPr>
                <a:t>line numbers</a:t>
              </a:r>
            </a:p>
            <a:p>
              <a:r>
                <a:rPr lang="en-US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missed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3D309F3-8A02-D59C-8FD6-9BFA8388D28B}"/>
                </a:ext>
              </a:extLst>
            </p:cNvPr>
            <p:cNvCxnSpPr>
              <a:stCxn id="7" idx="1"/>
            </p:cNvCxnSpPr>
            <p:nvPr/>
          </p:nvCxnSpPr>
          <p:spPr>
            <a:xfrm flipH="1" flipV="1">
              <a:off x="-876831" y="4021613"/>
              <a:ext cx="542763" cy="1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C7A49A-5F53-3D69-A38D-86374CBD847B}"/>
              </a:ext>
            </a:extLst>
          </p:cNvPr>
          <p:cNvGrpSpPr/>
          <p:nvPr/>
        </p:nvGrpSpPr>
        <p:grpSpPr>
          <a:xfrm>
            <a:off x="5420649" y="3508907"/>
            <a:ext cx="3561693" cy="748449"/>
            <a:chOff x="-1020847" y="3922908"/>
            <a:chExt cx="3561693" cy="74844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B9ECAB6-9E57-4AEA-1AD1-48C6F45F3B3E}"/>
                </a:ext>
              </a:extLst>
            </p:cNvPr>
            <p:cNvSpPr txBox="1"/>
            <p:nvPr/>
          </p:nvSpPr>
          <p:spPr>
            <a:xfrm>
              <a:off x="-300767" y="3922908"/>
              <a:ext cx="2841613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Calibri"/>
                </a:rPr>
                <a:t>show line numbers </a:t>
              </a:r>
              <a:r>
                <a:rPr lang="en-US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missed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4A1C904-5F30-344A-DF42-95D49021111A}"/>
                </a:ext>
              </a:extLst>
            </p:cNvPr>
            <p:cNvCxnSpPr>
              <a:stCxn id="11" idx="1"/>
            </p:cNvCxnSpPr>
            <p:nvPr/>
          </p:nvCxnSpPr>
          <p:spPr>
            <a:xfrm flipH="1">
              <a:off x="-1020847" y="4107574"/>
              <a:ext cx="720080" cy="563783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2402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1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A3F4F-E0AD-62E0-4CEE-9BB144DE7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9F109-8EC5-CC93-7D0E-2AE2943A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Coverage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0D548-9AA6-78A8-E0B0-C416AE3DB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Create annotated source code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Remove coverage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F9C3E-0A36-B6D3-AA63-20DB32BD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56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8B232-4173-2DBD-E10B-CA4BDA3CA610}"/>
              </a:ext>
            </a:extLst>
          </p:cNvPr>
          <p:cNvSpPr txBox="1"/>
          <p:nvPr/>
        </p:nvSpPr>
        <p:spPr>
          <a:xfrm>
            <a:off x="2351585" y="2276872"/>
            <a:ext cx="662473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 coverage  annotate  -d 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coverage_report</a:t>
            </a:r>
            <a:endParaRPr lang="en-US" b="1" dirty="0">
              <a:solidFill>
                <a:srgbClr val="EEECE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FB1ADE9-0C0E-94E5-DA51-05F9BD1EAD1B}"/>
              </a:ext>
            </a:extLst>
          </p:cNvPr>
          <p:cNvGrpSpPr/>
          <p:nvPr/>
        </p:nvGrpSpPr>
        <p:grpSpPr>
          <a:xfrm>
            <a:off x="7608169" y="1618882"/>
            <a:ext cx="2731401" cy="729998"/>
            <a:chOff x="-917921" y="3922908"/>
            <a:chExt cx="2731401" cy="72999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9D9E65-BC63-A27F-F30F-783D5F0EC1E3}"/>
                </a:ext>
              </a:extLst>
            </p:cNvPr>
            <p:cNvSpPr txBox="1"/>
            <p:nvPr/>
          </p:nvSpPr>
          <p:spPr>
            <a:xfrm>
              <a:off x="-300767" y="3922908"/>
              <a:ext cx="211424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Calibri"/>
                </a:rPr>
                <a:t>directory for reports</a:t>
              </a:r>
              <a:endPara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DA4B953-0E08-A90C-E1B2-F7236010C593}"/>
                </a:ext>
              </a:extLst>
            </p:cNvPr>
            <p:cNvCxnSpPr>
              <a:stCxn id="7" idx="1"/>
            </p:cNvCxnSpPr>
            <p:nvPr/>
          </p:nvCxnSpPr>
          <p:spPr>
            <a:xfrm flipH="1">
              <a:off x="-917921" y="4107574"/>
              <a:ext cx="617154" cy="545332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BEAE65E-3257-B0A9-3E6C-636C67906E7F}"/>
              </a:ext>
            </a:extLst>
          </p:cNvPr>
          <p:cNvSpPr txBox="1"/>
          <p:nvPr/>
        </p:nvSpPr>
        <p:spPr>
          <a:xfrm>
            <a:off x="2351585" y="2924944"/>
            <a:ext cx="6624737" cy="23083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if </a:t>
            </a:r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options.no_iter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n = </a:t>
            </a:r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options.max_n</a:t>
            </a:r>
            <a:endParaRPr lang="en-US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print(</a:t>
            </a:r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f'fac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({n}) = {</a:t>
            </a:r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(n)}')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else: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for n in range(</a:t>
            </a:r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options.max_n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+ 1):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print(</a:t>
            </a:r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f'fac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({n}) = {</a:t>
            </a:r>
            <a:r>
              <a:rPr lang="en-US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(n)}')</a:t>
            </a:r>
          </a:p>
          <a:p>
            <a:r>
              <a: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23EF2A1-7D92-FC95-6309-683966E75615}"/>
              </a:ext>
            </a:extLst>
          </p:cNvPr>
          <p:cNvGrpSpPr/>
          <p:nvPr/>
        </p:nvGrpSpPr>
        <p:grpSpPr>
          <a:xfrm>
            <a:off x="8688289" y="4077072"/>
            <a:ext cx="1656185" cy="936104"/>
            <a:chOff x="7890626" y="3104964"/>
            <a:chExt cx="1656185" cy="936104"/>
          </a:xfrm>
        </p:grpSpPr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4ABE8A3D-EA96-A3E2-7577-F290AD4513CC}"/>
                </a:ext>
              </a:extLst>
            </p:cNvPr>
            <p:cNvSpPr/>
            <p:nvPr/>
          </p:nvSpPr>
          <p:spPr>
            <a:xfrm>
              <a:off x="7890626" y="3104964"/>
              <a:ext cx="128379" cy="936104"/>
            </a:xfrm>
            <a:prstGeom prst="rightBrace">
              <a:avLst>
                <a:gd name="adj1" fmla="val 8333"/>
                <a:gd name="adj2" fmla="val 48677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65E5EF3-9664-14A9-F84E-D659CC747870}"/>
                </a:ext>
              </a:extLst>
            </p:cNvPr>
            <p:cNvSpPr txBox="1"/>
            <p:nvPr/>
          </p:nvSpPr>
          <p:spPr>
            <a:xfrm>
              <a:off x="8173757" y="3305364"/>
              <a:ext cx="1373054" cy="5232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C00000"/>
                  </a:solidFill>
                  <a:latin typeface="Calibri"/>
                </a:rPr>
                <a:t>not run</a:t>
              </a:r>
              <a:endParaRPr lang="en-US" sz="3200" dirty="0">
                <a:solidFill>
                  <a:srgbClr val="C00000"/>
                </a:solidFill>
                <a:latin typeface="Calibri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CAB8BB7-F341-46E8-0090-00C6E8356AE6}"/>
              </a:ext>
            </a:extLst>
          </p:cNvPr>
          <p:cNvGrpSpPr/>
          <p:nvPr/>
        </p:nvGrpSpPr>
        <p:grpSpPr>
          <a:xfrm>
            <a:off x="8688289" y="3140968"/>
            <a:ext cx="1656185" cy="936104"/>
            <a:chOff x="7890626" y="3104964"/>
            <a:chExt cx="1656185" cy="936104"/>
          </a:xfrm>
        </p:grpSpPr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D3A92B17-E9FD-410C-B162-6841C7C5D013}"/>
                </a:ext>
              </a:extLst>
            </p:cNvPr>
            <p:cNvSpPr/>
            <p:nvPr/>
          </p:nvSpPr>
          <p:spPr>
            <a:xfrm>
              <a:off x="7890626" y="3104964"/>
              <a:ext cx="128379" cy="936104"/>
            </a:xfrm>
            <a:prstGeom prst="rightBrace">
              <a:avLst>
                <a:gd name="adj1" fmla="val 8333"/>
                <a:gd name="adj2" fmla="val 48677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A89D3AA-8B2C-979B-E3B2-D45346184F62}"/>
                </a:ext>
              </a:extLst>
            </p:cNvPr>
            <p:cNvSpPr txBox="1"/>
            <p:nvPr/>
          </p:nvSpPr>
          <p:spPr>
            <a:xfrm>
              <a:off x="8173756" y="3305364"/>
              <a:ext cx="1373055" cy="5232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00B050"/>
                  </a:solidFill>
                  <a:latin typeface="Calibri"/>
                </a:rPr>
                <a:t>run</a:t>
              </a:r>
              <a:endParaRPr lang="en-US" sz="3200" dirty="0">
                <a:solidFill>
                  <a:srgbClr val="00B050"/>
                </a:solidFill>
                <a:latin typeface="Calibri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FC2F5AC-21BB-4047-4819-E321A0827628}"/>
              </a:ext>
            </a:extLst>
          </p:cNvPr>
          <p:cNvSpPr txBox="1"/>
          <p:nvPr/>
        </p:nvSpPr>
        <p:spPr>
          <a:xfrm>
            <a:off x="2351585" y="5932007"/>
            <a:ext cx="662473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 coverage  erase</a:t>
            </a:r>
          </a:p>
        </p:txBody>
      </p:sp>
    </p:spTree>
    <p:extLst>
      <p:ext uri="{BB962C8B-B14F-4D97-AF65-F5344CB8AC3E}">
        <p14:creationId xmlns:p14="http://schemas.microsoft.com/office/powerpoint/2010/main" val="2623278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11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7069F-3FAC-B156-544B-813EEDB9F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AA3E3-9E3C-AE42-B1F4-0E58323C0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85C09-A054-7437-C491-4091EFFA3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B. Kernighan &amp; R. Pike (1999) </a:t>
            </a:r>
            <a:r>
              <a:rPr lang="en-US" i="1" dirty="0"/>
              <a:t>The practice of programming</a:t>
            </a:r>
            <a:r>
              <a:rPr lang="en-US" dirty="0"/>
              <a:t>, Addison-Wesley</a:t>
            </a:r>
          </a:p>
          <a:p>
            <a:r>
              <a:rPr lang="en-US" dirty="0"/>
              <a:t>M. Fowler (1999) </a:t>
            </a:r>
            <a:r>
              <a:rPr lang="en-US" i="1" dirty="0"/>
              <a:t>Refactoring: improving the design of existing code</a:t>
            </a:r>
            <a:r>
              <a:rPr lang="en-US" dirty="0"/>
              <a:t>, Addison-Wesley</a:t>
            </a:r>
          </a:p>
          <a:p>
            <a:r>
              <a:rPr lang="en-US" dirty="0" err="1"/>
              <a:t>pytest</a:t>
            </a:r>
            <a:r>
              <a:rPr lang="en-US" dirty="0"/>
              <a:t> documentation:</a:t>
            </a:r>
            <a:br>
              <a:rPr lang="en-US" dirty="0"/>
            </a:br>
            <a:r>
              <a:rPr lang="en-US" dirty="0">
                <a:hlinkClick r:id="rId2"/>
              </a:rPr>
              <a:t>https://docs.pytest.org/en/stable/</a:t>
            </a:r>
            <a:r>
              <a:rPr lang="en-US" dirty="0"/>
              <a:t> 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262284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Python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BE" sz="1800" dirty="0">
                <a:hlinkClick r:id="rId2"/>
              </a:rPr>
              <a:t>https://github.com/gjbex/Python-software-engineering/tree/master/source-code/object-orientation</a:t>
            </a:r>
            <a:r>
              <a:rPr lang="nl-BE" sz="1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58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13183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nl-BE" dirty="0"/>
              <a:t>Motivation: what is programming?</a:t>
            </a:r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2279651" y="2709863"/>
            <a:ext cx="792163" cy="647700"/>
          </a:xfrm>
          <a:prstGeom prst="rect">
            <a:avLst/>
          </a:prstGeom>
          <a:solidFill>
            <a:schemeClr val="folHlink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wrap="none" anchor="ctr">
            <a:flatTx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8196" name="Oval 5"/>
          <p:cNvSpPr>
            <a:spLocks noChangeArrowheads="1"/>
          </p:cNvSpPr>
          <p:nvPr/>
        </p:nvSpPr>
        <p:spPr bwMode="auto">
          <a:xfrm rot="15147521">
            <a:off x="2926557" y="2997994"/>
            <a:ext cx="647700" cy="576263"/>
          </a:xfrm>
          <a:prstGeom prst="ellipse">
            <a:avLst/>
          </a:prstGeom>
          <a:solidFill>
            <a:srgbClr val="FF0000">
              <a:alpha val="0"/>
            </a:srgbClr>
          </a:solidFill>
          <a:ln w="9525">
            <a:round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8197" name="Rectangle 7"/>
          <p:cNvSpPr>
            <a:spLocks noChangeArrowheads="1"/>
          </p:cNvSpPr>
          <p:nvPr/>
        </p:nvSpPr>
        <p:spPr bwMode="auto">
          <a:xfrm>
            <a:off x="2495550" y="3286125"/>
            <a:ext cx="647700" cy="863600"/>
          </a:xfrm>
          <a:prstGeom prst="rect">
            <a:avLst/>
          </a:prstGeom>
          <a:solidFill>
            <a:schemeClr val="hlink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hlink"/>
            </a:extrusionClr>
          </a:sp3d>
        </p:spPr>
        <p:txBody>
          <a:bodyPr wrap="none" anchor="ctr">
            <a:flatTx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l-BE" altLang="nl-BE" sz="1800"/>
          </a:p>
        </p:txBody>
      </p:sp>
      <p:sp>
        <p:nvSpPr>
          <p:cNvPr id="8198" name="Text Box 13"/>
          <p:cNvSpPr txBox="1">
            <a:spLocks noChangeArrowheads="1"/>
          </p:cNvSpPr>
          <p:nvPr/>
        </p:nvSpPr>
        <p:spPr bwMode="auto">
          <a:xfrm>
            <a:off x="2165350" y="1693863"/>
            <a:ext cx="1627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Real world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4656139" y="1557339"/>
            <a:ext cx="2016125" cy="3887787"/>
            <a:chOff x="1973" y="981"/>
            <a:chExt cx="1270" cy="2449"/>
          </a:xfrm>
        </p:grpSpPr>
        <p:sp>
          <p:nvSpPr>
            <p:cNvPr id="8205" name="Rectangle 8"/>
            <p:cNvSpPr>
              <a:spLocks noChangeArrowheads="1"/>
            </p:cNvSpPr>
            <p:nvPr/>
          </p:nvSpPr>
          <p:spPr bwMode="auto">
            <a:xfrm>
              <a:off x="2268" y="1706"/>
              <a:ext cx="499" cy="408"/>
            </a:xfrm>
            <a:prstGeom prst="rect">
              <a:avLst/>
            </a:prstGeom>
            <a:solidFill>
              <a:schemeClr val="folHlink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Wireframe">
              <a:bevelT w="13500" h="13500" prst="angle"/>
              <a:bevelB w="13500" h="13500" prst="angle"/>
              <a:extrusionClr>
                <a:schemeClr val="folHlink"/>
              </a:extrusionClr>
            </a:sp3d>
          </p:spPr>
          <p:txBody>
            <a:bodyPr wrap="none" anchor="ctr">
              <a:flatTx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8206" name="Oval 9"/>
            <p:cNvSpPr>
              <a:spLocks noChangeArrowheads="1"/>
            </p:cNvSpPr>
            <p:nvPr/>
          </p:nvSpPr>
          <p:spPr bwMode="auto">
            <a:xfrm rot="-6452479">
              <a:off x="2676" y="1887"/>
              <a:ext cx="408" cy="363"/>
            </a:xfrm>
            <a:prstGeom prst="ellipse">
              <a:avLst/>
            </a:prstGeom>
            <a:solidFill>
              <a:srgbClr val="FF0000">
                <a:alpha val="0"/>
              </a:srgbClr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Wireframe">
              <a:bevelT w="13500" h="13500" prst="angle"/>
              <a:bevelB w="13500" h="13500" prst="angle"/>
              <a:extrusionClr>
                <a:srgbClr val="FF0000"/>
              </a:extrusionClr>
            </a:sp3d>
          </p:spPr>
          <p:txBody>
            <a:bodyPr wrap="none" anchor="ctr">
              <a:flatTx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sp>
          <p:nvSpPr>
            <p:cNvPr id="8207" name="Rectangle 10"/>
            <p:cNvSpPr>
              <a:spLocks noChangeArrowheads="1"/>
            </p:cNvSpPr>
            <p:nvPr/>
          </p:nvSpPr>
          <p:spPr bwMode="auto">
            <a:xfrm>
              <a:off x="2404" y="2069"/>
              <a:ext cx="408" cy="544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Wireframe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flatTx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nl-BE" altLang="nl-BE" sz="1800"/>
            </a:p>
          </p:txBody>
        </p:sp>
        <p:graphicFrame>
          <p:nvGraphicFramePr>
            <p:cNvPr id="8208" name="Object 11"/>
            <p:cNvGraphicFramePr>
              <a:graphicFrameLocks noChangeAspect="1"/>
            </p:cNvGraphicFramePr>
            <p:nvPr/>
          </p:nvGraphicFramePr>
          <p:xfrm>
            <a:off x="2154" y="2704"/>
            <a:ext cx="1089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20227" imgH="710891" progId="Equation.3">
                    <p:embed/>
                  </p:oleObj>
                </mc:Choice>
                <mc:Fallback>
                  <p:oleObj name="Equation" r:id="rId3" imgW="1320227" imgH="710891" progId="Equation.3">
                    <p:embed/>
                    <p:pic>
                      <p:nvPicPr>
                        <p:cNvPr id="8208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4" y="2704"/>
                          <a:ext cx="1089" cy="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9" name="Text Box 14"/>
            <p:cNvSpPr txBox="1">
              <a:spLocks noChangeArrowheads="1"/>
            </p:cNvSpPr>
            <p:nvPr/>
          </p:nvSpPr>
          <p:spPr bwMode="auto">
            <a:xfrm>
              <a:off x="2376" y="1067"/>
              <a:ext cx="6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2400"/>
                <a:t>Model</a:t>
              </a:r>
            </a:p>
          </p:txBody>
        </p:sp>
        <p:sp>
          <p:nvSpPr>
            <p:cNvPr id="8210" name="Line 16"/>
            <p:cNvSpPr>
              <a:spLocks noChangeShapeType="1"/>
            </p:cNvSpPr>
            <p:nvPr/>
          </p:nvSpPr>
          <p:spPr bwMode="auto">
            <a:xfrm>
              <a:off x="1973" y="981"/>
              <a:ext cx="0" cy="24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6959600" y="1557339"/>
            <a:ext cx="2860675" cy="3887787"/>
            <a:chOff x="3424" y="981"/>
            <a:chExt cx="1802" cy="2449"/>
          </a:xfrm>
        </p:grpSpPr>
        <p:sp>
          <p:nvSpPr>
            <p:cNvPr id="8202" name="Text Box 12"/>
            <p:cNvSpPr txBox="1">
              <a:spLocks noChangeArrowheads="1"/>
            </p:cNvSpPr>
            <p:nvPr/>
          </p:nvSpPr>
          <p:spPr bwMode="auto">
            <a:xfrm>
              <a:off x="3660" y="1889"/>
              <a:ext cx="126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dirty="0" err="1">
                  <a:latin typeface="Times New Roman" pitchFamily="18" charset="0"/>
                </a:rPr>
                <a:t>def</a:t>
              </a:r>
              <a:r>
                <a:rPr lang="en-US" altLang="nl-BE" sz="1800" dirty="0">
                  <a:latin typeface="Times New Roman" pitchFamily="18" charset="0"/>
                </a:rPr>
                <a:t> volume(object):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1800" dirty="0">
                  <a:latin typeface="Times New Roman" pitchFamily="18" charset="0"/>
                </a:rPr>
                <a:t>    …</a:t>
              </a:r>
            </a:p>
          </p:txBody>
        </p:sp>
        <p:sp>
          <p:nvSpPr>
            <p:cNvPr id="8203" name="Text Box 15"/>
            <p:cNvSpPr txBox="1">
              <a:spLocks noChangeArrowheads="1"/>
            </p:cNvSpPr>
            <p:nvPr/>
          </p:nvSpPr>
          <p:spPr bwMode="auto">
            <a:xfrm>
              <a:off x="3796" y="1071"/>
              <a:ext cx="14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nl-BE" sz="2400"/>
                <a:t>Implementation</a:t>
              </a:r>
            </a:p>
          </p:txBody>
        </p:sp>
        <p:sp>
          <p:nvSpPr>
            <p:cNvPr id="8204" name="Line 18"/>
            <p:cNvSpPr>
              <a:spLocks noChangeShapeType="1"/>
            </p:cNvSpPr>
            <p:nvPr/>
          </p:nvSpPr>
          <p:spPr bwMode="auto">
            <a:xfrm>
              <a:off x="3424" y="981"/>
              <a:ext cx="0" cy="24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BE"/>
            </a:p>
          </p:txBody>
        </p:sp>
      </p:grpSp>
      <p:sp>
        <p:nvSpPr>
          <p:cNvPr id="8211" name="Text Box 19"/>
          <p:cNvSpPr txBox="1">
            <a:spLocks noChangeArrowheads="1"/>
          </p:cNvSpPr>
          <p:nvPr/>
        </p:nvSpPr>
        <p:spPr bwMode="auto">
          <a:xfrm>
            <a:off x="1703388" y="5924551"/>
            <a:ext cx="8789586" cy="46166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l-BE" sz="2400"/>
              <a:t>Minimize discrepancies: real world </a:t>
            </a:r>
            <a:r>
              <a:rPr lang="en-US" altLang="nl-BE" sz="2400">
                <a:sym typeface="Symbol" pitchFamily="18" charset="2"/>
              </a:rPr>
              <a:t></a:t>
            </a:r>
            <a:r>
              <a:rPr lang="en-US" altLang="nl-BE" sz="2400"/>
              <a:t> model </a:t>
            </a:r>
            <a:r>
              <a:rPr lang="en-US" altLang="nl-BE" sz="2400">
                <a:sym typeface="Symbol" pitchFamily="18" charset="2"/>
              </a:rPr>
              <a:t></a:t>
            </a:r>
            <a:r>
              <a:rPr lang="en-US" altLang="nl-BE" sz="2400"/>
              <a:t>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75251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Object-orientation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types are classes</a:t>
            </a:r>
          </a:p>
          <a:p>
            <a:pPr lvl="1"/>
            <a:r>
              <a:rPr lang="en-US" dirty="0"/>
              <a:t>e.g.,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14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bit_length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/>
              <a:t> == 4</a:t>
            </a:r>
          </a:p>
          <a:p>
            <a:pPr lvl="2"/>
            <a:r>
              <a:rPr lang="en-US" dirty="0">
                <a:latin typeface="Courier New" pitchFamily="49" charset="0"/>
                <a:cs typeface="Courier New" pitchFamily="49" charset="0"/>
              </a:rPr>
              <a:t>14</a:t>
            </a:r>
            <a:r>
              <a:rPr lang="en-US" dirty="0"/>
              <a:t> is an object of class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err="1">
                <a:latin typeface="Courier New" pitchFamily="49" charset="0"/>
                <a:cs typeface="Courier New" pitchFamily="49" charset="0"/>
              </a:rPr>
              <a:t>bit_length</a:t>
            </a:r>
            <a:r>
              <a:rPr lang="en-US" dirty="0"/>
              <a:t> is object method defined in class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  <a:p>
            <a:r>
              <a:rPr lang="en-US" dirty="0"/>
              <a:t>Objects of simple Python types are immutable</a:t>
            </a:r>
          </a:p>
          <a:p>
            <a:pPr lvl="1"/>
            <a:r>
              <a:rPr lang="en-US" dirty="0"/>
              <a:t>Operations/methods instantiate new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98650" y="3615408"/>
            <a:ext cx="439755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You are using objects all the time!</a:t>
            </a:r>
            <a:endParaRPr lang="nl-BE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60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917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versus object identity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Python types</a:t>
            </a:r>
          </a:p>
          <a:p>
            <a:pPr lvl="1"/>
            <a:r>
              <a:rPr lang="en-US" dirty="0"/>
              <a:t>Value identity: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(14 == 14) == True</a:t>
            </a:r>
          </a:p>
          <a:p>
            <a:pPr lvl="1"/>
            <a:r>
              <a:rPr lang="en-US" dirty="0"/>
              <a:t>Object identity: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(14 is 14) == True</a:t>
            </a:r>
          </a:p>
          <a:p>
            <a:pPr lvl="2"/>
            <a:r>
              <a:rPr lang="en-US" dirty="0">
                <a:latin typeface="Calibri" panose="020F0502020204030204" pitchFamily="34" charset="0"/>
                <a:cs typeface="Courier New" pitchFamily="49" charset="0"/>
              </a:rPr>
              <a:t>However, Python version dependent!</a:t>
            </a:r>
          </a:p>
          <a:p>
            <a:r>
              <a:rPr lang="en-US" dirty="0"/>
              <a:t>Other Python types, general classes</a:t>
            </a:r>
          </a:p>
          <a:p>
            <a:pPr lvl="1"/>
            <a:r>
              <a:rPr lang="en-US" dirty="0"/>
              <a:t>e.g., two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dirty="0"/>
              <a:t> objects:</a:t>
            </a:r>
            <a:br>
              <a:rPr lang="en-US" dirty="0"/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a = {'alpha'}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b = {'alpha'}</a:t>
            </a:r>
          </a:p>
          <a:p>
            <a:pPr lvl="2"/>
            <a:r>
              <a:rPr lang="en-US" dirty="0"/>
              <a:t>Value identity: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(a == b) == True</a:t>
            </a:r>
          </a:p>
          <a:p>
            <a:pPr lvl="2"/>
            <a:r>
              <a:rPr lang="en-US" dirty="0"/>
              <a:t>Object identity: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(a is b) == False</a:t>
            </a:r>
            <a:endParaRPr lang="nl-BE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822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your own classes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Class definition:</a:t>
            </a:r>
            <a:br>
              <a:rPr lang="en-US" dirty="0"/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class Point: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 …</a:t>
            </a:r>
          </a:p>
          <a:p>
            <a:r>
              <a:rPr lang="en-US" dirty="0"/>
              <a:t>Objects are instances of classes</a:t>
            </a:r>
          </a:p>
          <a:p>
            <a:pPr lvl="1"/>
            <a:r>
              <a:rPr lang="en-US" dirty="0"/>
              <a:t>instantiated by calling constructor</a:t>
            </a:r>
          </a:p>
          <a:p>
            <a:pPr lvl="1"/>
            <a:r>
              <a:rPr lang="en-US" dirty="0"/>
              <a:t>have</a:t>
            </a:r>
          </a:p>
          <a:p>
            <a:pPr lvl="2"/>
            <a:r>
              <a:rPr lang="en-US" dirty="0"/>
              <a:t>attributes</a:t>
            </a:r>
          </a:p>
          <a:p>
            <a:pPr lvl="2"/>
            <a:r>
              <a:rPr lang="en-US" dirty="0"/>
              <a:t>methods</a:t>
            </a:r>
          </a:p>
          <a:p>
            <a:r>
              <a:rPr lang="en-US" dirty="0"/>
              <a:t>Classes have</a:t>
            </a:r>
          </a:p>
          <a:p>
            <a:pPr lvl="1"/>
            <a:r>
              <a:rPr lang="en-US" dirty="0"/>
              <a:t>attributes</a:t>
            </a:r>
          </a:p>
          <a:p>
            <a:pPr lvl="1"/>
            <a:r>
              <a:rPr lang="en-US" dirty="0"/>
              <a:t>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62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3690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point…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919537" y="1556792"/>
            <a:ext cx="6250429" cy="39703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from math import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sqrt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class Point:</a:t>
            </a: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__(self, x, y):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float(x)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float(y)</a:t>
            </a: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distance(self, other):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return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-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other.x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)**2 +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-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other.y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)**2)</a:t>
            </a: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def 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repr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__(self):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return f'({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}, {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})'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977784" y="3552964"/>
            <a:ext cx="2483883" cy="1384995"/>
            <a:chOff x="7890626" y="2834563"/>
            <a:chExt cx="2483883" cy="1384995"/>
          </a:xfrm>
        </p:grpSpPr>
        <p:sp>
          <p:nvSpPr>
            <p:cNvPr id="6" name="Right Brace 5"/>
            <p:cNvSpPr/>
            <p:nvPr/>
          </p:nvSpPr>
          <p:spPr>
            <a:xfrm>
              <a:off x="7890626" y="3104964"/>
              <a:ext cx="128379" cy="936104"/>
            </a:xfrm>
            <a:prstGeom prst="rightBrace">
              <a:avLst>
                <a:gd name="adj1" fmla="val 8333"/>
                <a:gd name="adj2" fmla="val 48677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173757" y="2834563"/>
              <a:ext cx="2200752" cy="13849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method to</a:t>
              </a:r>
            </a:p>
            <a:p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compute</a:t>
              </a:r>
            </a:p>
            <a:p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distance</a:t>
              </a:r>
              <a:endParaRPr lang="en-US" sz="32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532171" y="5666265"/>
            <a:ext cx="7064157" cy="683731"/>
            <a:chOff x="7486764" y="3542028"/>
            <a:chExt cx="7064157" cy="683731"/>
          </a:xfrm>
        </p:grpSpPr>
        <p:sp>
          <p:nvSpPr>
            <p:cNvPr id="15" name="Right Brace 14"/>
            <p:cNvSpPr/>
            <p:nvPr/>
          </p:nvSpPr>
          <p:spPr>
            <a:xfrm rot="5400000">
              <a:off x="9833157" y="1195635"/>
              <a:ext cx="95180" cy="4787966"/>
            </a:xfrm>
            <a:prstGeom prst="rightBrace">
              <a:avLst>
                <a:gd name="adj1" fmla="val 8333"/>
                <a:gd name="adj2" fmla="val 48677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522202" y="3702539"/>
              <a:ext cx="7028719" cy="5232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creates string representation for </a:t>
              </a:r>
              <a:r>
                <a:rPr lang="en-US" sz="28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Point</a:t>
              </a:r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 object</a:t>
              </a:r>
              <a:endParaRPr lang="en-US" sz="320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63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7320137" y="2553271"/>
            <a:ext cx="3141529" cy="970428"/>
            <a:chOff x="7890626" y="3070640"/>
            <a:chExt cx="3141529" cy="970428"/>
          </a:xfrm>
        </p:grpSpPr>
        <p:sp>
          <p:nvSpPr>
            <p:cNvPr id="18" name="Right Brace 17"/>
            <p:cNvSpPr/>
            <p:nvPr/>
          </p:nvSpPr>
          <p:spPr>
            <a:xfrm>
              <a:off x="7890626" y="3104964"/>
              <a:ext cx="128379" cy="936104"/>
            </a:xfrm>
            <a:prstGeom prst="rightBrace">
              <a:avLst>
                <a:gd name="adj1" fmla="val 8333"/>
                <a:gd name="adj2" fmla="val 48677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173756" y="3070640"/>
              <a:ext cx="2858399" cy="9541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constructor for</a:t>
              </a:r>
              <a:br>
                <a:rPr lang="en-US" sz="2800" dirty="0">
                  <a:solidFill>
                    <a:prstClr val="black"/>
                  </a:solidFill>
                  <a:latin typeface="Calibri"/>
                </a:rPr>
              </a:br>
              <a:r>
                <a:rPr lang="en-US" sz="28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Point</a:t>
              </a:r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 objects</a:t>
              </a:r>
              <a:endParaRPr lang="en-US" sz="3200" dirty="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352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point… or two</a:t>
            </a:r>
            <a:endParaRPr lang="nl-BE" dirty="0"/>
          </a:p>
        </p:txBody>
      </p:sp>
      <p:sp>
        <p:nvSpPr>
          <p:cNvPr id="3" name="TextBox 2"/>
          <p:cNvSpPr txBox="1"/>
          <p:nvPr/>
        </p:nvSpPr>
        <p:spPr>
          <a:xfrm>
            <a:off x="2170688" y="1916833"/>
            <a:ext cx="3534483" cy="2585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main():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 = Point(3, 4)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q = Point(-2, 5)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print(p, q)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p.distance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(q))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12.3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print(p)…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943872" y="1916833"/>
            <a:ext cx="3836324" cy="668125"/>
            <a:chOff x="3419872" y="1916832"/>
            <a:chExt cx="3836324" cy="668125"/>
          </a:xfrm>
        </p:grpSpPr>
        <p:cxnSp>
          <p:nvCxnSpPr>
            <p:cNvPr id="4" name="Straight Arrow Connector 3"/>
            <p:cNvCxnSpPr>
              <a:stCxn id="6" idx="1"/>
            </p:cNvCxnSpPr>
            <p:nvPr/>
          </p:nvCxnSpPr>
          <p:spPr>
            <a:xfrm flipH="1">
              <a:off x="3419872" y="2116887"/>
              <a:ext cx="1080120" cy="4680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4499992" y="1916832"/>
              <a:ext cx="27562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create </a:t>
              </a:r>
              <a:r>
                <a:rPr lang="en-US" sz="2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Point p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 at 3, 4</a:t>
              </a:r>
              <a:endParaRPr lang="nl-BE" sz="20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015880" y="2420889"/>
            <a:ext cx="3842862" cy="474439"/>
            <a:chOff x="3491880" y="1803260"/>
            <a:chExt cx="3842862" cy="474439"/>
          </a:xfrm>
        </p:grpSpPr>
        <p:cxnSp>
          <p:nvCxnSpPr>
            <p:cNvPr id="9" name="Straight Arrow Connector 8"/>
            <p:cNvCxnSpPr>
              <a:stCxn id="10" idx="1"/>
            </p:cNvCxnSpPr>
            <p:nvPr/>
          </p:nvCxnSpPr>
          <p:spPr>
            <a:xfrm flipH="1">
              <a:off x="3491880" y="2003315"/>
              <a:ext cx="1008112" cy="27438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4499992" y="1803260"/>
              <a:ext cx="28347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create </a:t>
              </a:r>
              <a:r>
                <a:rPr lang="en-US" sz="2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Point q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 at -2, 5</a:t>
              </a:r>
              <a:endParaRPr lang="nl-BE" sz="20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015880" y="2882553"/>
            <a:ext cx="4388012" cy="400110"/>
            <a:chOff x="3491880" y="1803260"/>
            <a:chExt cx="4388012" cy="400110"/>
          </a:xfrm>
        </p:grpSpPr>
        <p:cxnSp>
          <p:nvCxnSpPr>
            <p:cNvPr id="17" name="Straight Arrow Connector 16"/>
            <p:cNvCxnSpPr>
              <a:stCxn id="18" idx="1"/>
            </p:cNvCxnSpPr>
            <p:nvPr/>
          </p:nvCxnSpPr>
          <p:spPr>
            <a:xfrm flipH="1">
              <a:off x="3491880" y="2003315"/>
              <a:ext cx="1008112" cy="13719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4499992" y="1803260"/>
              <a:ext cx="33799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access </a:t>
              </a:r>
              <a:r>
                <a:rPr lang="en-US" sz="2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's x- and y-coordinates</a:t>
              </a:r>
              <a:endParaRPr lang="nl-BE" sz="200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170687" y="4604935"/>
            <a:ext cx="3534483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 python point_driver.py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3.0 4.0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(3.0, 4.0) (-2.0, 5.0)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5.0990195136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(12.3, 4.0)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64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4799856" y="3284984"/>
            <a:ext cx="5058391" cy="707886"/>
            <a:chOff x="3275856" y="1715233"/>
            <a:chExt cx="5058391" cy="707886"/>
          </a:xfrm>
        </p:grpSpPr>
        <p:cxnSp>
          <p:nvCxnSpPr>
            <p:cNvPr id="19" name="Straight Arrow Connector 18"/>
            <p:cNvCxnSpPr>
              <a:stCxn id="21" idx="1"/>
            </p:cNvCxnSpPr>
            <p:nvPr/>
          </p:nvCxnSpPr>
          <p:spPr>
            <a:xfrm flipH="1" flipV="1">
              <a:off x="3275856" y="1929525"/>
              <a:ext cx="1224136" cy="1396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4499992" y="1715233"/>
              <a:ext cx="38342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calls </a:t>
              </a:r>
              <a:r>
                <a:rPr lang="en-US" sz="20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</a:t>
              </a:r>
              <a:r>
                <a:rPr lang="en-US" sz="2000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repr</a:t>
              </a:r>
              <a:r>
                <a:rPr lang="en-US" sz="20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__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 method indirectly</a:t>
              </a:r>
            </a:p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on </a:t>
              </a:r>
              <a:r>
                <a:rPr lang="en-US" sz="20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 and </a:t>
              </a:r>
              <a:r>
                <a:rPr lang="en-US" sz="20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q</a:t>
              </a:r>
              <a:endParaRPr lang="nl-BE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159897" y="3943568"/>
            <a:ext cx="4166731" cy="550861"/>
            <a:chOff x="3635896" y="1652509"/>
            <a:chExt cx="4166731" cy="550861"/>
          </a:xfrm>
        </p:grpSpPr>
        <p:cxnSp>
          <p:nvCxnSpPr>
            <p:cNvPr id="23" name="Straight Arrow Connector 22"/>
            <p:cNvCxnSpPr>
              <a:stCxn id="24" idx="1"/>
            </p:cNvCxnSpPr>
            <p:nvPr/>
          </p:nvCxnSpPr>
          <p:spPr>
            <a:xfrm flipH="1" flipV="1">
              <a:off x="3635896" y="1652509"/>
              <a:ext cx="864096" cy="35080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4499992" y="1803260"/>
              <a:ext cx="33026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compute distance from </a:t>
              </a:r>
              <a:r>
                <a:rPr lang="en-US" sz="20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 to </a:t>
              </a:r>
              <a:r>
                <a:rPr lang="en-US" sz="20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q</a:t>
              </a:r>
              <a:endParaRPr lang="nl-BE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168502" y="6207042"/>
            <a:ext cx="770146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distance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method invoked on </a:t>
            </a: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Point p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, with </a:t>
            </a: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Point q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as argument</a:t>
            </a:r>
            <a:endParaRPr lang="nl-BE" sz="240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5159897" y="4328173"/>
            <a:ext cx="2303593" cy="550861"/>
            <a:chOff x="3635896" y="1652509"/>
            <a:chExt cx="2303593" cy="550861"/>
          </a:xfrm>
        </p:grpSpPr>
        <p:cxnSp>
          <p:nvCxnSpPr>
            <p:cNvPr id="27" name="Straight Arrow Connector 26"/>
            <p:cNvCxnSpPr>
              <a:stCxn id="28" idx="1"/>
            </p:cNvCxnSpPr>
            <p:nvPr/>
          </p:nvCxnSpPr>
          <p:spPr>
            <a:xfrm flipH="1" flipV="1">
              <a:off x="3635896" y="1652509"/>
              <a:ext cx="864096" cy="35080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4499992" y="1803260"/>
              <a:ext cx="14394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modifying </a:t>
              </a:r>
              <a:r>
                <a:rPr lang="en-US" sz="20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endParaRPr lang="nl-BE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790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to the point…</a:t>
            </a:r>
            <a:endParaRPr lang="nl-BE" dirty="0"/>
          </a:p>
        </p:txBody>
      </p: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points should not be moved?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65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19537" y="2411010"/>
            <a:ext cx="4182555" cy="39703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class Point:</a:t>
            </a: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__(self, x, y):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__x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float(x)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__y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float(y)</a:t>
            </a: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@property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x(self):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  return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self.__x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@property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y(self):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  return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self.__y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…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152371" y="2925457"/>
            <a:ext cx="3141529" cy="970428"/>
            <a:chOff x="7890626" y="3070640"/>
            <a:chExt cx="3141529" cy="970428"/>
          </a:xfrm>
        </p:grpSpPr>
        <p:sp>
          <p:nvSpPr>
            <p:cNvPr id="6" name="Right Brace 5"/>
            <p:cNvSpPr/>
            <p:nvPr/>
          </p:nvSpPr>
          <p:spPr>
            <a:xfrm>
              <a:off x="7890626" y="3104964"/>
              <a:ext cx="128379" cy="936104"/>
            </a:xfrm>
            <a:prstGeom prst="rightBrace">
              <a:avLst>
                <a:gd name="adj1" fmla="val 8333"/>
                <a:gd name="adj2" fmla="val 48677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173756" y="3070640"/>
              <a:ext cx="2858399" cy="9541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constructor for</a:t>
              </a:r>
              <a:br>
                <a:rPr lang="en-US" sz="2800" dirty="0">
                  <a:solidFill>
                    <a:prstClr val="black"/>
                  </a:solidFill>
                  <a:latin typeface="Calibri"/>
                </a:rPr>
              </a:br>
              <a:r>
                <a:rPr lang="en-US" sz="28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Point</a:t>
              </a:r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 objects</a:t>
              </a:r>
              <a:endParaRPr lang="en-US" sz="32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168009" y="3964742"/>
            <a:ext cx="3125893" cy="966548"/>
            <a:chOff x="7890626" y="3074520"/>
            <a:chExt cx="3125893" cy="966548"/>
          </a:xfrm>
        </p:grpSpPr>
        <p:sp>
          <p:nvSpPr>
            <p:cNvPr id="9" name="Right Brace 8"/>
            <p:cNvSpPr/>
            <p:nvPr/>
          </p:nvSpPr>
          <p:spPr>
            <a:xfrm>
              <a:off x="7890626" y="3104964"/>
              <a:ext cx="128379" cy="936104"/>
            </a:xfrm>
            <a:prstGeom prst="rightBrace">
              <a:avLst>
                <a:gd name="adj1" fmla="val 8333"/>
                <a:gd name="adj2" fmla="val 48677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63366" y="3074520"/>
              <a:ext cx="2853153" cy="9541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getter for object's</a:t>
              </a:r>
              <a:br>
                <a:rPr lang="en-US" sz="2800" dirty="0">
                  <a:solidFill>
                    <a:prstClr val="black"/>
                  </a:solidFill>
                  <a:latin typeface="Calibri"/>
                </a:rPr>
              </a:br>
              <a:r>
                <a:rPr lang="en-US" sz="28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__x</a:t>
              </a:r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 attribute</a:t>
              </a:r>
              <a:endParaRPr lang="en-US" sz="32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168008" y="5127990"/>
            <a:ext cx="3125892" cy="955428"/>
            <a:chOff x="7890626" y="3085640"/>
            <a:chExt cx="3125892" cy="955428"/>
          </a:xfrm>
        </p:grpSpPr>
        <p:sp>
          <p:nvSpPr>
            <p:cNvPr id="12" name="Right Brace 11"/>
            <p:cNvSpPr/>
            <p:nvPr/>
          </p:nvSpPr>
          <p:spPr>
            <a:xfrm>
              <a:off x="7890626" y="3104964"/>
              <a:ext cx="128379" cy="936104"/>
            </a:xfrm>
            <a:prstGeom prst="rightBrace">
              <a:avLst>
                <a:gd name="adj1" fmla="val 8333"/>
                <a:gd name="adj2" fmla="val 48677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142583" y="3085640"/>
              <a:ext cx="2873935" cy="9541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getter for object's</a:t>
              </a:r>
              <a:br>
                <a:rPr lang="en-US" sz="2800" dirty="0">
                  <a:solidFill>
                    <a:prstClr val="black"/>
                  </a:solidFill>
                  <a:latin typeface="Calibri"/>
                </a:rPr>
              </a:br>
              <a:r>
                <a:rPr lang="en-US" sz="28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__y</a:t>
              </a:r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 attribute</a:t>
              </a:r>
              <a:endParaRPr lang="en-US" sz="3200" dirty="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12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definite point</a:t>
            </a:r>
            <a:endParaRPr lang="nl-BE" dirty="0"/>
          </a:p>
        </p:txBody>
      </p:sp>
      <p:sp>
        <p:nvSpPr>
          <p:cNvPr id="3" name="TextBox 2"/>
          <p:cNvSpPr txBox="1"/>
          <p:nvPr/>
        </p:nvSpPr>
        <p:spPr>
          <a:xfrm>
            <a:off x="2170689" y="1916832"/>
            <a:ext cx="2803973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main():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 = Point(3, 4)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12.3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943872" y="1916833"/>
            <a:ext cx="3836324" cy="668125"/>
            <a:chOff x="3419872" y="1916832"/>
            <a:chExt cx="3836324" cy="668125"/>
          </a:xfrm>
        </p:grpSpPr>
        <p:cxnSp>
          <p:nvCxnSpPr>
            <p:cNvPr id="4" name="Straight Arrow Connector 3"/>
            <p:cNvCxnSpPr>
              <a:stCxn id="6" idx="1"/>
            </p:cNvCxnSpPr>
            <p:nvPr/>
          </p:nvCxnSpPr>
          <p:spPr>
            <a:xfrm flipH="1">
              <a:off x="3419872" y="2116887"/>
              <a:ext cx="1080120" cy="4680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4499992" y="1916832"/>
              <a:ext cx="27562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create </a:t>
              </a:r>
              <a:r>
                <a:rPr lang="en-US" sz="2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Point p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 at 3, 4</a:t>
              </a:r>
              <a:endParaRPr lang="nl-BE" sz="20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943872" y="2819253"/>
            <a:ext cx="4231302" cy="400110"/>
            <a:chOff x="3491880" y="1803260"/>
            <a:chExt cx="4231302" cy="400110"/>
          </a:xfrm>
        </p:grpSpPr>
        <p:cxnSp>
          <p:nvCxnSpPr>
            <p:cNvPr id="17" name="Straight Arrow Connector 16"/>
            <p:cNvCxnSpPr>
              <a:stCxn id="18" idx="1"/>
            </p:cNvCxnSpPr>
            <p:nvPr/>
          </p:nvCxnSpPr>
          <p:spPr>
            <a:xfrm flipH="1">
              <a:off x="3491880" y="2003315"/>
              <a:ext cx="1008112" cy="13719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4499992" y="1803260"/>
              <a:ext cx="32231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try to access </a:t>
              </a:r>
              <a:r>
                <a:rPr lang="en-US" sz="2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's x-coordinate</a:t>
              </a:r>
              <a:endParaRPr lang="nl-BE" sz="200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170689" y="4170352"/>
            <a:ext cx="5285421" cy="147732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 python point_driver.py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3.0 4.0</a:t>
            </a:r>
          </a:p>
          <a:p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Traceback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(most recent call last):</a:t>
            </a:r>
          </a:p>
          <a:p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File "&lt;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stdin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&gt;", line 1, in &lt;module&gt;</a:t>
            </a:r>
          </a:p>
          <a:p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AttributeError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can't set attribute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66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031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attributes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39342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Make object attributes "private" by hiding them, by convention, use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__</a:t>
            </a:r>
            <a:r>
              <a:rPr lang="en-US" dirty="0"/>
              <a:t> prefix</a:t>
            </a:r>
            <a:br>
              <a:rPr lang="en-US" dirty="0"/>
            </a:br>
            <a:r>
              <a:rPr lang="en-US" dirty="0" err="1">
                <a:latin typeface="Courier New" pitchFamily="49" charset="0"/>
                <a:cs typeface="Courier New" pitchFamily="49" charset="0"/>
              </a:rPr>
              <a:t>self.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__x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x</a:t>
            </a:r>
            <a:endParaRPr lang="en-US" dirty="0"/>
          </a:p>
          <a:p>
            <a:r>
              <a:rPr lang="en-US" dirty="0"/>
              <a:t>Create getter/setter method to control access to object attributes</a:t>
            </a:r>
            <a:br>
              <a:rPr lang="en-US" dirty="0"/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@property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 err="1"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x(self):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return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self.__x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2063552" y="5949281"/>
            <a:ext cx="810414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Object attribute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can not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accidently be modified, i.e., read-only</a:t>
            </a:r>
            <a:endParaRPr lang="nl-BE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44073" y="4335488"/>
            <a:ext cx="324075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Determine object's state</a:t>
            </a:r>
            <a:endParaRPr lang="nl-BE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67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854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attributes: control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Getter, but no setter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2170689" y="2156664"/>
            <a:ext cx="2803973" cy="2031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main():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 = Point(3, 4)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4.4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11908" y="4521894"/>
            <a:ext cx="5285421" cy="147732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 python point_driver.py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3.0</a:t>
            </a:r>
          </a:p>
          <a:p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Traceback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(most recent call last):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 File "&lt;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stdin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&gt;", line 1, in &lt;module&gt;</a:t>
            </a:r>
          </a:p>
          <a:p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AttributeError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: can't set attribute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02214" y="2708921"/>
            <a:ext cx="381021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Protects against modification</a:t>
            </a:r>
            <a:br>
              <a:rPr lang="nl-BE" sz="2400" dirty="0">
                <a:solidFill>
                  <a:prstClr val="black"/>
                </a:solidFill>
                <a:latin typeface="Calibri"/>
              </a:rPr>
            </a:br>
            <a:r>
              <a:rPr lang="nl-BE" sz="2400" dirty="0">
                <a:solidFill>
                  <a:prstClr val="black"/>
                </a:solidFill>
                <a:latin typeface="Calibri"/>
              </a:rPr>
              <a:t>of </a:t>
            </a:r>
            <a:r>
              <a:rPr lang="nl-BE" sz="2400" dirty="0" err="1">
                <a:solidFill>
                  <a:prstClr val="black"/>
                </a:solidFill>
                <a:latin typeface="Calibri"/>
              </a:rPr>
              <a:t>read-only</a:t>
            </a:r>
            <a:r>
              <a:rPr lang="nl-BE" sz="2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sz="2400" dirty="0" err="1">
                <a:solidFill>
                  <a:prstClr val="black"/>
                </a:solidFill>
                <a:latin typeface="Calibri"/>
              </a:rPr>
              <a:t>attributes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68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201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attribute: setter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Implementing setters improves control, assignment to attribute is "intercepted" by setter method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2279643" y="3356992"/>
            <a:ext cx="4458272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class Point: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@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x.setter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x(self, value):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self.__x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float(value)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6201" y="5471359"/>
            <a:ext cx="708052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E.g., ensures proper type conversion:</a:t>
            </a:r>
            <a:br>
              <a:rPr lang="en-US" sz="2400" dirty="0">
                <a:solidFill>
                  <a:prstClr val="black"/>
                </a:solidFill>
                <a:latin typeface="Calibri"/>
              </a:rPr>
            </a:br>
            <a:r>
              <a:rPr lang="en-US" sz="2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p.x</a:t>
            </a:r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3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results in </a:t>
            </a:r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, not </a:t>
            </a:r>
            <a:r>
              <a:rPr lang="en-US" sz="2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for </a:t>
            </a:r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__x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attribute</a:t>
            </a:r>
            <a:endParaRPr lang="nl-BE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69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120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Non-trivial getter/setter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Derived attribute: coordinates as 2-tuple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70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79643" y="2348880"/>
            <a:ext cx="4458272" cy="39703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class Point: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@property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coords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(self):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return 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@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coords.setter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coords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(self, value):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value[0]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value[1]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 Use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coords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getter/setter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p.coords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p.coords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(3.5, 7.1)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860076" y="2780929"/>
            <a:ext cx="3015330" cy="668125"/>
            <a:chOff x="3419872" y="1916832"/>
            <a:chExt cx="3015330" cy="668125"/>
          </a:xfrm>
        </p:grpSpPr>
        <p:cxnSp>
          <p:nvCxnSpPr>
            <p:cNvPr id="7" name="Straight Arrow Connector 6"/>
            <p:cNvCxnSpPr>
              <a:stCxn id="8" idx="1"/>
            </p:cNvCxnSpPr>
            <p:nvPr/>
          </p:nvCxnSpPr>
          <p:spPr>
            <a:xfrm flipH="1">
              <a:off x="3419872" y="2116887"/>
              <a:ext cx="1080120" cy="4680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4499992" y="1916832"/>
              <a:ext cx="19352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returns a 2-tuple</a:t>
              </a:r>
              <a:endParaRPr lang="nl-BE" sz="20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860077" y="3645024"/>
            <a:ext cx="3404275" cy="648072"/>
            <a:chOff x="3886827" y="1916832"/>
            <a:chExt cx="2858225" cy="648072"/>
          </a:xfrm>
        </p:grpSpPr>
        <p:cxnSp>
          <p:nvCxnSpPr>
            <p:cNvPr id="10" name="Straight Arrow Connector 9"/>
            <p:cNvCxnSpPr>
              <a:stCxn id="11" idx="1"/>
            </p:cNvCxnSpPr>
            <p:nvPr/>
          </p:nvCxnSpPr>
          <p:spPr>
            <a:xfrm flipH="1">
              <a:off x="3886827" y="2116887"/>
              <a:ext cx="932918" cy="44801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4819745" y="1916832"/>
              <a:ext cx="19253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2-tuple as argument</a:t>
              </a:r>
              <a:endParaRPr lang="nl-BE" sz="2000" dirty="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359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object methods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775521" y="1556793"/>
            <a:ext cx="8594019" cy="42473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from math import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isclose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class Point: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on_line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(self, p, q,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tol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=1.0e-6):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if not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isclose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q.x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abs_tol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tol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a = 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q.y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-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)/(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q.x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-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b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- a*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p.x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return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isclose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a*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+ b,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abs_tol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tol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else: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return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isclose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abs_tol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tol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 check whether r is on line defined by p and q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r.on_line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(p, q):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47529" y="6021288"/>
            <a:ext cx="847090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on_line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method invoked on </a:t>
            </a: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Point r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, with </a:t>
            </a: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Point p</a:t>
            </a:r>
            <a:r>
              <a:rPr lang="en-US" sz="2000" dirty="0">
                <a:solidFill>
                  <a:prstClr val="black"/>
                </a:solidFill>
                <a:latin typeface="Calibri"/>
                <a:cs typeface="Courier New" pitchFamily="49" charset="0"/>
              </a:rPr>
              <a:t> and </a:t>
            </a: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as argument</a:t>
            </a:r>
            <a:endParaRPr lang="nl-BE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072530" y="1824771"/>
            <a:ext cx="2548759" cy="400110"/>
            <a:chOff x="3387395" y="1916832"/>
            <a:chExt cx="2548759" cy="400110"/>
          </a:xfrm>
        </p:grpSpPr>
        <p:cxnSp>
          <p:nvCxnSpPr>
            <p:cNvPr id="7" name="Straight Arrow Connector 6"/>
            <p:cNvCxnSpPr>
              <a:stCxn id="8" idx="1"/>
            </p:cNvCxnSpPr>
            <p:nvPr/>
          </p:nvCxnSpPr>
          <p:spPr>
            <a:xfrm flipH="1" flipV="1">
              <a:off x="3387395" y="1916832"/>
              <a:ext cx="1112597" cy="20005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4499992" y="1916832"/>
              <a:ext cx="1436162" cy="400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Python 3.5+</a:t>
              </a:r>
              <a:endParaRPr lang="nl-BE" sz="2000" dirty="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2963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methods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</a:t>
            </a:r>
          </a:p>
          <a:p>
            <a:pPr lvl="1"/>
            <a:r>
              <a:rPr lang="en-US" dirty="0"/>
              <a:t>retrieve information on object</a:t>
            </a:r>
          </a:p>
          <a:p>
            <a:pPr lvl="1"/>
            <a:r>
              <a:rPr lang="en-US" dirty="0"/>
              <a:t>modify or manipulate object</a:t>
            </a:r>
          </a:p>
          <a:p>
            <a:pPr lvl="1"/>
            <a:r>
              <a:rPr lang="en-US" dirty="0"/>
              <a:t>derive information from object with respect to other objects</a:t>
            </a:r>
          </a:p>
          <a:p>
            <a:pPr lvl="1"/>
            <a:r>
              <a:rPr lang="en-US" dirty="0"/>
              <a:t>…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2711625" y="5157193"/>
            <a:ext cx="671914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Determine what objects can do, or can be done with</a:t>
            </a:r>
            <a:endParaRPr lang="nl-BE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72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797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Static methods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919536" y="1556793"/>
            <a:ext cx="6526146" cy="369331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class Point: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@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staticmethod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all_on_line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(p, q, *points):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for r in points: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if not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r.on_line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(p, q):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return False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return True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 check whether p, q, r, v and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w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are on a line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Point.all_on_line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(p, q, r, v, w):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29947" y="5601434"/>
            <a:ext cx="5814733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all_on_line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method invoked on </a:t>
            </a: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Point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class</a:t>
            </a:r>
            <a:br>
              <a:rPr lang="en-US" sz="2000" dirty="0">
                <a:solidFill>
                  <a:prstClr val="black"/>
                </a:solidFill>
                <a:latin typeface="Calibri"/>
              </a:rPr>
            </a:br>
            <a:r>
              <a:rPr lang="en-US" sz="2000" dirty="0">
                <a:solidFill>
                  <a:prstClr val="black"/>
                </a:solidFill>
                <a:latin typeface="Calibri"/>
              </a:rPr>
              <a:t>with </a:t>
            </a: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Point p</a:t>
            </a:r>
            <a:r>
              <a:rPr lang="en-US" sz="2000" dirty="0">
                <a:solidFill>
                  <a:prstClr val="black"/>
                </a:solidFill>
                <a:latin typeface="Calibri"/>
                <a:cs typeface="Courier New" pitchFamily="49" charset="0"/>
              </a:rPr>
              <a:t>, </a:t>
            </a: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2000" dirty="0">
                <a:solidFill>
                  <a:prstClr val="black"/>
                </a:solidFill>
                <a:latin typeface="Calibri"/>
                <a:cs typeface="Courier New" pitchFamily="49" charset="0"/>
              </a:rPr>
              <a:t>, </a:t>
            </a: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</a:t>
            </a:r>
            <a:r>
              <a:rPr lang="en-US" sz="2000" dirty="0">
                <a:solidFill>
                  <a:prstClr val="black"/>
                </a:solidFill>
                <a:latin typeface="Calibri"/>
                <a:cs typeface="Courier New" pitchFamily="49" charset="0"/>
              </a:rPr>
              <a:t>, </a:t>
            </a: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</a:t>
            </a:r>
            <a:r>
              <a:rPr lang="en-US" sz="2000" dirty="0">
                <a:solidFill>
                  <a:prstClr val="black"/>
                </a:solidFill>
                <a:latin typeface="Calibri"/>
                <a:cs typeface="Courier New" pitchFamily="49" charset="0"/>
              </a:rPr>
              <a:t>, </a:t>
            </a:r>
            <a:r>
              <a:rPr lang="en-US" sz="2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w</a:t>
            </a:r>
            <a:r>
              <a:rPr lang="en-US" sz="2000" dirty="0" err="1">
                <a:solidFill>
                  <a:prstClr val="black"/>
                </a:solidFill>
                <a:latin typeface="Calibri"/>
                <a:cs typeface="Courier New" pitchFamily="49" charset="0"/>
              </a:rPr>
              <a:t> as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arguments, class ignored</a:t>
            </a:r>
            <a:endParaRPr lang="nl-BE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73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787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length argument lists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Arbitrary positional arguments: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argv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Arbitrary keyword arguments: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argv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/>
              <a:t>Available as dictionary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919536" y="2255961"/>
            <a:ext cx="4458272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staticmethod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all_on_line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(p, q, *points):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for r in points: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if not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r.on_line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(p, q):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return False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return True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015880" y="2204864"/>
            <a:ext cx="3277532" cy="648072"/>
            <a:chOff x="3491880" y="2204864"/>
            <a:chExt cx="3277532" cy="648072"/>
          </a:xfrm>
        </p:grpSpPr>
        <p:sp>
          <p:nvSpPr>
            <p:cNvPr id="5" name="Rectangle 4"/>
            <p:cNvSpPr/>
            <p:nvPr/>
          </p:nvSpPr>
          <p:spPr>
            <a:xfrm>
              <a:off x="3491880" y="2564904"/>
              <a:ext cx="1008112" cy="28803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580112" y="2204864"/>
              <a:ext cx="11893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alibri"/>
                </a:rPr>
                <a:t>arguments</a:t>
              </a:r>
              <a:endParaRPr lang="nl-BE" dirty="0">
                <a:solidFill>
                  <a:srgbClr val="FF0000"/>
                </a:solidFill>
                <a:latin typeface="Calibri"/>
              </a:endParaRPr>
            </a:p>
          </p:txBody>
        </p:sp>
        <p:cxnSp>
          <p:nvCxnSpPr>
            <p:cNvPr id="8" name="Straight Arrow Connector 7"/>
            <p:cNvCxnSpPr>
              <a:stCxn id="6" idx="1"/>
              <a:endCxn id="5" idx="3"/>
            </p:cNvCxnSpPr>
            <p:nvPr/>
          </p:nvCxnSpPr>
          <p:spPr>
            <a:xfrm flipH="1">
              <a:off x="4499992" y="2389530"/>
              <a:ext cx="1080120" cy="319390"/>
            </a:xfrm>
            <a:prstGeom prst="straightConnector1">
              <a:avLst/>
            </a:prstGeom>
            <a:ln w="158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688564" y="2852936"/>
            <a:ext cx="5003993" cy="1377444"/>
            <a:chOff x="2012163" y="1196752"/>
            <a:chExt cx="5003993" cy="1377444"/>
          </a:xfrm>
        </p:grpSpPr>
        <p:sp>
          <p:nvSpPr>
            <p:cNvPr id="11" name="Rectangle 10"/>
            <p:cNvSpPr/>
            <p:nvPr/>
          </p:nvSpPr>
          <p:spPr>
            <a:xfrm>
              <a:off x="2012163" y="1196752"/>
              <a:ext cx="936104" cy="28803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211688" y="2204864"/>
              <a:ext cx="1804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alibri"/>
                </a:rPr>
                <a:t>available as tuple</a:t>
              </a:r>
              <a:endParaRPr lang="nl-BE" dirty="0">
                <a:solidFill>
                  <a:srgbClr val="FF0000"/>
                </a:solidFill>
                <a:latin typeface="Calibri"/>
              </a:endParaRPr>
            </a:p>
          </p:txBody>
        </p:sp>
        <p:cxnSp>
          <p:nvCxnSpPr>
            <p:cNvPr id="13" name="Straight Arrow Connector 12"/>
            <p:cNvCxnSpPr>
              <a:stCxn id="12" idx="1"/>
              <a:endCxn id="11" idx="3"/>
            </p:cNvCxnSpPr>
            <p:nvPr/>
          </p:nvCxnSpPr>
          <p:spPr>
            <a:xfrm flipH="1" flipV="1">
              <a:off x="2948267" y="1340768"/>
              <a:ext cx="2263421" cy="1048762"/>
            </a:xfrm>
            <a:prstGeom prst="straightConnector1">
              <a:avLst/>
            </a:prstGeom>
            <a:ln w="158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2480904" y="5949280"/>
            <a:ext cx="750352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libri"/>
              </a:rPr>
              <a:t>Note: not specific to object oriented programming</a:t>
            </a:r>
            <a:endParaRPr lang="nl-BE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74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716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elegant solution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Semantics: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dirty="0"/>
              <a:t> if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dirty="0"/>
              <a:t> for all elements in points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More elegant: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all(…)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Similar: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any(…)</a:t>
            </a:r>
            <a:endParaRPr lang="nl-BE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15680" y="2058418"/>
            <a:ext cx="6664004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staticmethod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all_on_line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(p, q, *points):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for r in points: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if not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r.on_line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(p, q):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return False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return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15680" y="4344632"/>
            <a:ext cx="6664004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staticmethod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all_on_line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(p, q, *points):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return all(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r.on_line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(p, q) for r in points)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75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754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interlude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attributes/methods does a class have?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2530729" y="2276872"/>
            <a:ext cx="7215437" cy="341632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&gt;&gt;&gt; from point import Point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&gt;&gt;&gt; p = Point(3.7, 5.1)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&gt;&gt;&gt; 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dir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(p)</a:t>
            </a:r>
            <a:b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['__class__', '__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delattr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__', '__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dict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__', '__doc__',</a:t>
            </a:r>
            <a:b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'__format__', '__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getattribute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__', '__hash__',</a:t>
            </a:r>
            <a:b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'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__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__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', '__module__', '__new__', '__reduce__',</a:t>
            </a:r>
            <a:b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'__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reduce_ex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__', '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__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repr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__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', '__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setattr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__',</a:t>
            </a:r>
            <a:b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'__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__', '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__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__</a:t>
            </a:r>
            <a:r>
              <a:rPr lang="en-US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',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'__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subclasshook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__',</a:t>
            </a:r>
            <a:b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'__</a:t>
            </a:r>
            <a:r>
              <a:rPr lang="en-US" b="1" dirty="0" err="1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weakref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__', '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_</a:t>
            </a:r>
            <a:r>
              <a:rPr lang="en-US" b="1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Point__x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', '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_</a:t>
            </a:r>
            <a:r>
              <a:rPr lang="en-US" b="1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Point__y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',</a:t>
            </a:r>
            <a:b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'</a:t>
            </a:r>
            <a:r>
              <a:rPr lang="en-US" b="1" dirty="0" err="1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all_on_line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', '</a:t>
            </a:r>
            <a:r>
              <a:rPr lang="en-US" b="1" dirty="0" err="1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coords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',</a:t>
            </a:r>
            <a:b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 '</a:t>
            </a:r>
            <a:r>
              <a:rPr lang="en-US" b="1" dirty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distance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', '</a:t>
            </a:r>
            <a:r>
              <a:rPr lang="en-US" b="1" dirty="0" err="1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on_line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', '</a:t>
            </a:r>
            <a:r>
              <a:rPr lang="en-US" b="1" dirty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', '</a:t>
            </a:r>
            <a:r>
              <a:rPr lang="en-US" b="1" dirty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']</a:t>
            </a:r>
          </a:p>
          <a:p>
            <a:endParaRPr lang="en-US" b="1" dirty="0">
              <a:solidFill>
                <a:srgbClr val="EEECE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76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94749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can extend other class</a:t>
            </a:r>
          </a:p>
          <a:p>
            <a:r>
              <a:rPr lang="en-US" dirty="0"/>
              <a:t>New class inherits attributes &amp; methods from parent class</a:t>
            </a:r>
          </a:p>
          <a:p>
            <a:r>
              <a:rPr lang="en-US" dirty="0"/>
              <a:t>New class can implement new methods, define new attributes</a:t>
            </a:r>
          </a:p>
          <a:p>
            <a:r>
              <a:rPr lang="en-US" dirty="0"/>
              <a:t>New method can override methods of parent class</a:t>
            </a:r>
          </a:p>
          <a:p>
            <a:r>
              <a:rPr lang="en-US" dirty="0"/>
              <a:t>New class can inherit from multiple parent classes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77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314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 with mass</a:t>
            </a:r>
            <a:endParaRPr lang="nl-BE" dirty="0"/>
          </a:p>
        </p:txBody>
      </p:sp>
      <p:sp>
        <p:nvSpPr>
          <p:cNvPr id="7" name="TextBox 6"/>
          <p:cNvSpPr txBox="1"/>
          <p:nvPr/>
        </p:nvSpPr>
        <p:spPr>
          <a:xfrm>
            <a:off x="1326382" y="1833382"/>
            <a:ext cx="7053943" cy="34163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PointMass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(Point):</a:t>
            </a: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__(self, x, y, mass):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super().__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__(x, y)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self.__mass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float(mass)</a:t>
            </a: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@property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mass(self):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return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self.__mass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def 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repr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__(self):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return f'{super().__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repr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__(),}: {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self.mass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}'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139770" y="2134556"/>
            <a:ext cx="1970057" cy="1384995"/>
            <a:chOff x="7937245" y="3320988"/>
            <a:chExt cx="1970057" cy="1384995"/>
          </a:xfrm>
        </p:grpSpPr>
        <p:sp>
          <p:nvSpPr>
            <p:cNvPr id="9" name="Right Brace 8"/>
            <p:cNvSpPr/>
            <p:nvPr/>
          </p:nvSpPr>
          <p:spPr>
            <a:xfrm>
              <a:off x="7937245" y="3609019"/>
              <a:ext cx="81760" cy="936105"/>
            </a:xfrm>
            <a:prstGeom prst="rightBrace">
              <a:avLst>
                <a:gd name="adj1" fmla="val 8333"/>
                <a:gd name="adj2" fmla="val 48677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040381" y="3320988"/>
              <a:ext cx="1866921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constructor</a:t>
              </a:r>
              <a:br>
                <a:rPr lang="en-US" sz="2800" dirty="0">
                  <a:solidFill>
                    <a:prstClr val="black"/>
                  </a:solidFill>
                  <a:latin typeface="Calibri"/>
                </a:rPr>
              </a:br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of </a:t>
              </a:r>
              <a:r>
                <a:rPr lang="en-US" sz="28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Point</a:t>
              </a:r>
              <a:br>
                <a:rPr lang="en-US" sz="2800" dirty="0">
                  <a:solidFill>
                    <a:prstClr val="black"/>
                  </a:solidFill>
                  <a:latin typeface="Calibri"/>
                </a:rPr>
              </a:br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overridden</a:t>
              </a:r>
              <a:endParaRPr lang="en-US" sz="32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8139769" y="4582828"/>
            <a:ext cx="3557608" cy="954107"/>
            <a:chOff x="7937245" y="3320988"/>
            <a:chExt cx="3557608" cy="954107"/>
          </a:xfrm>
        </p:grpSpPr>
        <p:sp>
          <p:nvSpPr>
            <p:cNvPr id="12" name="Right Brace 11"/>
            <p:cNvSpPr/>
            <p:nvPr/>
          </p:nvSpPr>
          <p:spPr>
            <a:xfrm>
              <a:off x="7937245" y="3465005"/>
              <a:ext cx="45719" cy="438006"/>
            </a:xfrm>
            <a:prstGeom prst="rightBrace">
              <a:avLst>
                <a:gd name="adj1" fmla="val 8333"/>
                <a:gd name="adj2" fmla="val 48677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040381" y="3320988"/>
              <a:ext cx="3454472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__</a:t>
              </a:r>
              <a:r>
                <a:rPr lang="en-US" sz="28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repr</a:t>
              </a:r>
              <a:r>
                <a:rPr lang="en-US" sz="28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__</a:t>
              </a:r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 method</a:t>
              </a:r>
              <a:br>
                <a:rPr lang="en-US" sz="2800" dirty="0">
                  <a:solidFill>
                    <a:prstClr val="black"/>
                  </a:solidFill>
                  <a:latin typeface="Calibri"/>
                </a:rPr>
              </a:br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of </a:t>
              </a:r>
              <a:r>
                <a:rPr lang="en-US" sz="28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Point </a:t>
              </a:r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overridden</a:t>
              </a:r>
              <a:endParaRPr lang="en-US" sz="32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139770" y="3557872"/>
            <a:ext cx="1906707" cy="970951"/>
            <a:chOff x="7937245" y="3609019"/>
            <a:chExt cx="1906707" cy="970951"/>
          </a:xfrm>
        </p:grpSpPr>
        <p:sp>
          <p:nvSpPr>
            <p:cNvPr id="15" name="Right Brace 14"/>
            <p:cNvSpPr/>
            <p:nvPr/>
          </p:nvSpPr>
          <p:spPr>
            <a:xfrm>
              <a:off x="7937245" y="3609019"/>
              <a:ext cx="81760" cy="936105"/>
            </a:xfrm>
            <a:prstGeom prst="rightBrace">
              <a:avLst>
                <a:gd name="adj1" fmla="val 8333"/>
                <a:gd name="adj2" fmla="val 48677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040381" y="3625863"/>
              <a:ext cx="180357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new object</a:t>
              </a:r>
              <a:br>
                <a:rPr lang="en-US" sz="2800" dirty="0">
                  <a:solidFill>
                    <a:prstClr val="black"/>
                  </a:solidFill>
                  <a:latin typeface="Calibri"/>
                </a:rPr>
              </a:br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method</a:t>
              </a:r>
              <a:endParaRPr lang="en-US" sz="320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261550" y="5817458"/>
            <a:ext cx="7722883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PointMass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objects have </a:t>
            </a: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distance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sz="2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on_line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methods as well</a:t>
            </a:r>
          </a:p>
          <a:p>
            <a:r>
              <a:rPr lang="en-US" sz="2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PointMass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class has </a:t>
            </a:r>
            <a:r>
              <a:rPr lang="en-US" sz="2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all_on_line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methods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78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682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classes &amp; derivation</a:t>
            </a:r>
            <a:endParaRPr lang="nl-BE" dirty="0"/>
          </a:p>
        </p:txBody>
      </p:sp>
      <p:sp>
        <p:nvSpPr>
          <p:cNvPr id="3" name="TextBox 2"/>
          <p:cNvSpPr txBox="1"/>
          <p:nvPr/>
        </p:nvSpPr>
        <p:spPr>
          <a:xfrm>
            <a:off x="1754738" y="2383720"/>
            <a:ext cx="4733988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PointMass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Point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):</a:t>
            </a: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__(self, x, y, mass):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super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().__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__(x, y)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self.__mass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float(mass)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511825" y="1752764"/>
            <a:ext cx="5861109" cy="668125"/>
            <a:chOff x="3419872" y="1916832"/>
            <a:chExt cx="5861109" cy="668125"/>
          </a:xfrm>
        </p:grpSpPr>
        <p:cxnSp>
          <p:nvCxnSpPr>
            <p:cNvPr id="5" name="Straight Arrow Connector 4"/>
            <p:cNvCxnSpPr>
              <a:stCxn id="6" idx="1"/>
            </p:cNvCxnSpPr>
            <p:nvPr/>
          </p:nvCxnSpPr>
          <p:spPr>
            <a:xfrm flipH="1">
              <a:off x="3419872" y="2116887"/>
              <a:ext cx="1080120" cy="4680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4499992" y="1916832"/>
              <a:ext cx="4780989" cy="400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create </a:t>
              </a:r>
              <a:r>
                <a:rPr lang="en-US" sz="2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Point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 is base class for </a:t>
              </a:r>
              <a:r>
                <a:rPr lang="en-US" sz="20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PointMass</a:t>
              </a:r>
              <a:endParaRPr lang="nl-BE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303912" y="3429001"/>
            <a:ext cx="4152612" cy="1172145"/>
            <a:chOff x="4499992" y="1144797"/>
            <a:chExt cx="4152612" cy="1172145"/>
          </a:xfrm>
        </p:grpSpPr>
        <p:cxnSp>
          <p:nvCxnSpPr>
            <p:cNvPr id="8" name="Straight Arrow Connector 7"/>
            <p:cNvCxnSpPr>
              <a:stCxn id="9" idx="0"/>
            </p:cNvCxnSpPr>
            <p:nvPr/>
          </p:nvCxnSpPr>
          <p:spPr>
            <a:xfrm flipH="1" flipV="1">
              <a:off x="4707632" y="1144797"/>
              <a:ext cx="1868666" cy="772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4499992" y="1916832"/>
              <a:ext cx="4152612" cy="400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first call </a:t>
              </a:r>
              <a:r>
                <a:rPr lang="en-US" sz="2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Point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's </a:t>
              </a:r>
              <a:r>
                <a:rPr lang="en-US" sz="2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__</a:t>
              </a:r>
              <a:r>
                <a:rPr lang="en-US" sz="20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init</a:t>
              </a:r>
              <a:r>
                <a:rPr lang="en-US" sz="2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__</a:t>
              </a:r>
              <a:r>
                <a:rPr lang="en-US" sz="2000" dirty="0">
                  <a:solidFill>
                    <a:prstClr val="black"/>
                  </a:solidFill>
                  <a:latin typeface="Calibri"/>
                  <a:cs typeface="Courier New" pitchFamily="49" charset="0"/>
                </a:rPr>
                <a:t> method</a:t>
              </a:r>
              <a:endParaRPr lang="nl-BE" sz="2000" dirty="0">
                <a:solidFill>
                  <a:prstClr val="black"/>
                </a:solidFill>
                <a:latin typeface="Calibri"/>
                <a:cs typeface="Courier New" pitchFamily="49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663469" y="3861048"/>
            <a:ext cx="4086183" cy="1656184"/>
            <a:chOff x="4499992" y="660758"/>
            <a:chExt cx="4086183" cy="1656184"/>
          </a:xfrm>
        </p:grpSpPr>
        <p:cxnSp>
          <p:nvCxnSpPr>
            <p:cNvPr id="13" name="Straight Arrow Connector 12"/>
            <p:cNvCxnSpPr>
              <a:stCxn id="14" idx="0"/>
            </p:cNvCxnSpPr>
            <p:nvPr/>
          </p:nvCxnSpPr>
          <p:spPr>
            <a:xfrm flipH="1" flipV="1">
              <a:off x="5641989" y="660758"/>
              <a:ext cx="901095" cy="12560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4499992" y="1916832"/>
              <a:ext cx="4086183" cy="400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do </a:t>
              </a:r>
              <a:r>
                <a:rPr lang="en-US" sz="20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PointMass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-specific initialization</a:t>
              </a:r>
              <a:endParaRPr lang="nl-BE" sz="2000" dirty="0">
                <a:solidFill>
                  <a:prstClr val="black"/>
                </a:solidFill>
                <a:latin typeface="Calibri"/>
                <a:cs typeface="Courier New" pitchFamily="49" charset="0"/>
              </a:endParaRPr>
            </a:p>
          </p:txBody>
        </p: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79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3176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with mass is still Point</a:t>
            </a:r>
            <a:endParaRPr lang="nl-BE" dirty="0"/>
          </a:p>
        </p:txBody>
      </p:sp>
      <p:sp>
        <p:nvSpPr>
          <p:cNvPr id="3" name="TextBox 2"/>
          <p:cNvSpPr txBox="1"/>
          <p:nvPr/>
        </p:nvSpPr>
        <p:spPr>
          <a:xfrm>
            <a:off x="2170689" y="2178730"/>
            <a:ext cx="3906839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main():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PointMass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(3, 4, 1)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q = Point(-2, 5)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p.mass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p.distance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(q))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519937" y="1700808"/>
            <a:ext cx="4376535" cy="707886"/>
            <a:chOff x="3419872" y="1916832"/>
            <a:chExt cx="4376535" cy="707886"/>
          </a:xfrm>
        </p:grpSpPr>
        <p:cxnSp>
          <p:nvCxnSpPr>
            <p:cNvPr id="4" name="Straight Arrow Connector 3"/>
            <p:cNvCxnSpPr>
              <a:stCxn id="6" idx="1"/>
            </p:cNvCxnSpPr>
            <p:nvPr/>
          </p:nvCxnSpPr>
          <p:spPr>
            <a:xfrm flipH="1">
              <a:off x="3419872" y="2270775"/>
              <a:ext cx="1080120" cy="31418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4499992" y="1916832"/>
              <a:ext cx="329641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create </a:t>
              </a:r>
              <a:r>
                <a:rPr lang="en-US" sz="20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PointMass</a:t>
              </a:r>
              <a:r>
                <a:rPr lang="en-US" sz="2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p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 at 3, 4</a:t>
              </a:r>
              <a:br>
                <a:rPr lang="en-US" sz="2000" dirty="0">
                  <a:solidFill>
                    <a:prstClr val="black"/>
                  </a:solidFill>
                  <a:latin typeface="Calibri"/>
                </a:rPr>
              </a:b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and mass 1</a:t>
              </a:r>
              <a:endParaRPr lang="nl-BE" sz="20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087888" y="2524834"/>
            <a:ext cx="4104456" cy="400110"/>
            <a:chOff x="3563888" y="1907206"/>
            <a:chExt cx="4104456" cy="400110"/>
          </a:xfrm>
        </p:grpSpPr>
        <p:cxnSp>
          <p:nvCxnSpPr>
            <p:cNvPr id="9" name="Straight Arrow Connector 8"/>
            <p:cNvCxnSpPr>
              <a:stCxn id="10" idx="1"/>
            </p:cNvCxnSpPr>
            <p:nvPr/>
          </p:nvCxnSpPr>
          <p:spPr>
            <a:xfrm flipH="1">
              <a:off x="3563888" y="2107261"/>
              <a:ext cx="1269706" cy="1576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4833594" y="1907206"/>
              <a:ext cx="28347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create </a:t>
              </a:r>
              <a:r>
                <a:rPr lang="en-US" sz="2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Point q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 at -2, 5</a:t>
              </a:r>
              <a:endParaRPr lang="nl-BE" sz="20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303913" y="3717034"/>
            <a:ext cx="4927577" cy="720079"/>
            <a:chOff x="3851920" y="2421716"/>
            <a:chExt cx="4927577" cy="720079"/>
          </a:xfrm>
        </p:grpSpPr>
        <p:cxnSp>
          <p:nvCxnSpPr>
            <p:cNvPr id="17" name="Straight Arrow Connector 16"/>
            <p:cNvCxnSpPr>
              <a:stCxn id="18" idx="1"/>
            </p:cNvCxnSpPr>
            <p:nvPr/>
          </p:nvCxnSpPr>
          <p:spPr>
            <a:xfrm flipH="1" flipV="1">
              <a:off x="3851920" y="2421716"/>
              <a:ext cx="648072" cy="5200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4499992" y="2741685"/>
              <a:ext cx="42795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 is a Point, so has </a:t>
              </a:r>
              <a:r>
                <a:rPr lang="en-US" sz="2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distance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 method</a:t>
              </a:r>
              <a:endParaRPr lang="nl-BE" sz="200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211907" y="4521894"/>
            <a:ext cx="3493264" cy="92333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$ python point_driver.py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3.0 4.0 1.0</a:t>
            </a:r>
          </a:p>
          <a:p>
            <a:r>
              <a:rPr lang="en-US" b="1" dirty="0">
                <a:solidFill>
                  <a:srgbClr val="EEECE1"/>
                </a:solidFill>
                <a:latin typeface="Courier New" pitchFamily="49" charset="0"/>
                <a:cs typeface="Courier New" pitchFamily="49" charset="0"/>
              </a:rPr>
              <a:t>5.09902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80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851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attributes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919537" y="1556792"/>
            <a:ext cx="7077579" cy="39703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PointMass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(Point):</a:t>
            </a: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default_mass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1.0</a:t>
            </a: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__(self, x, y, mass=None):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super().__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__(x, y)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if mass is not None: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self.__mass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float(mass)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else: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self.__mass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PointMass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.__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default_mass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@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classmethod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set_default_mass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cls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mass):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cls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.__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default_mass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float(mass)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452991" y="4590257"/>
            <a:ext cx="3082502" cy="1200329"/>
            <a:chOff x="7911408" y="2970076"/>
            <a:chExt cx="3082502" cy="1200329"/>
          </a:xfrm>
        </p:grpSpPr>
        <p:sp>
          <p:nvSpPr>
            <p:cNvPr id="14" name="Right Brace 13"/>
            <p:cNvSpPr/>
            <p:nvPr/>
          </p:nvSpPr>
          <p:spPr>
            <a:xfrm>
              <a:off x="7911408" y="3104964"/>
              <a:ext cx="119193" cy="801966"/>
            </a:xfrm>
            <a:prstGeom prst="rightBrace">
              <a:avLst>
                <a:gd name="adj1" fmla="val 8333"/>
                <a:gd name="adj2" fmla="val 48677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228409" y="2970076"/>
              <a:ext cx="2765501" cy="1200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prstClr val="black"/>
                  </a:solidFill>
                  <a:latin typeface="Calibri"/>
                </a:rPr>
                <a:t>setter for class'</a:t>
              </a:r>
              <a:br>
                <a:rPr lang="en-US" sz="2400" dirty="0">
                  <a:solidFill>
                    <a:prstClr val="black"/>
                  </a:solidFill>
                  <a:latin typeface="Calibri"/>
                </a:rPr>
              </a:br>
              <a:r>
                <a:rPr lang="en-US" sz="24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__</a:t>
              </a:r>
              <a:r>
                <a:rPr lang="en-US" sz="24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default_mass</a:t>
              </a:r>
              <a:br>
                <a:rPr lang="en-US" sz="24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</a:br>
              <a:r>
                <a:rPr lang="en-US" sz="2400" dirty="0">
                  <a:solidFill>
                    <a:prstClr val="black"/>
                  </a:solidFill>
                  <a:latin typeface="Calibri"/>
                </a:rPr>
                <a:t>attribute</a:t>
              </a:r>
              <a:endParaRPr lang="en-US" sz="28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490425" y="1842869"/>
            <a:ext cx="3000555" cy="830997"/>
            <a:chOff x="7793229" y="3675218"/>
            <a:chExt cx="3000555" cy="830997"/>
          </a:xfrm>
        </p:grpSpPr>
        <p:sp>
          <p:nvSpPr>
            <p:cNvPr id="17" name="Right Brace 16"/>
            <p:cNvSpPr/>
            <p:nvPr/>
          </p:nvSpPr>
          <p:spPr>
            <a:xfrm>
              <a:off x="7793229" y="3897051"/>
              <a:ext cx="81760" cy="387333"/>
            </a:xfrm>
            <a:prstGeom prst="rightBrace">
              <a:avLst>
                <a:gd name="adj1" fmla="val 8333"/>
                <a:gd name="adj2" fmla="val 48677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028283" y="3675218"/>
              <a:ext cx="2765501" cy="830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prstClr val="black"/>
                  </a:solidFill>
                  <a:latin typeface="Calibri"/>
                </a:rPr>
                <a:t>class variable</a:t>
              </a:r>
              <a:br>
                <a:rPr lang="en-US" sz="2400" dirty="0">
                  <a:solidFill>
                    <a:prstClr val="black"/>
                  </a:solidFill>
                  <a:latin typeface="Calibri"/>
                </a:rPr>
              </a:br>
              <a:r>
                <a:rPr lang="en-US" sz="24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__</a:t>
              </a:r>
              <a:r>
                <a:rPr lang="en-US" sz="24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default_mass</a:t>
              </a:r>
              <a:endParaRPr lang="en-US" sz="280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706482" y="5910371"/>
            <a:ext cx="3749559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libri"/>
              </a:rPr>
              <a:t>Determine state of class</a:t>
            </a:r>
            <a:endParaRPr lang="nl-BE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56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those methods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Object methods</a:t>
            </a:r>
          </a:p>
          <a:p>
            <a:pPr lvl="1"/>
            <a:r>
              <a:rPr lang="en-US" dirty="0"/>
              <a:t>work on individual objects</a:t>
            </a:r>
          </a:p>
          <a:p>
            <a:pPr lvl="1"/>
            <a:r>
              <a:rPr lang="en-US" dirty="0"/>
              <a:t>take object as first argument (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self</a:t>
            </a:r>
            <a:r>
              <a:rPr lang="en-US" dirty="0"/>
              <a:t>)</a:t>
            </a:r>
          </a:p>
          <a:p>
            <a:r>
              <a:rPr lang="en-US" dirty="0"/>
              <a:t>Class methods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classmethod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/>
              <a:t>work at class level</a:t>
            </a:r>
          </a:p>
          <a:p>
            <a:pPr lvl="2"/>
            <a:r>
              <a:rPr lang="en-US" dirty="0"/>
              <a:t>take class as first argument 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cls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staticmethod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/>
              <a:t>work at class level</a:t>
            </a:r>
          </a:p>
          <a:p>
            <a:pPr lvl="2"/>
            <a:r>
              <a:rPr lang="en-US" dirty="0"/>
              <a:t>ignores object or class it is called on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82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350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B8C83-01B0-4113-AB50-1A35BC180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point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055E-FC8C-4C85-910D-1BF897FE1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 representation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  <a:r>
              <a:rPr lang="en-US" dirty="0"/>
              <a:t>: for development, debugging, unambiguous</a:t>
            </a:r>
          </a:p>
          <a:p>
            <a:pPr lvl="2"/>
            <a:r>
              <a:rPr lang="en-US" dirty="0"/>
              <a:t>called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!r</a:t>
            </a:r>
            <a:r>
              <a:rPr lang="en-US" dirty="0"/>
              <a:t> conversion in f-strings</a:t>
            </a:r>
          </a:p>
          <a:p>
            <a:pPr lvl="2"/>
            <a:r>
              <a:rPr lang="en-US" dirty="0"/>
              <a:t>called on </a:t>
            </a:r>
            <a:r>
              <a:rPr lang="en-US" dirty="0" err="1"/>
              <a:t>iPython</a:t>
            </a:r>
            <a:r>
              <a:rPr lang="en-US" dirty="0"/>
              <a:t>/</a:t>
            </a:r>
            <a:r>
              <a:rPr lang="en-US" dirty="0" err="1"/>
              <a:t>Jupyter</a:t>
            </a:r>
            <a:r>
              <a:rPr lang="en-US" dirty="0"/>
              <a:t> command line</a:t>
            </a:r>
          </a:p>
          <a:p>
            <a:pPr lvl="2"/>
            <a:r>
              <a:rPr lang="en-US" dirty="0"/>
              <a:t>called by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str()</a:t>
            </a:r>
            <a:r>
              <a:rPr lang="en-US" dirty="0"/>
              <a:t> if no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__str__ ()</a:t>
            </a:r>
            <a:r>
              <a:rPr lang="en-US" dirty="0"/>
              <a:t> defined</a:t>
            </a:r>
          </a:p>
          <a:p>
            <a:pPr lvl="2"/>
            <a:r>
              <a:rPr lang="en-US" dirty="0"/>
              <a:t>called by debug f-string (Python 3.8+)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  <a:r>
              <a:rPr lang="en-US" dirty="0"/>
              <a:t>: for human consumption</a:t>
            </a:r>
          </a:p>
          <a:p>
            <a:pPr lvl="2"/>
            <a:r>
              <a:rPr lang="en-US" dirty="0"/>
              <a:t>called by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str()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!s</a:t>
            </a:r>
            <a:r>
              <a:rPr lang="en-US" dirty="0"/>
              <a:t> conversion in f-strings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34CAA-15CA-4DCF-871E-AAD11718F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8495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5A345-C57E-4AA9-A7C5-CD644C0D1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D7F07-815C-4334-BF68-47557797B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(named) tuples</a:t>
            </a:r>
          </a:p>
          <a:p>
            <a:pPr lvl="1"/>
            <a:r>
              <a:rPr lang="en-US" dirty="0"/>
              <a:t>Lightweight  </a:t>
            </a:r>
            <a:r>
              <a:rPr lang="en-US" b="1" dirty="0">
                <a:solidFill>
                  <a:srgbClr val="92D050"/>
                </a:solidFill>
                <a:sym typeface="Symbol" panose="05050102010706020507" pitchFamily="18" charset="2"/>
              </a:rPr>
              <a:t></a:t>
            </a:r>
            <a:endParaRPr lang="en-US" b="1" dirty="0">
              <a:solidFill>
                <a:srgbClr val="92D050"/>
              </a:solidFill>
            </a:endParaRPr>
          </a:p>
          <a:p>
            <a:pPr lvl="1"/>
            <a:r>
              <a:rPr lang="en-US" dirty="0"/>
              <a:t>No methods </a:t>
            </a:r>
            <a:r>
              <a:rPr lang="en-US" b="1" i="1" dirty="0">
                <a:solidFill>
                  <a:srgbClr val="C00000"/>
                </a:solidFill>
                <a:sym typeface="Symbol" panose="05050102010706020507" pitchFamily="18" charset="2"/>
              </a:rPr>
              <a:t></a:t>
            </a:r>
            <a:endParaRPr lang="en-US" b="1" i="1" dirty="0">
              <a:solidFill>
                <a:srgbClr val="C00000"/>
              </a:solidFill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@dataclass</a:t>
            </a:r>
            <a:r>
              <a:rPr lang="en-US" dirty="0">
                <a:cs typeface="Courier New" panose="02070309020205020404" pitchFamily="49" charset="0"/>
              </a:rPr>
              <a:t> (P</a:t>
            </a:r>
            <a:r>
              <a:rPr lang="en-US" dirty="0"/>
              <a:t>ython 3.7+)</a:t>
            </a:r>
          </a:p>
          <a:p>
            <a:pPr lvl="1"/>
            <a:r>
              <a:rPr lang="en-US" dirty="0"/>
              <a:t>Methods</a:t>
            </a:r>
            <a:r>
              <a:rPr lang="en-US" b="1" dirty="0">
                <a:solidFill>
                  <a:srgbClr val="92D050"/>
                </a:solidFill>
                <a:sym typeface="Symbol" panose="05050102010706020507" pitchFamily="18" charset="2"/>
              </a:rPr>
              <a:t> </a:t>
            </a:r>
            <a:endParaRPr lang="en-US" dirty="0"/>
          </a:p>
          <a:p>
            <a:pPr lvl="1"/>
            <a:r>
              <a:rPr lang="en-US" dirty="0"/>
              <a:t>No private attributes, no validation, no factories </a:t>
            </a:r>
            <a:r>
              <a:rPr lang="en-US" b="1" i="1" dirty="0">
                <a:solidFill>
                  <a:srgbClr val="C00000"/>
                </a:solidFill>
                <a:sym typeface="Symbol" panose="05050102010706020507" pitchFamily="18" charset="2"/>
              </a:rPr>
              <a:t></a:t>
            </a:r>
            <a:endParaRPr lang="en-US" dirty="0"/>
          </a:p>
          <a:p>
            <a:r>
              <a:rPr lang="en-US" dirty="0" err="1"/>
              <a:t>attr</a:t>
            </a:r>
            <a:endParaRPr lang="en-US" dirty="0"/>
          </a:p>
          <a:p>
            <a:pPr lvl="1"/>
            <a:r>
              <a:rPr lang="en-US" dirty="0"/>
              <a:t>Many features out of the box </a:t>
            </a:r>
            <a:r>
              <a:rPr lang="en-US" b="1" dirty="0">
                <a:solidFill>
                  <a:srgbClr val="92D050"/>
                </a:solidFill>
                <a:sym typeface="Symbol" panose="05050102010706020507" pitchFamily="18" charset="2"/>
              </a:rPr>
              <a:t> </a:t>
            </a:r>
            <a:endParaRPr lang="en-US" dirty="0"/>
          </a:p>
          <a:p>
            <a:pPr lvl="1"/>
            <a:r>
              <a:rPr lang="en-US" dirty="0"/>
              <a:t>Third party </a:t>
            </a:r>
            <a:r>
              <a:rPr lang="en-US" b="1" i="1" dirty="0">
                <a:solidFill>
                  <a:srgbClr val="C00000"/>
                </a:solidFill>
                <a:sym typeface="Symbol" panose="05050102010706020507" pitchFamily="18" charset="2"/>
              </a:rPr>
              <a:t>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DD06F-7EA0-4C1C-B62C-25A71BE3F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1419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723DC-ABAE-47E1-BFCD-33B912E40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F4440-43E5-449E-9B8A-32E4AB8F9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dataclasses</a:t>
            </a:r>
            <a:r>
              <a:rPr lang="en-US" dirty="0"/>
              <a:t>:</a:t>
            </a:r>
            <a:br>
              <a:rPr lang="en-US" dirty="0"/>
            </a:br>
            <a:r>
              <a:rPr lang="en-US" sz="1600" dirty="0">
                <a:hlinkClick r:id="rId2"/>
              </a:rPr>
              <a:t>https://realpython.com/python-data-classes/#more-flexible-data-classes</a:t>
            </a:r>
            <a:r>
              <a:rPr lang="en-US" sz="1600" dirty="0"/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8EC45-6033-4D55-AD7E-3C1CED49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4042144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representation:</a:t>
            </a:r>
            <a:br>
              <a:rPr lang="en-US" dirty="0"/>
            </a:br>
            <a:r>
              <a:rPr lang="en-US" dirty="0"/>
              <a:t>Python classes case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hlinkClick r:id="rId2"/>
              </a:rPr>
              <a:t>https://github.com/gjbex/Python-software-engineering/tree/master/source-code/design-patterns/finite-state-parser</a:t>
            </a:r>
            <a:r>
              <a:rPr lang="en-US" sz="16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86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279642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OO: data abstraction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2"/>
          </p:nvPr>
        </p:nvSpPr>
        <p:spPr>
          <a:xfrm>
            <a:off x="6172200" y="2896344"/>
            <a:ext cx="4038600" cy="3556992"/>
          </a:xfrm>
        </p:spPr>
        <p:txBody>
          <a:bodyPr/>
          <a:lstStyle/>
          <a:p>
            <a:r>
              <a:rPr lang="en-US" dirty="0"/>
              <a:t>Data consists of multiple blocks</a:t>
            </a:r>
          </a:p>
          <a:p>
            <a:r>
              <a:rPr lang="en-US" dirty="0"/>
              <a:t>Blocks have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One or more data values</a:t>
            </a:r>
          </a:p>
          <a:p>
            <a:r>
              <a:rPr lang="en-US" dirty="0"/>
              <a:t>How to represent?</a:t>
            </a:r>
          </a:p>
          <a:p>
            <a:pPr lvl="1"/>
            <a:r>
              <a:rPr lang="en-US" dirty="0"/>
              <a:t>Python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91544" y="1447032"/>
            <a:ext cx="3355406" cy="5078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begin block_1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0.322617473156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0.369558068115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0.732467264353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0.584389170786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 block_1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begin block_2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0.0705959106085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0.65856743041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0.526762713499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0.823193820644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 block_2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begin block_3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0.476180897605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0.783168943997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0.0172156882251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0.755582680088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 block_3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591944" y="1447032"/>
            <a:ext cx="1115248" cy="1765945"/>
            <a:chOff x="4067944" y="1447031"/>
            <a:chExt cx="1115248" cy="1765945"/>
          </a:xfrm>
        </p:grpSpPr>
        <p:sp>
          <p:nvSpPr>
            <p:cNvPr id="11" name="Right Brace 10"/>
            <p:cNvSpPr/>
            <p:nvPr/>
          </p:nvSpPr>
          <p:spPr>
            <a:xfrm>
              <a:off x="4067944" y="1447031"/>
              <a:ext cx="360040" cy="1765945"/>
            </a:xfrm>
            <a:prstGeom prst="righ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499992" y="2132856"/>
              <a:ext cx="683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block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87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1211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Block: attributes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72200" y="1783358"/>
            <a:ext cx="40386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"abstract" Block has attributes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__name</a:t>
            </a:r>
            <a:r>
              <a:rPr lang="en-US" dirty="0"/>
              <a:t>: string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__data</a:t>
            </a:r>
            <a:r>
              <a:rPr lang="en-US" dirty="0"/>
              <a:t>: list</a:t>
            </a:r>
          </a:p>
          <a:p>
            <a:r>
              <a:rPr lang="en-US" dirty="0"/>
              <a:t>Block instance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block1</a:t>
            </a:r>
            <a:r>
              <a:rPr lang="en-US" dirty="0"/>
              <a:t> has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'my block'</a:t>
            </a:r>
            <a:r>
              <a:rPr lang="en-US" dirty="0"/>
              <a:t> as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_name</a:t>
            </a:r>
          </a:p>
          <a:p>
            <a:pPr lvl="1"/>
            <a:r>
              <a:rPr lang="en-US" dirty="0"/>
              <a:t>No values (yet) as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_data</a:t>
            </a:r>
          </a:p>
          <a:p>
            <a:r>
              <a:rPr lang="en-US" dirty="0">
                <a:cs typeface="Courier New" pitchFamily="49" charset="0"/>
              </a:rPr>
              <a:t>Store some data,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block1</a:t>
            </a:r>
            <a:r>
              <a:rPr lang="en-US" dirty="0">
                <a:cs typeface="Courier New" pitchFamily="49" charset="0"/>
              </a:rPr>
              <a:t> now has two data values: 3.14 and -7.18</a:t>
            </a:r>
          </a:p>
          <a:p>
            <a:r>
              <a:rPr lang="en-US" dirty="0">
                <a:cs typeface="Courier New" pitchFamily="49" charset="0"/>
              </a:rPr>
              <a:t>Create new block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block2</a:t>
            </a:r>
            <a:endParaRPr lang="en-US" dirty="0">
              <a:cs typeface="Courier New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63553" y="1958875"/>
            <a:ext cx="3887603" cy="1077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1 class Block: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2  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__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__(self, name):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3     </a:t>
            </a:r>
            <a:r>
              <a:rPr lang="en-US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self.__name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name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4     </a:t>
            </a:r>
            <a:r>
              <a:rPr lang="en-US" sz="16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self.__data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[]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63553" y="3273603"/>
            <a:ext cx="3887603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block1 = Block('my block')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1544" y="4395535"/>
            <a:ext cx="4011034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block1.__data.append(3.14)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block1.__data.append(-7.18)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3552" y="5433843"/>
            <a:ext cx="3764172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block2 = Block('another')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3553" y="6207696"/>
            <a:ext cx="805137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Object is container for specific data: attribute values hold data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999657" y="3612157"/>
            <a:ext cx="2548205" cy="513348"/>
            <a:chOff x="1475656" y="3429000"/>
            <a:chExt cx="2548205" cy="513348"/>
          </a:xfrm>
        </p:grpSpPr>
        <p:cxnSp>
          <p:nvCxnSpPr>
            <p:cNvPr id="11" name="Straight Arrow Connector 10"/>
            <p:cNvCxnSpPr/>
            <p:nvPr/>
          </p:nvCxnSpPr>
          <p:spPr>
            <a:xfrm flipH="1" flipV="1">
              <a:off x="1475656" y="3429000"/>
              <a:ext cx="504056" cy="2880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979712" y="3573016"/>
              <a:ext cx="2044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  <a:latin typeface="Calibri"/>
                </a:rPr>
                <a:t>object of type Block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999657" y="5700389"/>
            <a:ext cx="3267633" cy="513348"/>
            <a:chOff x="1475656" y="3429000"/>
            <a:chExt cx="3267633" cy="513348"/>
          </a:xfrm>
        </p:grpSpPr>
        <p:cxnSp>
          <p:nvCxnSpPr>
            <p:cNvPr id="18" name="Straight Arrow Connector 17"/>
            <p:cNvCxnSpPr/>
            <p:nvPr/>
          </p:nvCxnSpPr>
          <p:spPr>
            <a:xfrm flipH="1" flipV="1">
              <a:off x="1475656" y="3429000"/>
              <a:ext cx="504056" cy="2880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979712" y="3573016"/>
              <a:ext cx="27635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  <a:latin typeface="Calibri"/>
                </a:rPr>
                <a:t>second object of type Block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639616" y="1268761"/>
            <a:ext cx="669401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Class is abstract definition: attributes represent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88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752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" grpId="0" animBg="1"/>
      <p:bldP spid="6" grpId="0" animBg="1"/>
      <p:bldP spid="7" grpId="0" animBg="1"/>
      <p:bldP spid="8" grpId="0" animBg="1"/>
      <p:bldP spid="9" grpId="0" animBg="1"/>
      <p:bldP spid="20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Block: methods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we want to do with a block?</a:t>
            </a:r>
          </a:p>
          <a:p>
            <a:pPr lvl="1"/>
            <a:r>
              <a:rPr lang="en-US" dirty="0"/>
              <a:t>Convert it to a string</a:t>
            </a:r>
          </a:p>
          <a:p>
            <a:pPr lvl="1"/>
            <a:r>
              <a:rPr lang="en-US" dirty="0"/>
              <a:t>Retrieve its name</a:t>
            </a:r>
          </a:p>
          <a:p>
            <a:pPr lvl="1"/>
            <a:r>
              <a:rPr lang="en-US" dirty="0"/>
              <a:t>Add data to it</a:t>
            </a:r>
          </a:p>
          <a:p>
            <a:pPr lvl="1"/>
            <a:r>
              <a:rPr lang="en-US" dirty="0"/>
              <a:t>Sort its data</a:t>
            </a:r>
          </a:p>
          <a:p>
            <a:pPr lvl="1"/>
            <a:r>
              <a:rPr lang="en-US" dirty="0"/>
              <a:t>Retrieve its data</a:t>
            </a:r>
          </a:p>
          <a:p>
            <a:r>
              <a:rPr lang="en-US" dirty="0"/>
              <a:t>How?</a:t>
            </a:r>
          </a:p>
          <a:p>
            <a:pPr lvl="1"/>
            <a:r>
              <a:rPr lang="en-US" dirty="0"/>
              <a:t>Define methods for the class Block</a:t>
            </a:r>
          </a:p>
          <a:p>
            <a:pPr lvl="1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991545" y="6063680"/>
            <a:ext cx="821801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Class is abstract definition: methods represent actions on objects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89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3286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Block: method implementations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19536" y="1196752"/>
            <a:ext cx="7837402" cy="5509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1 class Block: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2  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__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__(self, name):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3     </a:t>
            </a:r>
            <a:r>
              <a:rPr lang="en-US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self.__name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name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4     </a:t>
            </a:r>
            <a:r>
              <a:rPr lang="en-US" sz="16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self.__data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[]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5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6  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__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__(self):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7     header =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f'begin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{self.name()}'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8     data = '\n\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t'.join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([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(item) for item in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self.data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()])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9     footer =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f'end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{self.name()}'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10     return f'{header}\n\t{data}\n{footer}'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11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12  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name(self):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13     return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self.__name</a:t>
            </a:r>
            <a:endParaRPr lang="en-US" sz="16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14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15  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add_data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(self, data):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16     self._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data.append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(data)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17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18  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sort_data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(self):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19     self._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data.sort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20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21  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data(self):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22     return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self.__data</a:t>
            </a:r>
            <a:endParaRPr lang="en-US" sz="16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2" y="4005064"/>
            <a:ext cx="3270447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block1.add_data(12.5)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print(block1.name())</a:t>
            </a:r>
          </a:p>
          <a:p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my_block</a:t>
            </a:r>
            <a:endParaRPr lang="en-US" sz="16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print(block1)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begin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my_block</a:t>
            </a:r>
            <a:endParaRPr lang="en-US" sz="16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3.14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-7.18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12.5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my_block</a:t>
            </a:r>
            <a:endParaRPr lang="en-US" sz="16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90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691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functional programming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hlinkClick r:id="rId2"/>
              </a:rPr>
              <a:t>https://github.com/gjbex/Python-software-engineering/tree/master/source-code/operators-functools</a:t>
            </a:r>
            <a:endParaRPr lang="en-US" sz="1600" dirty="0"/>
          </a:p>
          <a:p>
            <a:r>
              <a:rPr lang="en-US" sz="1600" dirty="0">
                <a:hlinkClick r:id="rId3"/>
              </a:rPr>
              <a:t>https://github.com/gjbex/Python-software-engineering/tree/master/source-code/iterators</a:t>
            </a:r>
            <a:endParaRPr lang="en-US" sz="1600" dirty="0"/>
          </a:p>
          <a:p>
            <a:r>
              <a:rPr lang="en-US" sz="1600" dirty="0">
                <a:hlinkClick r:id="rId4"/>
              </a:rPr>
              <a:t>https://github.com/gjbex/Python-software-engineering/tree/master/source-code/functional-programming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359586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CFF39-18C2-4386-86AB-DE58259B3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D04FF-AF7C-4993-AEA9-307D762BA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Side effect free</a:t>
            </a:r>
          </a:p>
          <a:p>
            <a:pPr lvl="1"/>
            <a:r>
              <a:rPr lang="en-US" dirty="0"/>
              <a:t>Less bugs</a:t>
            </a:r>
          </a:p>
          <a:p>
            <a:pPr lvl="1"/>
            <a:r>
              <a:rPr lang="en-US" dirty="0"/>
              <a:t>Easier to reason on</a:t>
            </a:r>
          </a:p>
          <a:p>
            <a:r>
              <a:rPr lang="en-US" dirty="0"/>
              <a:t>Natural</a:t>
            </a:r>
          </a:p>
          <a:p>
            <a:pPr lvl="1"/>
            <a:r>
              <a:rPr lang="en-US" dirty="0"/>
              <a:t>Resembles mathematics</a:t>
            </a:r>
          </a:p>
          <a:p>
            <a:r>
              <a:rPr lang="en-US" dirty="0"/>
              <a:t>Promotes concurrency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258C8-4C22-4EB6-BB82-281282E1A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92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9184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a simple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Two ways to sort</a:t>
            </a:r>
          </a:p>
          <a:p>
            <a:pPr lvl="1"/>
            <a:r>
              <a:rPr lang="en-US" dirty="0"/>
              <a:t>Create new list: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sorted(…)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In-place sort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list.sort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/>
              <a:t> method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Sorts in ascending order, add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reverse=True</a:t>
            </a:r>
            <a:r>
              <a:rPr lang="en-US" dirty="0"/>
              <a:t> for descending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593" y="2564904"/>
            <a:ext cx="5147563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data = [3.1745, 18.14, -6.49043]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sorted(data)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[-6.49043, 3.1745, 18.14]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593" y="4005065"/>
            <a:ext cx="5147563" cy="12003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data = [3.1745, 18.14, -6.49043]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data.sort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print(data)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[-6.49043, 3.1745, 18.14]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93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474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4" grpId="0" animBg="1"/>
      <p:bldP spid="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a complex list: key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of tuples, e.g., word counts</a:t>
            </a:r>
          </a:p>
          <a:p>
            <a:endParaRPr lang="en-US" dirty="0"/>
          </a:p>
          <a:p>
            <a:r>
              <a:rPr lang="en-US" dirty="0"/>
              <a:t>Sort by</a:t>
            </a:r>
          </a:p>
          <a:p>
            <a:pPr lvl="1"/>
            <a:r>
              <a:rPr lang="en-US" dirty="0"/>
              <a:t>Word:</a:t>
            </a:r>
          </a:p>
          <a:p>
            <a:pPr lvl="1">
              <a:buNone/>
            </a:pPr>
            <a:endParaRPr lang="en-US" dirty="0"/>
          </a:p>
          <a:p>
            <a:pPr lvl="1"/>
            <a:r>
              <a:rPr lang="en-US" dirty="0"/>
              <a:t>Count:</a:t>
            </a:r>
          </a:p>
          <a:p>
            <a:r>
              <a:rPr lang="en-US" dirty="0"/>
              <a:t>Simpler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7609" y="2267580"/>
            <a:ext cx="7491153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data = [('table', 15), ('chair', 5), ('bed', 19)]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7609" y="3249850"/>
            <a:ext cx="7491153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sorted(data,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key=lambda x: x[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[('bed', 19), ('chair', 5), ('table', 15)]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7609" y="4329970"/>
            <a:ext cx="7491153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sorted(data,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key=lambda x: x[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[('chair', 5), ('table', 15) , ('bed', 19)]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7609" y="5592326"/>
            <a:ext cx="7491153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from operator import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itemgetter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sorted(data,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key=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itemgetter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[('bed', 19), ('chair', 5), ('table', 15)]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94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967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4" grpId="0" animBg="1"/>
      <p:bldP spid="5" grpId="0" animBg="1"/>
      <p:bldP spid="6" grpId="0" animBg="1"/>
      <p:bldP spid="7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functional: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comprehensions: construct list from elements of other list by applying function</a:t>
            </a:r>
          </a:p>
          <a:p>
            <a:pPr lvl="1"/>
            <a:r>
              <a:rPr lang="en-US" dirty="0"/>
              <a:t>E.g.,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(x) for x in [0.15, 3.145]]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== ['0.15', '3.145']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19536" y="3573016"/>
            <a:ext cx="8424936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data = [3.1745, 18.14, -6.49043]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print(','.join([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(number) for number in data]))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3.1745,18.14,-6.49043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9536" y="5602014"/>
            <a:ext cx="8496945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data = [3.1745, 18.14, -6.49043]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print(','.join([f'{number:.2f}' for number in data]))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3.17,18.14,-6.49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95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19536" y="4587515"/>
            <a:ext cx="8459931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data = [3.1745, 18.14, -6.49043]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print(','.join(map(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data)))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3.1745,18.14,-6.49043</a:t>
            </a:r>
          </a:p>
        </p:txBody>
      </p:sp>
    </p:spTree>
    <p:extLst>
      <p:ext uri="{BB962C8B-B14F-4D97-AF65-F5344CB8AC3E}">
        <p14:creationId xmlns:p14="http://schemas.microsoft.com/office/powerpoint/2010/main" val="411069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functional: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list comprehensions: construct list from elements of other list for elements that pass test</a:t>
            </a:r>
          </a:p>
          <a:p>
            <a:pPr lvl="1"/>
            <a:r>
              <a:rPr lang="en-US" dirty="0"/>
              <a:t>E.g., 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[x for x in [0.15, -3.45, 1.3]</a:t>
            </a:r>
            <a:br>
              <a:rPr lang="en-US" sz="2600" dirty="0">
                <a:latin typeface="Courier New" pitchFamily="49" charset="0"/>
                <a:cs typeface="Courier New" pitchFamily="49" charset="0"/>
              </a:rPr>
            </a:br>
            <a:r>
              <a:rPr lang="en-US" sz="2600" dirty="0">
                <a:latin typeface="Courier New" pitchFamily="49" charset="0"/>
                <a:cs typeface="Courier New" pitchFamily="49" charset="0"/>
              </a:rPr>
              <a:t>        if x &gt;= 0.0]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dirty="0">
                <a:cs typeface="Courier New" pitchFamily="49" charset="0"/>
                <a:sym typeface="Symbol"/>
              </a:rPr>
              <a:t>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[0.15, 1.3]</a:t>
            </a:r>
          </a:p>
          <a:p>
            <a:pPr lvl="1"/>
            <a:r>
              <a:rPr lang="en-US" dirty="0"/>
              <a:t>E.g., 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600" dirty="0" err="1"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(x) for x in [4.0, -4.0, 9.0]</a:t>
            </a:r>
            <a:br>
              <a:rPr lang="en-US" sz="2600" dirty="0">
                <a:latin typeface="Courier New" pitchFamily="49" charset="0"/>
                <a:cs typeface="Courier New" pitchFamily="49" charset="0"/>
              </a:rPr>
            </a:br>
            <a:r>
              <a:rPr lang="en-US" sz="2600" dirty="0">
                <a:latin typeface="Courier New" pitchFamily="49" charset="0"/>
                <a:cs typeface="Courier New" pitchFamily="49" charset="0"/>
              </a:rPr>
              <a:t>        if x &gt;= 0.0]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dirty="0">
                <a:cs typeface="Courier New" pitchFamily="49" charset="0"/>
                <a:sym typeface="Symbol"/>
              </a:rPr>
              <a:t>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[2.0, 3.0]</a:t>
            </a:r>
          </a:p>
          <a:p>
            <a:pPr lvl="1"/>
            <a:r>
              <a:rPr lang="en-US" dirty="0">
                <a:cs typeface="Courier New" pitchFamily="49" charset="0"/>
              </a:rPr>
              <a:t>Alternative: </a:t>
            </a:r>
            <a:br>
              <a:rPr lang="en-US" dirty="0">
                <a:cs typeface="Courier New" pitchFamily="49" charset="0"/>
              </a:rPr>
            </a:br>
            <a:r>
              <a:rPr lang="en-US" sz="2600" dirty="0">
                <a:latin typeface="Courier New" pitchFamily="49" charset="0"/>
                <a:cs typeface="Courier New" pitchFamily="49" charset="0"/>
              </a:rPr>
              <a:t>list(map(</a:t>
            </a:r>
            <a:r>
              <a:rPr lang="en-US" sz="2600" dirty="0" err="1"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US" sz="2600" dirty="0">
                <a:latin typeface="Courier New" pitchFamily="49" charset="0"/>
                <a:cs typeface="Courier New" pitchFamily="49" charset="0"/>
              </a:rPr>
            </a:br>
            <a:r>
              <a:rPr lang="en-US" sz="2600" dirty="0">
                <a:latin typeface="Courier New" pitchFamily="49" charset="0"/>
                <a:cs typeface="Courier New" pitchFamily="49" charset="0"/>
              </a:rPr>
              <a:t>         filter(lambda x: x &gt;= 0.0,</a:t>
            </a:r>
            <a:br>
              <a:rPr lang="en-US" sz="2600" dirty="0">
                <a:latin typeface="Courier New" pitchFamily="49" charset="0"/>
                <a:cs typeface="Courier New" pitchFamily="49" charset="0"/>
              </a:rPr>
            </a:br>
            <a:r>
              <a:rPr lang="en-US" sz="2600" dirty="0">
                <a:latin typeface="Courier New" pitchFamily="49" charset="0"/>
                <a:cs typeface="Courier New" pitchFamily="49" charset="0"/>
              </a:rPr>
              <a:t>                [4, -4, 9])))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67608" y="5934179"/>
            <a:ext cx="562634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Don't forget </a:t>
            </a:r>
            <a:r>
              <a:rPr lang="en-US" sz="2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from math import </a:t>
            </a:r>
            <a:r>
              <a:rPr lang="en-US" sz="2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sqrt</a:t>
            </a:r>
            <a:endParaRPr lang="en-US" sz="2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96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196008" y="5151686"/>
            <a:ext cx="1872208" cy="696902"/>
            <a:chOff x="107504" y="5085184"/>
            <a:chExt cx="1872208" cy="696902"/>
          </a:xfrm>
        </p:grpSpPr>
        <p:sp>
          <p:nvSpPr>
            <p:cNvPr id="6" name="TextBox 5"/>
            <p:cNvSpPr txBox="1"/>
            <p:nvPr/>
          </p:nvSpPr>
          <p:spPr>
            <a:xfrm>
              <a:off x="107504" y="5320421"/>
              <a:ext cx="12379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prstClr val="black"/>
                  </a:solidFill>
                  <a:latin typeface="Calibri"/>
                </a:rPr>
                <a:t>iterators</a:t>
              </a:r>
              <a:endParaRPr lang="nl-BE" sz="2400" dirty="0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8" name="Straight Arrow Connector 7"/>
            <p:cNvCxnSpPr>
              <a:stCxn id="6" idx="3"/>
            </p:cNvCxnSpPr>
            <p:nvPr/>
          </p:nvCxnSpPr>
          <p:spPr>
            <a:xfrm flipV="1">
              <a:off x="1345407" y="5085184"/>
              <a:ext cx="202257" cy="4660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6" idx="3"/>
            </p:cNvCxnSpPr>
            <p:nvPr/>
          </p:nvCxnSpPr>
          <p:spPr>
            <a:xfrm flipV="1">
              <a:off x="1345407" y="5320422"/>
              <a:ext cx="634305" cy="2308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924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4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functional: aggregating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in a list should be aggregated, e.g.,</a:t>
            </a:r>
          </a:p>
          <a:p>
            <a:pPr lvl="1"/>
            <a:r>
              <a:rPr lang="en-US" dirty="0"/>
              <a:t>Summation: use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sum(…)</a:t>
            </a:r>
          </a:p>
          <a:p>
            <a:pPr lvl="1"/>
            <a:r>
              <a:rPr lang="en-US" dirty="0"/>
              <a:t>Minimum: use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min(…)</a:t>
            </a:r>
          </a:p>
          <a:p>
            <a:pPr lvl="1"/>
            <a:r>
              <a:rPr lang="en-US" dirty="0"/>
              <a:t>Maximum: use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max(…)</a:t>
            </a:r>
          </a:p>
          <a:p>
            <a:r>
              <a:rPr lang="en-US" dirty="0"/>
              <a:t>More sophisticated, use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reduce(…)</a:t>
            </a:r>
            <a:r>
              <a:rPr lang="en-US" dirty="0"/>
              <a:t> and lambda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0606" y="4725145"/>
            <a:ext cx="7353295" cy="12003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from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functools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import reduce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data = [3, 12, 7]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reduce(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lambda x, y: x*y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data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252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287688" y="5579948"/>
            <a:ext cx="2232248" cy="450632"/>
            <a:chOff x="1907704" y="3573016"/>
            <a:chExt cx="2232248" cy="450632"/>
          </a:xfrm>
        </p:grpSpPr>
        <p:sp>
          <p:nvSpPr>
            <p:cNvPr id="7" name="TextBox 6"/>
            <p:cNvSpPr txBox="1"/>
            <p:nvPr/>
          </p:nvSpPr>
          <p:spPr>
            <a:xfrm>
              <a:off x="1907704" y="3654316"/>
              <a:ext cx="172515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alibri"/>
                </a:rPr>
                <a:t>lambda function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V="1">
              <a:off x="3632856" y="3573016"/>
              <a:ext cx="507096" cy="26596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6001428" y="5579948"/>
            <a:ext cx="670636" cy="450632"/>
            <a:chOff x="3645757" y="3779748"/>
            <a:chExt cx="670636" cy="450632"/>
          </a:xfrm>
        </p:grpSpPr>
        <p:sp>
          <p:nvSpPr>
            <p:cNvPr id="10" name="TextBox 9"/>
            <p:cNvSpPr txBox="1"/>
            <p:nvPr/>
          </p:nvSpPr>
          <p:spPr>
            <a:xfrm>
              <a:off x="3645757" y="3861048"/>
              <a:ext cx="45461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Calibri"/>
                </a:rPr>
                <a:t>list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V="1">
              <a:off x="4120160" y="3779748"/>
              <a:ext cx="196233" cy="265966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2423056" y="6105490"/>
            <a:ext cx="676928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prstClr val="black"/>
                </a:solidFill>
                <a:latin typeface="Calibri"/>
              </a:rPr>
              <a:t>Lambda functions: very small functions (expression) used once,</a:t>
            </a:r>
            <a:br>
              <a:rPr lang="en-US" sz="2000" dirty="0">
                <a:solidFill>
                  <a:prstClr val="black"/>
                </a:solidFill>
                <a:latin typeface="Calibri"/>
              </a:rPr>
            </a:br>
            <a:r>
              <a:rPr lang="en-US" sz="2000" dirty="0">
                <a:solidFill>
                  <a:prstClr val="black"/>
                </a:solidFill>
                <a:latin typeface="Calibri"/>
              </a:rPr>
              <a:t>not worth giving a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97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6406404" y="2780928"/>
            <a:ext cx="4010076" cy="864096"/>
            <a:chOff x="5148064" y="2780928"/>
            <a:chExt cx="4010076" cy="864096"/>
          </a:xfrm>
        </p:grpSpPr>
        <p:sp>
          <p:nvSpPr>
            <p:cNvPr id="16" name="Right Brace 15"/>
            <p:cNvSpPr/>
            <p:nvPr/>
          </p:nvSpPr>
          <p:spPr>
            <a:xfrm>
              <a:off x="5148064" y="2780928"/>
              <a:ext cx="216024" cy="864096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364088" y="2780928"/>
              <a:ext cx="3794052" cy="8309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prstClr val="black"/>
                  </a:solidFill>
                  <a:latin typeface="Calibri"/>
                </a:rPr>
                <a:t>work on </a:t>
              </a:r>
              <a:r>
                <a:rPr lang="en-US" sz="2400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str</a:t>
              </a:r>
              <a:br>
                <a:rPr lang="en-US" sz="2400" dirty="0">
                  <a:solidFill>
                    <a:prstClr val="black"/>
                  </a:solidFill>
                  <a:latin typeface="Calibri"/>
                </a:rPr>
              </a:br>
              <a:r>
                <a:rPr lang="en-US" sz="2400" dirty="0">
                  <a:solidFill>
                    <a:prstClr val="black"/>
                  </a:solidFill>
                  <a:latin typeface="Calibri"/>
                </a:rPr>
                <a:t>have optional </a:t>
              </a:r>
              <a:r>
                <a:rPr lang="en-US" sz="240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key</a:t>
              </a:r>
              <a:r>
                <a:rPr lang="en-US" sz="2400" dirty="0">
                  <a:solidFill>
                    <a:prstClr val="black"/>
                  </a:solidFill>
                  <a:latin typeface="Calibri"/>
                </a:rPr>
                <a:t> argument</a:t>
              </a:r>
              <a:endParaRPr lang="nl-BE" sz="24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392145" y="5589240"/>
            <a:ext cx="1544341" cy="450632"/>
            <a:chOff x="3141701" y="3779748"/>
            <a:chExt cx="1544341" cy="450632"/>
          </a:xfrm>
        </p:grpSpPr>
        <p:sp>
          <p:nvSpPr>
            <p:cNvPr id="28" name="TextBox 27"/>
            <p:cNvSpPr txBox="1"/>
            <p:nvPr/>
          </p:nvSpPr>
          <p:spPr>
            <a:xfrm>
              <a:off x="3645757" y="3861048"/>
              <a:ext cx="1040285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Calibri"/>
                </a:rPr>
                <a:t>initializer</a:t>
              </a:r>
            </a:p>
          </p:txBody>
        </p:sp>
        <p:cxnSp>
          <p:nvCxnSpPr>
            <p:cNvPr id="29" name="Straight Arrow Connector 28"/>
            <p:cNvCxnSpPr>
              <a:stCxn id="28" idx="1"/>
            </p:cNvCxnSpPr>
            <p:nvPr/>
          </p:nvCxnSpPr>
          <p:spPr>
            <a:xfrm flipH="1" flipV="1">
              <a:off x="3141701" y="3779748"/>
              <a:ext cx="504056" cy="265966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0162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15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functional: zip it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(or more) lists should be processed element wise</a:t>
            </a:r>
          </a:p>
          <a:p>
            <a:pPr lvl="1"/>
            <a:r>
              <a:rPr lang="en-US" dirty="0"/>
              <a:t>E.g., [x*y for x, y in zip(a, b)]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As many tuples as length of shortest list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2423591" y="3356993"/>
            <a:ext cx="4458272" cy="12003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a = [3.5, 7.3, 5.7]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b = [2.0, 1.5]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[x*y for x, y in zip(a, b)]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[7.0, 10.95]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98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76120" y="4365105"/>
            <a:ext cx="318587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iterator produces tuples</a:t>
            </a:r>
            <a:endParaRPr lang="nl-BE" sz="24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984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Primes version 1.0: iterator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to check whether n is prime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Work with all primes up to 10</a:t>
            </a:r>
            <a:r>
              <a:rPr lang="en-US" baseline="30000" dirty="0"/>
              <a:t>6</a:t>
            </a:r>
            <a:r>
              <a:rPr lang="en-US" dirty="0"/>
              <a:t>? Simple…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3552" y="2239704"/>
            <a:ext cx="8064896" cy="14773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(n):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for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in range(2,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math.sqrt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(n)) + 1):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if n %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== 0: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return False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return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&gt;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3552" y="4654878"/>
            <a:ext cx="8064896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n in 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for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in range(1000000) if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…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99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747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comprehensions vs. generators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comprehension</a:t>
            </a:r>
            <a:br>
              <a:rPr lang="en-US" dirty="0"/>
            </a:b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for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in range(1_000_000) if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dirty="0"/>
          </a:p>
          <a:p>
            <a:pPr lvl="1"/>
            <a:r>
              <a:rPr lang="en-US" dirty="0"/>
              <a:t>all prime numbers up to 1000000 (</a:t>
            </a:r>
            <a:r>
              <a:rPr lang="en-US" dirty="0">
                <a:sym typeface="Symbol" panose="05050102010706020507" pitchFamily="18" charset="2"/>
              </a:rPr>
              <a:t></a:t>
            </a:r>
            <a:r>
              <a:rPr lang="en-US" dirty="0"/>
              <a:t> 78,500)</a:t>
            </a:r>
          </a:p>
          <a:p>
            <a:endParaRPr lang="en-US" dirty="0"/>
          </a:p>
          <a:p>
            <a:r>
              <a:rPr lang="en-US" dirty="0">
                <a:cs typeface="Courier New" panose="02070309020205020404" pitchFamily="49" charset="0"/>
              </a:rPr>
              <a:t>Generator</a:t>
            </a:r>
            <a:b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range(1_000_000) if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is_prime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endParaRPr lang="en-US" dirty="0"/>
          </a:p>
          <a:p>
            <a:pPr lvl="1"/>
            <a:r>
              <a:rPr lang="en-US" dirty="0"/>
              <a:t>get next prime number when needed, much more memory efficient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100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220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Primes version 2.0: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yield</a:t>
            </a:r>
            <a:endParaRPr lang="nl-BE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if we want the first 10</a:t>
            </a:r>
            <a:r>
              <a:rPr lang="en-US" baseline="30000" dirty="0"/>
              <a:t>6</a:t>
            </a:r>
            <a:r>
              <a:rPr lang="en-US" dirty="0"/>
              <a:t> prime numbers?</a:t>
            </a:r>
          </a:p>
          <a:p>
            <a:pPr lvl="1"/>
            <a:r>
              <a:rPr lang="en-US" dirty="0"/>
              <a:t>Guess range?</a:t>
            </a:r>
          </a:p>
          <a:p>
            <a:r>
              <a:rPr lang="en-US" dirty="0"/>
              <a:t>Function that returns next prime at each call?</a:t>
            </a:r>
          </a:p>
          <a:p>
            <a:pPr lvl="1"/>
            <a:r>
              <a:rPr lang="en-US" dirty="0"/>
              <a:t>use yield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Iterator: first call yields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dirty="0"/>
              <a:t>, second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dirty="0"/>
              <a:t>, third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5</a:t>
            </a:r>
            <a:r>
              <a:rPr lang="en-US" dirty="0"/>
              <a:t>,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3552" y="3501008"/>
            <a:ext cx="8064896" cy="175432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all_primes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2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while True: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if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yield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+=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3552" y="6023030"/>
            <a:ext cx="8064896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n in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all_primes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5797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yield</a:t>
            </a:r>
            <a:r>
              <a:rPr lang="en-US" dirty="0"/>
              <a:t> statement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Somewhat like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return</a:t>
            </a:r>
          </a:p>
          <a:p>
            <a:pPr lvl="1"/>
            <a:r>
              <a:rPr lang="en-US" dirty="0"/>
              <a:t>returns control to the calling function</a:t>
            </a:r>
          </a:p>
          <a:p>
            <a:pPr lvl="1"/>
            <a:r>
              <a:rPr lang="en-US" dirty="0"/>
              <a:t>returns a value</a:t>
            </a:r>
          </a:p>
          <a:p>
            <a:r>
              <a:rPr lang="en-US" dirty="0"/>
              <a:t>However, </a:t>
            </a:r>
            <a:r>
              <a:rPr lang="en-US" dirty="0" err="1"/>
              <a:t>callee</a:t>
            </a:r>
            <a:r>
              <a:rPr lang="en-US" dirty="0"/>
              <a:t> function state is retained</a:t>
            </a:r>
          </a:p>
          <a:p>
            <a:pPr lvl="1"/>
            <a:r>
              <a:rPr lang="en-US" dirty="0"/>
              <a:t>on next call, continues at the point it was when it yielded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37874" y="5085184"/>
            <a:ext cx="5106398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libri"/>
              </a:rPr>
              <a:t>Allows to build your own iterators</a:t>
            </a:r>
            <a:endParaRPr lang="nl-BE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102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871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Primes version 3.0: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filter</a:t>
            </a:r>
            <a:endParaRPr lang="nl-BE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 library package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itertools</a:t>
            </a:r>
            <a:r>
              <a:rPr lang="en-US" dirty="0"/>
              <a:t> provides a lot of useful iterators, check it out!</a:t>
            </a:r>
          </a:p>
          <a:p>
            <a:pPr lvl="1"/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itertools.count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/>
              <a:t>: iterator over integers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3501008"/>
            <a:ext cx="8064896" cy="230832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itertools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nr_primes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0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n in filter(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itertools.count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()):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if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nr_primes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&gt; 1_000_000: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break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nr_primes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+= 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103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877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useful functions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itertools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6916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Permutations of an </a:t>
            </a:r>
            <a:r>
              <a:rPr lang="en-US" dirty="0" err="1"/>
              <a:t>iterable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itertools.permutations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</a:p>
          <a:p>
            <a:r>
              <a:rPr lang="en-US" dirty="0"/>
              <a:t>Combinations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dirty="0"/>
              <a:t> out of an </a:t>
            </a:r>
            <a:r>
              <a:rPr lang="en-US" dirty="0" err="1"/>
              <a:t>iterable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Without replacement:</a:t>
            </a:r>
            <a:br>
              <a:rPr lang="en-US" dirty="0"/>
            </a:br>
            <a:r>
              <a:rPr lang="en-US" dirty="0"/>
              <a:t>   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itertools.combinations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(…, r)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With replacement:</a:t>
            </a:r>
            <a:br>
              <a:rPr lang="en-US" dirty="0"/>
            </a:br>
            <a:r>
              <a:rPr lang="en-US" dirty="0"/>
              <a:t>   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itertools.combinations_with_replacement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(…, r)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/>
              <a:t>Carthesian</a:t>
            </a:r>
            <a:r>
              <a:rPr lang="en-US" dirty="0"/>
              <a:t> product of two (or more) </a:t>
            </a:r>
            <a:r>
              <a:rPr lang="en-US" dirty="0" err="1"/>
              <a:t>iterables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itertools.product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(…, …)</a:t>
            </a:r>
          </a:p>
          <a:p>
            <a:r>
              <a:rPr lang="en-US" dirty="0"/>
              <a:t>Take while </a:t>
            </a:r>
            <a:r>
              <a:rPr lang="en-US" dirty="0" err="1"/>
              <a:t>boolean</a:t>
            </a:r>
            <a:r>
              <a:rPr lang="en-US" dirty="0"/>
              <a:t> predicate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</a:t>
            </a:r>
            <a:r>
              <a:rPr lang="en-US" dirty="0"/>
              <a:t> is true: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itertools.takewhile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…)</a:t>
            </a:r>
          </a:p>
          <a:p>
            <a:r>
              <a:rPr lang="en-US" dirty="0"/>
              <a:t>Cycle through values of </a:t>
            </a:r>
            <a:r>
              <a:rPr lang="en-US" dirty="0" err="1"/>
              <a:t>iterable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itertools.cycle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104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142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data (again)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105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63552" y="1707774"/>
            <a:ext cx="8064896" cy="20313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itertools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import product as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iproduct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print('case', 'condition', 'temperature')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data in enumerate(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iproduct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(range(1, 4),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            map(lambda x: 0.5*x,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                range(-1, 2)))):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+ 1, *data)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85776" y="4077072"/>
            <a:ext cx="1976823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case dim temp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 1 -0.5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2 1 0.0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3 1 0.5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4 2 -0.5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5 2 0.0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9 3 0.5</a:t>
            </a:r>
          </a:p>
        </p:txBody>
      </p:sp>
    </p:spTree>
    <p:extLst>
      <p:ext uri="{BB962C8B-B14F-4D97-AF65-F5344CB8AC3E}">
        <p14:creationId xmlns:p14="http://schemas.microsoft.com/office/powerpoint/2010/main" val="295770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reading: functional style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Sorting how-to</a:t>
            </a:r>
            <a:br>
              <a:rPr lang="en-US" dirty="0"/>
            </a:br>
            <a:r>
              <a:rPr lang="en-US" sz="2800" dirty="0">
                <a:hlinkClick r:id="rId2"/>
              </a:rPr>
              <a:t>http://docs.python.org/3.7/howto/sorting.html</a:t>
            </a:r>
            <a:endParaRPr lang="en-US" dirty="0"/>
          </a:p>
          <a:p>
            <a:r>
              <a:rPr lang="en-US" dirty="0"/>
              <a:t>Functional programming how-to</a:t>
            </a:r>
            <a:br>
              <a:rPr lang="en-US" dirty="0"/>
            </a:br>
            <a:r>
              <a:rPr lang="en-US" sz="2800" dirty="0">
                <a:hlinkClick r:id="rId3"/>
              </a:rPr>
              <a:t>http://docs.python.org/3.7/howto/functional.html</a:t>
            </a:r>
            <a:endParaRPr lang="en-US" sz="2800" dirty="0"/>
          </a:p>
          <a:p>
            <a:r>
              <a:rPr lang="en-US" dirty="0"/>
              <a:t>Luciano </a:t>
            </a:r>
            <a:r>
              <a:rPr lang="en-US" dirty="0" err="1"/>
              <a:t>Ramalho</a:t>
            </a:r>
            <a:r>
              <a:rPr lang="en-US" dirty="0"/>
              <a:t> (2015) </a:t>
            </a:r>
            <a:r>
              <a:rPr lang="en-US" i="1" dirty="0"/>
              <a:t>Fluent Python, </a:t>
            </a:r>
            <a:r>
              <a:rPr lang="en-US" dirty="0"/>
              <a:t>O’Reilly</a:t>
            </a:r>
            <a:endParaRPr lang="en-US" sz="2800" dirty="0"/>
          </a:p>
          <a:p>
            <a:endParaRPr lang="en-US" sz="2800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106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341736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408AC-69C4-4009-960E-C85FBD00A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13709-5A8B-4C37-98D5-E8DFA4E0E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hlinkClick r:id="rId2"/>
              </a:rPr>
              <a:t>https://github.com/gjbex/Python-software-engineering/blob/master/source-code/design-patters/factory_design_pattern.ipynb</a:t>
            </a:r>
            <a:r>
              <a:rPr lang="en-US" sz="1400" dirty="0"/>
              <a:t> </a:t>
            </a:r>
          </a:p>
          <a:p>
            <a:r>
              <a:rPr lang="en-US" sz="1400" dirty="0">
                <a:hlinkClick r:id="rId3"/>
              </a:rPr>
              <a:t>https://github.com/gjbex/Python-software-engineering/blob/master/source-code/design-patters/decorator_design_pattern.ipynb</a:t>
            </a:r>
            <a:r>
              <a:rPr lang="en-US" sz="1400" dirty="0"/>
              <a:t> </a:t>
            </a:r>
          </a:p>
          <a:p>
            <a:r>
              <a:rPr lang="en-US" sz="1400" dirty="0">
                <a:hlinkClick r:id="rId4"/>
              </a:rPr>
              <a:t>https://github.com/gjbex/Python-software-engineering/tree/master/source-code/design-patterns/finite-state-parser</a:t>
            </a:r>
            <a:r>
              <a:rPr lang="en-US" sz="14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E5EB1-C499-4EBE-A65D-84E0A8F70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107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2147348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E1B04-6F71-4330-B666-5B7B430C7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8AEC1-1A7F-4251-B837-4A655C9DC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Observation: patterns in problems to solve</a:t>
            </a:r>
          </a:p>
          <a:p>
            <a:r>
              <a:rPr lang="en-US" dirty="0"/>
              <a:t>Design pattern = recipe for software design</a:t>
            </a:r>
          </a:p>
          <a:p>
            <a:pPr lvl="1"/>
            <a:r>
              <a:rPr lang="en-US" dirty="0"/>
              <a:t>Don’t reinvent the wheel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1908B-C8B8-481C-9414-BA9B8EAA8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108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0315820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E72B2-61DF-4F7D-A226-9483D7C44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ABB18-0664-4863-B217-DD2E149B5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Quite a lot (23 originally)</a:t>
            </a:r>
          </a:p>
          <a:p>
            <a:pPr lvl="1"/>
            <a:r>
              <a:rPr lang="en-US" dirty="0"/>
              <a:t>Creational patterns</a:t>
            </a:r>
          </a:p>
          <a:p>
            <a:pPr lvl="2"/>
            <a:r>
              <a:rPr lang="en-US" dirty="0"/>
              <a:t>E.g., builder, factory</a:t>
            </a:r>
          </a:p>
          <a:p>
            <a:pPr lvl="1"/>
            <a:r>
              <a:rPr lang="en-US" dirty="0"/>
              <a:t>Structural patterns</a:t>
            </a:r>
          </a:p>
          <a:p>
            <a:pPr lvl="2"/>
            <a:r>
              <a:rPr lang="en-US" dirty="0"/>
              <a:t>E.g., decorator</a:t>
            </a:r>
          </a:p>
          <a:p>
            <a:pPr lvl="1"/>
            <a:r>
              <a:rPr lang="en-US" dirty="0"/>
              <a:t>Behavioral patterns</a:t>
            </a:r>
          </a:p>
          <a:p>
            <a:pPr lvl="2"/>
            <a:r>
              <a:rPr lang="en-US" dirty="0"/>
              <a:t>E.g., state</a:t>
            </a:r>
          </a:p>
          <a:p>
            <a:pPr lvl="1"/>
            <a:r>
              <a:rPr lang="en-US" dirty="0"/>
              <a:t>Parallel patterns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D0D00-276F-449C-8ED3-67B7F75E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109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9781692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5857F-BAC2-4433-A35E-50CE33897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9A083-12D2-4719-B209-2805ABC16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Configure, i.e., “build” an object step by step</a:t>
            </a:r>
          </a:p>
          <a:p>
            <a:pPr lvl="1"/>
            <a:r>
              <a:rPr lang="en-US" dirty="0"/>
              <a:t>E.g., </a:t>
            </a:r>
            <a:r>
              <a:rPr lang="en-US" dirty="0" err="1"/>
              <a:t>mplemented</a:t>
            </a:r>
            <a:r>
              <a:rPr lang="en-US" dirty="0"/>
              <a:t> for </a:t>
            </a:r>
            <a:r>
              <a:rPr lang="en-US" dirty="0" err="1"/>
              <a:t>scipy’s</a:t>
            </a:r>
            <a:r>
              <a:rPr lang="en-US" dirty="0"/>
              <a:t> ODE solver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13CF8-C11E-4A0E-8B22-F23D59ADD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110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12026-7D95-485E-B486-285EBF22D6A8}"/>
              </a:ext>
            </a:extLst>
          </p:cNvPr>
          <p:cNvSpPr txBox="1"/>
          <p:nvPr/>
        </p:nvSpPr>
        <p:spPr>
          <a:xfrm>
            <a:off x="609600" y="3005077"/>
            <a:ext cx="9316720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scipy.integrate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import ode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ode_sys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ode(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func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jac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).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set_integrator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('dopri5’)                \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.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set_initial_value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([theta0, omega0], t0) \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.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set_f_params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(g, l, q, F_D,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Omega_D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     \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.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set_jac_params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(g, l, q, F_D,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Omega_D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while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ode_sys.successful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and ode_sys.t &lt;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t_max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ode_sys.integrate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(ode_sys.t +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delta_t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print(ode_sys.t,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ode_sys.y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[0],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ode_sys.y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[1])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8DD51B-117D-4D1E-955B-D90F0DDD935B}"/>
              </a:ext>
            </a:extLst>
          </p:cNvPr>
          <p:cNvSpPr txBox="1"/>
          <p:nvPr/>
        </p:nvSpPr>
        <p:spPr>
          <a:xfrm>
            <a:off x="7980319" y="4938042"/>
            <a:ext cx="3422284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Solver is built step by step</a:t>
            </a:r>
          </a:p>
          <a:p>
            <a:pPr algn="ctr"/>
            <a:r>
              <a:rPr lang="en-US" sz="2400" dirty="0"/>
              <a:t>=</a:t>
            </a:r>
          </a:p>
          <a:p>
            <a:pPr algn="ctr"/>
            <a:r>
              <a:rPr lang="en-US" sz="2400" dirty="0"/>
              <a:t>Reduces risk of mistakes</a:t>
            </a:r>
          </a:p>
        </p:txBody>
      </p:sp>
    </p:spTree>
    <p:extLst>
      <p:ext uri="{BB962C8B-B14F-4D97-AF65-F5344CB8AC3E}">
        <p14:creationId xmlns:p14="http://schemas.microsoft.com/office/powerpoint/2010/main" val="206476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9B8AC-C3F6-49BD-9235-6A6D3D663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F0DA7-A0DF-442E-8DC6-5CF74ABEA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factory objects</a:t>
            </a:r>
          </a:p>
          <a:p>
            <a:pPr lvl="1"/>
            <a:r>
              <a:rPr lang="en-US" dirty="0"/>
              <a:t>Encapsulate configuration in factory objects</a:t>
            </a:r>
          </a:p>
          <a:p>
            <a:pPr lvl="1"/>
            <a:r>
              <a:rPr lang="en-US" dirty="0"/>
              <a:t>Create new objects using factory object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2B0AD-0102-4386-AF4A-8EFAF6086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111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10FEA7-EE3B-43ED-A9DF-813003C617CF}"/>
              </a:ext>
            </a:extLst>
          </p:cNvPr>
          <p:cNvSpPr txBox="1"/>
          <p:nvPr/>
        </p:nvSpPr>
        <p:spPr>
          <a:xfrm>
            <a:off x="718657" y="4124960"/>
            <a:ext cx="10863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linkClick r:id="rId2"/>
              </a:rPr>
              <a:t>https://github.com/gjbex/Python-software-engineering/blob/master/source-code/design-patters/factory_design_pattern.ipynb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828533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92FBB-9915-4457-A57B-85822E6C1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FCA99-9255-42B9-BA8C-6B80EFD1D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Wrapper objects that modify behavior of encapsulated objects</a:t>
            </a:r>
          </a:p>
          <a:p>
            <a:pPr lvl="1"/>
            <a:r>
              <a:rPr lang="en-US" dirty="0"/>
              <a:t>Intercept method calls to modify</a:t>
            </a:r>
          </a:p>
          <a:p>
            <a:pPr lvl="1"/>
            <a:r>
              <a:rPr lang="en-US" dirty="0"/>
              <a:t>Pass through all else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60C92-C6D1-4842-B6E1-580325139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112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177BA-008A-44E4-AB81-E0BA13646C08}"/>
              </a:ext>
            </a:extLst>
          </p:cNvPr>
          <p:cNvSpPr txBox="1"/>
          <p:nvPr/>
        </p:nvSpPr>
        <p:spPr>
          <a:xfrm>
            <a:off x="751840" y="3693905"/>
            <a:ext cx="110945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linkClick r:id="rId2"/>
              </a:rPr>
              <a:t>https://github.com/gjbex/Python-software-engineering/blob/master/source-code/design-patters/decorator_design_pattern.ipynb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984538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92FBB-9915-4457-A57B-85822E6C1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FCA99-9255-42B9-BA8C-6B80EFD1D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Enables selection of algorithms at runtime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60C92-C6D1-4842-B6E1-580325139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113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177BA-008A-44E4-AB81-E0BA13646C08}"/>
              </a:ext>
            </a:extLst>
          </p:cNvPr>
          <p:cNvSpPr txBox="1"/>
          <p:nvPr/>
        </p:nvSpPr>
        <p:spPr>
          <a:xfrm>
            <a:off x="751840" y="3693905"/>
            <a:ext cx="110945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linkClick r:id="rId2"/>
              </a:rPr>
              <a:t>https://github.com/gjbex/Python-software-engineering/blob/master/source-code/design-patters/strategy_design_pattern.ipynb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544790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pattern: convert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91544" y="1447032"/>
            <a:ext cx="3355406" cy="5078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begin block_1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0.322617473156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0.369558068115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0.732467264353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0.584389170786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 block_1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begin block_2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0.0705959106085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0.65856743041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0.526762713499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0.823193820644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 block_2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begin block_3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0.476180897605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0.783168943997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0.0172156882251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0.755582680088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 block_3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5519936" y="2278027"/>
            <a:ext cx="4705084" cy="3416320"/>
            <a:chOff x="3995936" y="2278027"/>
            <a:chExt cx="4705084" cy="3416320"/>
          </a:xfrm>
        </p:grpSpPr>
        <p:sp>
          <p:nvSpPr>
            <p:cNvPr id="5" name="TextBox 4"/>
            <p:cNvSpPr txBox="1"/>
            <p:nvPr/>
          </p:nvSpPr>
          <p:spPr>
            <a:xfrm>
              <a:off x="4932040" y="2278027"/>
              <a:ext cx="3768980" cy="3416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block_1: "0.322617473156"</a:t>
              </a:r>
            </a:p>
            <a:p>
              <a:r>
                <a:rPr lang="sv-SE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block_1: "0.369558068115"</a:t>
              </a:r>
            </a:p>
            <a:p>
              <a:r>
                <a:rPr lang="sv-SE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block_1: "0.584389170786"</a:t>
              </a:r>
            </a:p>
            <a:p>
              <a:r>
                <a:rPr lang="sv-SE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block_1: "0.732467264353"</a:t>
              </a:r>
            </a:p>
            <a:p>
              <a:r>
                <a:rPr lang="sv-SE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block_2: "0.0705959106085"</a:t>
              </a:r>
            </a:p>
            <a:p>
              <a:r>
                <a:rPr lang="sv-SE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block_2: "0.526762713499"</a:t>
              </a:r>
            </a:p>
            <a:p>
              <a:r>
                <a:rPr lang="sv-SE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block_2: "0.65856743041"</a:t>
              </a:r>
            </a:p>
            <a:p>
              <a:r>
                <a:rPr lang="sv-SE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block_2: "0.823193820644"</a:t>
              </a:r>
            </a:p>
            <a:p>
              <a:r>
                <a:rPr lang="sv-SE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block_3: "0.0172156882251"</a:t>
              </a:r>
            </a:p>
            <a:p>
              <a:r>
                <a:rPr lang="sv-SE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block_3: "0.476180897605"</a:t>
              </a:r>
            </a:p>
            <a:p>
              <a:r>
                <a:rPr lang="sv-SE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block_3: "0.755582680088"</a:t>
              </a:r>
            </a:p>
            <a:p>
              <a:r>
                <a:rPr lang="sv-SE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block_3: "0.783168943997"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3995936" y="3986187"/>
              <a:ext cx="79208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5159896" y="1772816"/>
            <a:ext cx="1368152" cy="1584176"/>
            <a:chOff x="3635896" y="1772816"/>
            <a:chExt cx="1368152" cy="1584176"/>
          </a:xfrm>
        </p:grpSpPr>
        <p:sp>
          <p:nvSpPr>
            <p:cNvPr id="9" name="Right Brace 8"/>
            <p:cNvSpPr/>
            <p:nvPr/>
          </p:nvSpPr>
          <p:spPr>
            <a:xfrm>
              <a:off x="3635896" y="1772816"/>
              <a:ext cx="288032" cy="1008112"/>
            </a:xfrm>
            <a:prstGeom prst="righ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Right Brace 9"/>
            <p:cNvSpPr/>
            <p:nvPr/>
          </p:nvSpPr>
          <p:spPr>
            <a:xfrm flipH="1">
              <a:off x="4716016" y="2348880"/>
              <a:ext cx="288032" cy="1008112"/>
            </a:xfrm>
            <a:prstGeom prst="righ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17" name="Elbow Connector 16"/>
            <p:cNvCxnSpPr>
              <a:stCxn id="9" idx="1"/>
              <a:endCxn id="10" idx="1"/>
            </p:cNvCxnSpPr>
            <p:nvPr/>
          </p:nvCxnSpPr>
          <p:spPr>
            <a:xfrm rot="10800000" flipH="1" flipV="1">
              <a:off x="3923928" y="2276872"/>
              <a:ext cx="792088" cy="576064"/>
            </a:xfrm>
            <a:prstGeom prst="bentConnector5">
              <a:avLst>
                <a:gd name="adj1" fmla="val 38388"/>
                <a:gd name="adj2" fmla="val 99272"/>
                <a:gd name="adj3" fmla="val 73941"/>
              </a:avLst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5663953" y="1700809"/>
            <a:ext cx="777777" cy="461665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497D">
                    <a:lumMod val="60000"/>
                    <a:lumOff val="40000"/>
                  </a:srgbClr>
                </a:solidFill>
                <a:latin typeface="Calibri"/>
              </a:rPr>
              <a:t>sort!</a:t>
            </a:r>
            <a:endParaRPr lang="en-US" dirty="0">
              <a:solidFill>
                <a:srgbClr val="1F497D">
                  <a:lumMod val="60000"/>
                  <a:lumOff val="40000"/>
                </a:srgbClr>
              </a:solidFill>
              <a:latin typeface="Calibri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2864518" y="1455910"/>
            <a:ext cx="4671642" cy="1172125"/>
            <a:chOff x="1340518" y="1455909"/>
            <a:chExt cx="4671642" cy="1172125"/>
          </a:xfrm>
        </p:grpSpPr>
        <p:sp>
          <p:nvSpPr>
            <p:cNvPr id="22" name="Rounded Rectangle 21"/>
            <p:cNvSpPr/>
            <p:nvPr/>
          </p:nvSpPr>
          <p:spPr>
            <a:xfrm>
              <a:off x="1340518" y="1455909"/>
              <a:ext cx="1008112" cy="325785"/>
            </a:xfrm>
            <a:prstGeom prst="roundRect">
              <a:avLst/>
            </a:prstGeom>
            <a:solidFill>
              <a:schemeClr val="accent1">
                <a:alpha val="1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5004048" y="2302249"/>
              <a:ext cx="1008112" cy="325785"/>
            </a:xfrm>
            <a:prstGeom prst="roundRect">
              <a:avLst/>
            </a:prstGeom>
            <a:solidFill>
              <a:schemeClr val="accent1">
                <a:alpha val="1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5" name="Elbow Connector 24"/>
            <p:cNvCxnSpPr>
              <a:stCxn id="22" idx="0"/>
              <a:endCxn id="23" idx="0"/>
            </p:cNvCxnSpPr>
            <p:nvPr/>
          </p:nvCxnSpPr>
          <p:spPr>
            <a:xfrm rot="16200000" flipH="1">
              <a:off x="3253169" y="47314"/>
              <a:ext cx="846340" cy="3663530"/>
            </a:xfrm>
            <a:prstGeom prst="bentConnector3">
              <a:avLst>
                <a:gd name="adj1" fmla="val -27010"/>
              </a:avLst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114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561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274638"/>
            <a:ext cx="8229600" cy="1143000"/>
          </a:xfrm>
        </p:spPr>
        <p:txBody>
          <a:bodyPr/>
          <a:lstStyle/>
          <a:p>
            <a:r>
              <a:rPr lang="en-US" dirty="0"/>
              <a:t>State pattern: model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96578" y="1447032"/>
            <a:ext cx="3355406" cy="5078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begin block_1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0.322617473156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0.369558068115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0.732467264353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0.584389170786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 block_1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begin block_2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0.0705959106085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0.65856743041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0.526762713499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0.823193820644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 block_2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begin block_3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0.476180897605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0.783168943997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0.0172156882251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0.755582680088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 block_3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28049" y="2420888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file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 := </a:t>
            </a:r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block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8048" y="2812867"/>
            <a:ext cx="28344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block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:= </a:t>
            </a:r>
            <a:r>
              <a:rPr lang="en-US" u="sng" dirty="0">
                <a:solidFill>
                  <a:prstClr val="black"/>
                </a:solidFill>
                <a:latin typeface="Lucida Sans Typewriter" pitchFamily="49" charset="0"/>
              </a:rPr>
              <a:t>begin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</a:t>
            </a:r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name</a:t>
            </a:r>
          </a:p>
          <a:p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          </a:t>
            </a:r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data</a:t>
            </a:r>
          </a:p>
          <a:p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          …</a:t>
            </a:r>
          </a:p>
          <a:p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        </a:t>
            </a:r>
            <a:r>
              <a:rPr lang="en-US" u="sng" dirty="0">
                <a:solidFill>
                  <a:prstClr val="black"/>
                </a:solidFill>
                <a:latin typeface="Lucida Sans Typewriter" pitchFamily="49" charset="0"/>
              </a:rPr>
              <a:t>end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</a:t>
            </a:r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8049" y="4035841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 := 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8049" y="4427820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data  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:= real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115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184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pattern: annotated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35560" y="1447032"/>
            <a:ext cx="7416824" cy="5078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This data was produced using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SomeSoftware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™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begin block_1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0.322617473156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0.369558068115   # this value is suspicious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0.732467264353</a:t>
            </a: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0.584389170786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 block_1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There can be anything between blocks,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all kind of useful information or inane chatter.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begin block_2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0.0705959106085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 this is a comment about all values below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0.65856743041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0.526762713499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0.823193820644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 block_2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2207568" y="1484784"/>
            <a:ext cx="6984776" cy="3582470"/>
            <a:chOff x="683568" y="1484784"/>
            <a:chExt cx="6984776" cy="3582470"/>
          </a:xfrm>
        </p:grpSpPr>
        <p:sp>
          <p:nvSpPr>
            <p:cNvPr id="4" name="Rectangle 3"/>
            <p:cNvSpPr/>
            <p:nvPr/>
          </p:nvSpPr>
          <p:spPr>
            <a:xfrm>
              <a:off x="683568" y="3717032"/>
              <a:ext cx="6696744" cy="504056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683568" y="2852936"/>
              <a:ext cx="6696744" cy="288032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683568" y="1484784"/>
              <a:ext cx="6696744" cy="288032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3568" y="4779222"/>
              <a:ext cx="6696744" cy="288032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031940" y="2276872"/>
              <a:ext cx="3636404" cy="288032"/>
            </a:xfrm>
            <a:prstGeom prst="rect">
              <a:avLst/>
            </a:prstGeom>
            <a:pattFill prst="wdUpDiag">
              <a:fgClr>
                <a:srgbClr val="FF000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8966160" y="985898"/>
            <a:ext cx="2697520" cy="511368"/>
            <a:chOff x="6291044" y="899428"/>
            <a:chExt cx="2697520" cy="511368"/>
          </a:xfrm>
        </p:grpSpPr>
        <p:sp>
          <p:nvSpPr>
            <p:cNvPr id="10" name="TextBox 9"/>
            <p:cNvSpPr txBox="1"/>
            <p:nvPr/>
          </p:nvSpPr>
          <p:spPr>
            <a:xfrm>
              <a:off x="6804248" y="899428"/>
              <a:ext cx="218431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text before first block</a:t>
              </a:r>
            </a:p>
          </p:txBody>
        </p:sp>
        <p:cxnSp>
          <p:nvCxnSpPr>
            <p:cNvPr id="15" name="Straight Arrow Connector 14"/>
            <p:cNvCxnSpPr>
              <a:cxnSpLocks/>
              <a:stCxn id="10" idx="1"/>
            </p:cNvCxnSpPr>
            <p:nvPr/>
          </p:nvCxnSpPr>
          <p:spPr>
            <a:xfrm flipH="1">
              <a:off x="6291044" y="1084094"/>
              <a:ext cx="513204" cy="32670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9148495" y="1854117"/>
            <a:ext cx="2063476" cy="369332"/>
            <a:chOff x="6925088" y="1916832"/>
            <a:chExt cx="2063476" cy="369332"/>
          </a:xfrm>
        </p:grpSpPr>
        <p:sp>
          <p:nvSpPr>
            <p:cNvPr id="9" name="TextBox 8"/>
            <p:cNvSpPr txBox="1"/>
            <p:nvPr/>
          </p:nvSpPr>
          <p:spPr>
            <a:xfrm>
              <a:off x="7240200" y="1916832"/>
              <a:ext cx="174836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inline comments</a:t>
              </a:r>
            </a:p>
          </p:txBody>
        </p:sp>
        <p:cxnSp>
          <p:nvCxnSpPr>
            <p:cNvPr id="16" name="Straight Arrow Connector 15"/>
            <p:cNvCxnSpPr>
              <a:stCxn id="9" idx="1"/>
            </p:cNvCxnSpPr>
            <p:nvPr/>
          </p:nvCxnSpPr>
          <p:spPr>
            <a:xfrm flipH="1">
              <a:off x="6925088" y="2101498"/>
              <a:ext cx="315112" cy="18466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8966160" y="3203684"/>
            <a:ext cx="1546405" cy="369332"/>
            <a:chOff x="7442159" y="3203684"/>
            <a:chExt cx="1546405" cy="369332"/>
          </a:xfrm>
        </p:grpSpPr>
        <p:sp>
          <p:nvSpPr>
            <p:cNvPr id="11" name="TextBox 10"/>
            <p:cNvSpPr txBox="1"/>
            <p:nvPr/>
          </p:nvSpPr>
          <p:spPr>
            <a:xfrm>
              <a:off x="7806830" y="3203684"/>
              <a:ext cx="118173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blank lines</a:t>
              </a:r>
            </a:p>
          </p:txBody>
        </p:sp>
        <p:cxnSp>
          <p:nvCxnSpPr>
            <p:cNvPr id="19" name="Straight Arrow Connector 18"/>
            <p:cNvCxnSpPr>
              <a:stCxn id="11" idx="1"/>
            </p:cNvCxnSpPr>
            <p:nvPr/>
          </p:nvCxnSpPr>
          <p:spPr>
            <a:xfrm flipH="1" flipV="1">
              <a:off x="7442159" y="3203684"/>
              <a:ext cx="364671" cy="18466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8606644" y="4222830"/>
            <a:ext cx="1905920" cy="646331"/>
            <a:chOff x="7082644" y="4222829"/>
            <a:chExt cx="1905920" cy="646331"/>
          </a:xfrm>
        </p:grpSpPr>
        <p:sp>
          <p:nvSpPr>
            <p:cNvPr id="12" name="TextBox 11"/>
            <p:cNvSpPr txBox="1"/>
            <p:nvPr/>
          </p:nvSpPr>
          <p:spPr>
            <a:xfrm>
              <a:off x="7558877" y="4222829"/>
              <a:ext cx="1429687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text between</a:t>
              </a:r>
              <a:br>
                <a:rPr lang="en-US" dirty="0">
                  <a:solidFill>
                    <a:prstClr val="black"/>
                  </a:solidFill>
                  <a:latin typeface="Calibri"/>
                </a:rPr>
              </a:br>
              <a:r>
                <a:rPr lang="en-US" dirty="0">
                  <a:solidFill>
                    <a:prstClr val="black"/>
                  </a:solidFill>
                  <a:latin typeface="Calibri"/>
                </a:rPr>
                <a:t>blocks</a:t>
              </a:r>
            </a:p>
          </p:txBody>
        </p:sp>
        <p:cxnSp>
          <p:nvCxnSpPr>
            <p:cNvPr id="22" name="Straight Arrow Connector 21"/>
            <p:cNvCxnSpPr>
              <a:stCxn id="12" idx="1"/>
            </p:cNvCxnSpPr>
            <p:nvPr/>
          </p:nvCxnSpPr>
          <p:spPr>
            <a:xfrm flipH="1" flipV="1">
              <a:off x="7082644" y="4366845"/>
              <a:ext cx="476233" cy="17915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8449088" y="5157192"/>
            <a:ext cx="2063476" cy="504056"/>
            <a:chOff x="6925088" y="5157192"/>
            <a:chExt cx="2063476" cy="504056"/>
          </a:xfrm>
        </p:grpSpPr>
        <p:sp>
          <p:nvSpPr>
            <p:cNvPr id="13" name="TextBox 12"/>
            <p:cNvSpPr txBox="1"/>
            <p:nvPr/>
          </p:nvSpPr>
          <p:spPr>
            <a:xfrm>
              <a:off x="7362028" y="5291916"/>
              <a:ext cx="162653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line comments</a:t>
              </a:r>
            </a:p>
          </p:txBody>
        </p:sp>
        <p:cxnSp>
          <p:nvCxnSpPr>
            <p:cNvPr id="25" name="Straight Arrow Connector 24"/>
            <p:cNvCxnSpPr>
              <a:stCxn id="13" idx="1"/>
            </p:cNvCxnSpPr>
            <p:nvPr/>
          </p:nvCxnSpPr>
          <p:spPr>
            <a:xfrm flipH="1" flipV="1">
              <a:off x="6925088" y="5157192"/>
              <a:ext cx="436940" cy="31939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116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861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pattern: improved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4060" y="1196752"/>
            <a:ext cx="4507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file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   := </a:t>
            </a:r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junk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*</a:t>
            </a:r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 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(</a:t>
            </a:r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block junk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*)+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4060" y="1580368"/>
            <a:ext cx="520527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block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  := </a:t>
            </a:r>
            <a:r>
              <a:rPr lang="en-US" u="sng" dirty="0">
                <a:solidFill>
                  <a:prstClr val="black"/>
                </a:solidFill>
                <a:latin typeface="Lucida Sans Typewriter" pitchFamily="49" charset="0"/>
              </a:rPr>
              <a:t>begin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</a:t>
            </a:r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name comment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?</a:t>
            </a:r>
          </a:p>
          <a:p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            (</a:t>
            </a:r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comment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| empty line)*</a:t>
            </a:r>
          </a:p>
          <a:p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            </a:t>
            </a:r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data comment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?</a:t>
            </a:r>
          </a:p>
          <a:p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            (</a:t>
            </a:r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comment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| empty line)*</a:t>
            </a:r>
          </a:p>
          <a:p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            …</a:t>
            </a:r>
          </a:p>
          <a:p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          </a:t>
            </a:r>
            <a:r>
              <a:rPr lang="en-US" u="sng" dirty="0">
                <a:solidFill>
                  <a:prstClr val="black"/>
                </a:solidFill>
                <a:latin typeface="Lucida Sans Typewriter" pitchFamily="49" charset="0"/>
              </a:rPr>
              <a:t>end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</a:t>
            </a:r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name comment?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4059" y="3348978"/>
            <a:ext cx="2555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   := string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4060" y="3732594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data    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:=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0269" y="1484784"/>
            <a:ext cx="253665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latin typeface="Calibri"/>
              </a:rPr>
              <a:t>Notation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:</a:t>
            </a:r>
            <a:br>
              <a:rPr lang="en-US" sz="2000" dirty="0">
                <a:solidFill>
                  <a:prstClr val="black"/>
                </a:solidFill>
                <a:latin typeface="Calibri"/>
              </a:rPr>
            </a:br>
            <a:r>
              <a:rPr lang="en-US" sz="2000" dirty="0">
                <a:solidFill>
                  <a:prstClr val="black"/>
                </a:solidFill>
                <a:latin typeface="Calibri"/>
              </a:rPr>
              <a:t>    </a:t>
            </a:r>
            <a:r>
              <a:rPr lang="en-US" sz="2000" dirty="0">
                <a:solidFill>
                  <a:prstClr val="black"/>
                </a:solidFill>
                <a:latin typeface="Lucida Sans Typewriter" pitchFamily="49" charset="0"/>
              </a:rPr>
              <a:t>?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: zero or one</a:t>
            </a:r>
            <a:br>
              <a:rPr lang="en-US" sz="2000" dirty="0">
                <a:solidFill>
                  <a:prstClr val="black"/>
                </a:solidFill>
                <a:latin typeface="Calibri"/>
              </a:rPr>
            </a:br>
            <a:r>
              <a:rPr lang="en-US" sz="2000" dirty="0">
                <a:solidFill>
                  <a:prstClr val="black"/>
                </a:solidFill>
                <a:latin typeface="Calibri"/>
              </a:rPr>
              <a:t>    </a:t>
            </a:r>
            <a:r>
              <a:rPr lang="en-US" sz="2000" dirty="0">
                <a:solidFill>
                  <a:prstClr val="black"/>
                </a:solidFill>
                <a:latin typeface="Lucida Sans Typewriter" pitchFamily="49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: zero or more</a:t>
            </a:r>
            <a:br>
              <a:rPr lang="en-US" sz="2000" dirty="0">
                <a:solidFill>
                  <a:prstClr val="black"/>
                </a:solidFill>
                <a:latin typeface="Calibri"/>
              </a:rPr>
            </a:br>
            <a:r>
              <a:rPr lang="en-US" sz="2000" dirty="0">
                <a:solidFill>
                  <a:prstClr val="black"/>
                </a:solidFill>
                <a:latin typeface="Calibri"/>
              </a:rPr>
              <a:t>    </a:t>
            </a:r>
            <a:r>
              <a:rPr lang="en-US" sz="2000" dirty="0">
                <a:solidFill>
                  <a:prstClr val="black"/>
                </a:solidFill>
                <a:latin typeface="Lucida Sans Typewriter" pitchFamily="49" charset="0"/>
              </a:rPr>
              <a:t>+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: one or more</a:t>
            </a:r>
          </a:p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    </a:t>
            </a:r>
            <a:r>
              <a:rPr lang="en-US" sz="2000" dirty="0">
                <a:solidFill>
                  <a:prstClr val="black"/>
                </a:solidFill>
                <a:latin typeface="Lucida Sans Typewriter" pitchFamily="49" charset="0"/>
              </a:rPr>
              <a:t>|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: either, or (choice)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4059" y="4116210"/>
            <a:ext cx="2834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comment 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:= </a:t>
            </a:r>
            <a:r>
              <a:rPr lang="en-US" u="sng" dirty="0">
                <a:solidFill>
                  <a:prstClr val="black"/>
                </a:solidFill>
                <a:latin typeface="Lucida Sans Typewriter" pitchFamily="49" charset="0"/>
              </a:rPr>
              <a:t>#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string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4060" y="4499829"/>
            <a:ext cx="3392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Lucida Sans Typewriter" pitchFamily="49" charset="0"/>
              </a:rPr>
              <a:t>junk    </a:t>
            </a: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:= string |</a:t>
            </a:r>
            <a:br>
              <a:rPr lang="en-US" dirty="0">
                <a:solidFill>
                  <a:prstClr val="black"/>
                </a:solidFill>
                <a:latin typeface="Lucida Sans Typewriter" pitchFamily="49" charset="0"/>
              </a:rPr>
            </a:br>
            <a:r>
              <a:rPr lang="en-US" dirty="0">
                <a:solidFill>
                  <a:prstClr val="black"/>
                </a:solidFill>
                <a:latin typeface="Lucida Sans Typewriter" pitchFamily="49" charset="0"/>
              </a:rPr>
              <a:t>             empty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9936" y="3325048"/>
            <a:ext cx="4968552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This data was produced using </a:t>
            </a:r>
            <a:r>
              <a:rPr lang="en-US" sz="12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SomeSoftware</a:t>
            </a: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™</a:t>
            </a:r>
          </a:p>
          <a:p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begin block_1</a:t>
            </a:r>
          </a:p>
          <a:p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0.322617473156</a:t>
            </a:r>
          </a:p>
          <a:p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0.369558068115   # this value is suspicious</a:t>
            </a:r>
          </a:p>
          <a:p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0.732467264353</a:t>
            </a:r>
          </a:p>
          <a:p>
            <a:endParaRPr lang="en-US" sz="12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0.584389170786</a:t>
            </a:r>
          </a:p>
          <a:p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 block_1</a:t>
            </a:r>
          </a:p>
          <a:p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There can be anything between blocks,</a:t>
            </a:r>
          </a:p>
          <a:p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all kind of useful information or inane chatter.</a:t>
            </a:r>
          </a:p>
          <a:p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begin block_2</a:t>
            </a:r>
          </a:p>
          <a:p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0.0705959106085</a:t>
            </a:r>
          </a:p>
          <a:p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 this is a comment about all values below</a:t>
            </a:r>
          </a:p>
          <a:p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0.65856743041</a:t>
            </a:r>
          </a:p>
          <a:p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0.526762713499</a:t>
            </a:r>
          </a:p>
          <a:p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0.823193820644</a:t>
            </a:r>
          </a:p>
          <a:p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 block_2</a:t>
            </a:r>
          </a:p>
          <a:p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117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297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pattern: computable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4059" y="1340769"/>
            <a:ext cx="3514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prstClr val="black"/>
                </a:solidFill>
                <a:latin typeface="Lucida Sans Typewriter" pitchFamily="49" charset="0"/>
              </a:rPr>
              <a:t>file</a:t>
            </a:r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    := </a:t>
            </a:r>
            <a:r>
              <a:rPr lang="en-US" sz="1400" i="1" dirty="0">
                <a:solidFill>
                  <a:prstClr val="black"/>
                </a:solidFill>
                <a:latin typeface="Lucida Sans Typewriter" pitchFamily="49" charset="0"/>
              </a:rPr>
              <a:t>junk</a:t>
            </a:r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*</a:t>
            </a:r>
            <a:r>
              <a:rPr lang="en-US" sz="1400" i="1" dirty="0">
                <a:solidFill>
                  <a:prstClr val="black"/>
                </a:solidFill>
                <a:latin typeface="Lucida Sans Typewriter" pitchFamily="49" charset="0"/>
              </a:rPr>
              <a:t> </a:t>
            </a:r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(</a:t>
            </a:r>
            <a:r>
              <a:rPr lang="en-US" sz="1400" i="1" dirty="0">
                <a:solidFill>
                  <a:prstClr val="black"/>
                </a:solidFill>
                <a:latin typeface="Lucida Sans Typewriter" pitchFamily="49" charset="0"/>
              </a:rPr>
              <a:t>block junk</a:t>
            </a:r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*)+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4060" y="1724385"/>
            <a:ext cx="405110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prstClr val="black"/>
                </a:solidFill>
                <a:latin typeface="Lucida Sans Typewriter" pitchFamily="49" charset="0"/>
              </a:rPr>
              <a:t>block</a:t>
            </a:r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   := </a:t>
            </a:r>
            <a:r>
              <a:rPr lang="en-US" sz="1400" u="sng" dirty="0">
                <a:solidFill>
                  <a:prstClr val="black"/>
                </a:solidFill>
                <a:latin typeface="Lucida Sans Typewriter" pitchFamily="49" charset="0"/>
              </a:rPr>
              <a:t>begin</a:t>
            </a:r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 </a:t>
            </a:r>
            <a:r>
              <a:rPr lang="en-US" sz="1400" i="1" dirty="0">
                <a:solidFill>
                  <a:prstClr val="black"/>
                </a:solidFill>
                <a:latin typeface="Lucida Sans Typewriter" pitchFamily="49" charset="0"/>
              </a:rPr>
              <a:t>name comment</a:t>
            </a:r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?</a:t>
            </a:r>
          </a:p>
          <a:p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             (</a:t>
            </a:r>
            <a:r>
              <a:rPr lang="en-US" sz="1400" i="1" dirty="0">
                <a:solidFill>
                  <a:prstClr val="black"/>
                </a:solidFill>
                <a:latin typeface="Lucida Sans Typewriter" pitchFamily="49" charset="0"/>
              </a:rPr>
              <a:t>comment</a:t>
            </a:r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 | empty line)*</a:t>
            </a:r>
          </a:p>
          <a:p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             </a:t>
            </a:r>
            <a:r>
              <a:rPr lang="en-US" sz="1400" i="1" dirty="0">
                <a:solidFill>
                  <a:prstClr val="black"/>
                </a:solidFill>
                <a:latin typeface="Lucida Sans Typewriter" pitchFamily="49" charset="0"/>
              </a:rPr>
              <a:t>data comment</a:t>
            </a:r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?</a:t>
            </a:r>
          </a:p>
          <a:p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             (</a:t>
            </a:r>
            <a:r>
              <a:rPr lang="en-US" sz="1400" i="1" dirty="0">
                <a:solidFill>
                  <a:prstClr val="black"/>
                </a:solidFill>
                <a:latin typeface="Lucida Sans Typewriter" pitchFamily="49" charset="0"/>
              </a:rPr>
              <a:t>comment</a:t>
            </a:r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 | empty line)*</a:t>
            </a:r>
          </a:p>
          <a:p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             …</a:t>
            </a:r>
          </a:p>
          <a:p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           </a:t>
            </a:r>
            <a:r>
              <a:rPr lang="en-US" sz="1400" u="sng" dirty="0">
                <a:solidFill>
                  <a:prstClr val="black"/>
                </a:solidFill>
                <a:latin typeface="Lucida Sans Typewriter" pitchFamily="49" charset="0"/>
              </a:rPr>
              <a:t>end</a:t>
            </a:r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 </a:t>
            </a:r>
            <a:r>
              <a:rPr lang="en-US" sz="1400" i="1" dirty="0">
                <a:solidFill>
                  <a:prstClr val="black"/>
                </a:solidFill>
                <a:latin typeface="Lucida Sans Typewriter" pitchFamily="49" charset="0"/>
              </a:rPr>
              <a:t>name comment?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4060" y="3492995"/>
            <a:ext cx="2010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prstClr val="black"/>
                </a:solidFill>
                <a:latin typeface="Lucida Sans Typewriter" pitchFamily="49" charset="0"/>
              </a:rPr>
              <a:t>name</a:t>
            </a:r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    := string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4059" y="3876611"/>
            <a:ext cx="1795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prstClr val="black"/>
                </a:solidFill>
                <a:latin typeface="Lucida Sans Typewriter" pitchFamily="49" charset="0"/>
              </a:rPr>
              <a:t>data    </a:t>
            </a:r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:=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4060" y="4260227"/>
            <a:ext cx="22252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prstClr val="black"/>
                </a:solidFill>
                <a:latin typeface="Lucida Sans Typewriter" pitchFamily="49" charset="0"/>
              </a:rPr>
              <a:t>comment </a:t>
            </a:r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:= </a:t>
            </a:r>
            <a:r>
              <a:rPr lang="en-US" sz="1400" u="sng" dirty="0">
                <a:solidFill>
                  <a:prstClr val="black"/>
                </a:solidFill>
                <a:latin typeface="Lucida Sans Typewriter" pitchFamily="49" charset="0"/>
              </a:rPr>
              <a:t>#</a:t>
            </a:r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 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4059" y="4643844"/>
            <a:ext cx="2654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prstClr val="black"/>
                </a:solidFill>
                <a:latin typeface="Lucida Sans Typewriter" pitchFamily="49" charset="0"/>
              </a:rPr>
              <a:t>junk    </a:t>
            </a:r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:= string |</a:t>
            </a:r>
            <a:b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</a:br>
            <a:r>
              <a:rPr lang="en-US" sz="1400" dirty="0">
                <a:solidFill>
                  <a:prstClr val="black"/>
                </a:solidFill>
                <a:latin typeface="Lucida Sans Typewriter" pitchFamily="49" charset="0"/>
              </a:rPr>
              <a:t>             empty line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5015880" y="3454434"/>
            <a:ext cx="1788382" cy="383616"/>
            <a:chOff x="4067944" y="3454434"/>
            <a:chExt cx="1788382" cy="383616"/>
          </a:xfrm>
        </p:grpSpPr>
        <p:grpSp>
          <p:nvGrpSpPr>
            <p:cNvPr id="13" name="Group 12"/>
            <p:cNvGrpSpPr/>
            <p:nvPr/>
          </p:nvGrpSpPr>
          <p:grpSpPr>
            <a:xfrm>
              <a:off x="4572000" y="3454434"/>
              <a:ext cx="1284326" cy="383616"/>
              <a:chOff x="4499992" y="4030498"/>
              <a:chExt cx="1284326" cy="383616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4572000" y="4030498"/>
                <a:ext cx="1152128" cy="383616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499992" y="4031959"/>
                <a:ext cx="12843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  <a:latin typeface="Calibri"/>
                  </a:rPr>
                  <a:t>not in block</a:t>
                </a:r>
              </a:p>
            </p:txBody>
          </p:sp>
        </p:grpSp>
        <p:cxnSp>
          <p:nvCxnSpPr>
            <p:cNvPr id="21" name="Straight Arrow Connector 20"/>
            <p:cNvCxnSpPr>
              <a:endCxn id="12" idx="1"/>
            </p:cNvCxnSpPr>
            <p:nvPr/>
          </p:nvCxnSpPr>
          <p:spPr>
            <a:xfrm flipV="1">
              <a:off x="4067944" y="3640561"/>
              <a:ext cx="504056" cy="56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/>
          <p:cNvGrpSpPr/>
          <p:nvPr/>
        </p:nvGrpSpPr>
        <p:grpSpPr>
          <a:xfrm>
            <a:off x="6096000" y="2699629"/>
            <a:ext cx="2748122" cy="1125599"/>
            <a:chOff x="5148064" y="2699628"/>
            <a:chExt cx="2748122" cy="1125599"/>
          </a:xfrm>
        </p:grpSpPr>
        <p:grpSp>
          <p:nvGrpSpPr>
            <p:cNvPr id="14" name="Group 13"/>
            <p:cNvGrpSpPr/>
            <p:nvPr/>
          </p:nvGrpSpPr>
          <p:grpSpPr>
            <a:xfrm>
              <a:off x="6744058" y="3441611"/>
              <a:ext cx="1152128" cy="383616"/>
              <a:chOff x="4572000" y="4030498"/>
              <a:chExt cx="1152128" cy="383616"/>
            </a:xfrm>
          </p:grpSpPr>
          <p:sp>
            <p:nvSpPr>
              <p:cNvPr id="15" name="Rounded Rectangle 14"/>
              <p:cNvSpPr/>
              <p:nvPr/>
            </p:nvSpPr>
            <p:spPr>
              <a:xfrm>
                <a:off x="4572000" y="4030498"/>
                <a:ext cx="1152128" cy="383616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704198" y="4031959"/>
                <a:ext cx="9108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prstClr val="black"/>
                    </a:solidFill>
                    <a:latin typeface="Calibri"/>
                  </a:rPr>
                  <a:t>in block</a:t>
                </a:r>
              </a:p>
            </p:txBody>
          </p:sp>
        </p:grpSp>
        <p:cxnSp>
          <p:nvCxnSpPr>
            <p:cNvPr id="24" name="Curved Connector 23"/>
            <p:cNvCxnSpPr>
              <a:stCxn id="9" idx="0"/>
              <a:endCxn id="16" idx="0"/>
            </p:cNvCxnSpPr>
            <p:nvPr/>
          </p:nvCxnSpPr>
          <p:spPr>
            <a:xfrm rot="5400000" flipH="1" flipV="1">
              <a:off x="6234186" y="2356950"/>
              <a:ext cx="11362" cy="2183606"/>
            </a:xfrm>
            <a:prstGeom prst="curvedConnector3">
              <a:avLst>
                <a:gd name="adj1" fmla="val 2111970"/>
              </a:avLst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724128" y="2699628"/>
              <a:ext cx="1257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begin block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6096001" y="3825226"/>
            <a:ext cx="2100050" cy="755902"/>
            <a:chOff x="5148065" y="3825226"/>
            <a:chExt cx="2100050" cy="755902"/>
          </a:xfrm>
        </p:grpSpPr>
        <p:cxnSp>
          <p:nvCxnSpPr>
            <p:cNvPr id="29" name="Curved Connector 28"/>
            <p:cNvCxnSpPr>
              <a:stCxn id="15" idx="2"/>
              <a:endCxn id="9" idx="2"/>
            </p:cNvCxnSpPr>
            <p:nvPr/>
          </p:nvCxnSpPr>
          <p:spPr>
            <a:xfrm rot="5400000">
              <a:off x="6191678" y="2781613"/>
              <a:ext cx="12823" cy="2100050"/>
            </a:xfrm>
            <a:prstGeom prst="curvedConnector3">
              <a:avLst>
                <a:gd name="adj1" fmla="val 1882734"/>
              </a:avLst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5853092" y="4211796"/>
              <a:ext cx="1095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end block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5159896" y="3838050"/>
            <a:ext cx="2520280" cy="1823198"/>
            <a:chOff x="4211960" y="3838050"/>
            <a:chExt cx="2520280" cy="1823198"/>
          </a:xfrm>
        </p:grpSpPr>
        <p:grpSp>
          <p:nvGrpSpPr>
            <p:cNvPr id="17" name="Group 16"/>
            <p:cNvGrpSpPr/>
            <p:nvPr/>
          </p:nvGrpSpPr>
          <p:grpSpPr>
            <a:xfrm>
              <a:off x="5580112" y="5277632"/>
              <a:ext cx="1152128" cy="383616"/>
              <a:chOff x="4572000" y="4030498"/>
              <a:chExt cx="1152128" cy="383616"/>
            </a:xfrm>
          </p:grpSpPr>
          <p:sp>
            <p:nvSpPr>
              <p:cNvPr id="18" name="Rounded Rectangle 17"/>
              <p:cNvSpPr/>
              <p:nvPr/>
            </p:nvSpPr>
            <p:spPr>
              <a:xfrm>
                <a:off x="4572000" y="4030498"/>
                <a:ext cx="1152128" cy="383616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0000"/>
                  </a:solidFill>
                  <a:latin typeface="Calibri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4830290" y="4031959"/>
                <a:ext cx="6586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F0000"/>
                    </a:solidFill>
                    <a:latin typeface="Calibri"/>
                  </a:rPr>
                  <a:t>error</a:t>
                </a:r>
              </a:p>
            </p:txBody>
          </p:sp>
        </p:grpSp>
        <p:cxnSp>
          <p:nvCxnSpPr>
            <p:cNvPr id="34" name="Curved Connector 33"/>
            <p:cNvCxnSpPr>
              <a:stCxn id="9" idx="2"/>
              <a:endCxn id="18" idx="1"/>
            </p:cNvCxnSpPr>
            <p:nvPr/>
          </p:nvCxnSpPr>
          <p:spPr>
            <a:xfrm rot="16200000" flipH="1">
              <a:off x="4548393" y="4437721"/>
              <a:ext cx="1631390" cy="432048"/>
            </a:xfrm>
            <a:prstGeom prst="curvedConnector2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4211960" y="4643844"/>
              <a:ext cx="1095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alibri"/>
                </a:rPr>
                <a:t>end block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7680178" y="3825226"/>
            <a:ext cx="2102311" cy="1945198"/>
            <a:chOff x="6732241" y="3825226"/>
            <a:chExt cx="2102311" cy="1945198"/>
          </a:xfrm>
        </p:grpSpPr>
        <p:cxnSp>
          <p:nvCxnSpPr>
            <p:cNvPr id="37" name="Curved Connector 36"/>
            <p:cNvCxnSpPr>
              <a:stCxn id="15" idx="2"/>
              <a:endCxn id="18" idx="3"/>
            </p:cNvCxnSpPr>
            <p:nvPr/>
          </p:nvCxnSpPr>
          <p:spPr>
            <a:xfrm rot="5400000">
              <a:off x="6204075" y="4353392"/>
              <a:ext cx="1644213" cy="587882"/>
            </a:xfrm>
            <a:prstGeom prst="curvedConnector2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7092280" y="4293096"/>
              <a:ext cx="1742272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Calibri"/>
                </a:rPr>
                <a:t>begin block</a:t>
              </a:r>
              <a:br>
                <a:rPr lang="en-US" dirty="0">
                  <a:solidFill>
                    <a:srgbClr val="FF0000"/>
                  </a:solidFill>
                  <a:latin typeface="Calibri"/>
                </a:rPr>
              </a:br>
              <a:r>
                <a:rPr lang="en-US" dirty="0">
                  <a:solidFill>
                    <a:srgbClr val="FF0000"/>
                  </a:solidFill>
                  <a:latin typeface="Calibri"/>
                </a:rPr>
                <a:t>or</a:t>
              </a:r>
              <a:br>
                <a:rPr lang="en-US" dirty="0">
                  <a:solidFill>
                    <a:srgbClr val="FF0000"/>
                  </a:solidFill>
                  <a:latin typeface="Calibri"/>
                </a:rPr>
              </a:br>
              <a:r>
                <a:rPr lang="en-US" dirty="0">
                  <a:solidFill>
                    <a:srgbClr val="FF0000"/>
                  </a:solidFill>
                  <a:latin typeface="Calibri"/>
                </a:rPr>
                <a:t>end wrong block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  <a:latin typeface="Calibri"/>
                </a:rPr>
                <a:t>or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  <a:latin typeface="Calibri"/>
                </a:rPr>
                <a:t>end of file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4655840" y="2996952"/>
            <a:ext cx="1440160" cy="643610"/>
            <a:chOff x="3707904" y="2996952"/>
            <a:chExt cx="1440160" cy="643610"/>
          </a:xfrm>
        </p:grpSpPr>
        <p:cxnSp>
          <p:nvCxnSpPr>
            <p:cNvPr id="44" name="Curved Connector 43"/>
            <p:cNvCxnSpPr>
              <a:stCxn id="12" idx="1"/>
              <a:endCxn id="9" idx="0"/>
            </p:cNvCxnSpPr>
            <p:nvPr/>
          </p:nvCxnSpPr>
          <p:spPr>
            <a:xfrm rot="10800000" flipH="1">
              <a:off x="4499992" y="3454435"/>
              <a:ext cx="648072" cy="186127"/>
            </a:xfrm>
            <a:prstGeom prst="curvedConnector4">
              <a:avLst>
                <a:gd name="adj1" fmla="val -35274"/>
                <a:gd name="adj2" fmla="val 222819"/>
              </a:avLst>
            </a:prstGeom>
            <a:ln w="25400"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707904" y="2996952"/>
              <a:ext cx="5870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1F497D">
                      <a:lumMod val="40000"/>
                      <a:lumOff val="60000"/>
                    </a:srgbClr>
                  </a:solidFill>
                  <a:latin typeface="Calibri"/>
                </a:rPr>
                <a:t>junk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8207599" y="2204865"/>
            <a:ext cx="1230953" cy="1428555"/>
            <a:chOff x="7259662" y="2204864"/>
            <a:chExt cx="1230953" cy="1428555"/>
          </a:xfrm>
        </p:grpSpPr>
        <p:cxnSp>
          <p:nvCxnSpPr>
            <p:cNvPr id="54" name="Curved Connector 53"/>
            <p:cNvCxnSpPr>
              <a:stCxn id="15" idx="3"/>
              <a:endCxn id="16" idx="0"/>
            </p:cNvCxnSpPr>
            <p:nvPr/>
          </p:nvCxnSpPr>
          <p:spPr>
            <a:xfrm flipH="1" flipV="1">
              <a:off x="7259662" y="3443072"/>
              <a:ext cx="564516" cy="190347"/>
            </a:xfrm>
            <a:prstGeom prst="curvedConnector4">
              <a:avLst>
                <a:gd name="adj1" fmla="val -40495"/>
                <a:gd name="adj2" fmla="val 220864"/>
              </a:avLst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7308304" y="2204864"/>
              <a:ext cx="118231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1F497D">
                      <a:lumMod val="40000"/>
                      <a:lumOff val="60000"/>
                    </a:srgbClr>
                  </a:solidFill>
                  <a:latin typeface="Calibri"/>
                </a:rPr>
                <a:t>comment</a:t>
              </a:r>
              <a:br>
                <a:rPr lang="en-US" dirty="0">
                  <a:solidFill>
                    <a:srgbClr val="1F497D">
                      <a:lumMod val="40000"/>
                      <a:lumOff val="60000"/>
                    </a:srgbClr>
                  </a:solidFill>
                  <a:latin typeface="Calibri"/>
                </a:rPr>
              </a:br>
              <a:r>
                <a:rPr lang="en-US" dirty="0">
                  <a:solidFill>
                    <a:srgbClr val="1F497D">
                      <a:lumMod val="40000"/>
                      <a:lumOff val="60000"/>
                    </a:srgbClr>
                  </a:solidFill>
                  <a:latin typeface="Calibri"/>
                </a:rPr>
                <a:t>or</a:t>
              </a:r>
              <a:br>
                <a:rPr lang="en-US" dirty="0">
                  <a:solidFill>
                    <a:srgbClr val="1F497D">
                      <a:lumMod val="40000"/>
                      <a:lumOff val="60000"/>
                    </a:srgbClr>
                  </a:solidFill>
                  <a:latin typeface="Calibri"/>
                </a:rPr>
              </a:br>
              <a:r>
                <a:rPr lang="en-US" dirty="0">
                  <a:solidFill>
                    <a:srgbClr val="1F497D">
                      <a:lumMod val="40000"/>
                      <a:lumOff val="60000"/>
                    </a:srgbClr>
                  </a:solidFill>
                  <a:latin typeface="Calibri"/>
                </a:rPr>
                <a:t>empty line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8196050" y="3633420"/>
            <a:ext cx="1524002" cy="380937"/>
            <a:chOff x="7248114" y="3633419"/>
            <a:chExt cx="1524002" cy="380937"/>
          </a:xfrm>
        </p:grpSpPr>
        <p:cxnSp>
          <p:nvCxnSpPr>
            <p:cNvPr id="60" name="Curved Connector 59"/>
            <p:cNvCxnSpPr>
              <a:stCxn id="15" idx="3"/>
              <a:endCxn id="15" idx="2"/>
            </p:cNvCxnSpPr>
            <p:nvPr/>
          </p:nvCxnSpPr>
          <p:spPr>
            <a:xfrm flipH="1">
              <a:off x="7248114" y="3633419"/>
              <a:ext cx="576064" cy="191808"/>
            </a:xfrm>
            <a:prstGeom prst="curvedConnector4">
              <a:avLst>
                <a:gd name="adj1" fmla="val -39683"/>
                <a:gd name="adj2" fmla="val 219182"/>
              </a:avLst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8172400" y="3645024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data</a:t>
              </a: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6672064" y="2276872"/>
            <a:ext cx="1324786" cy="369332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create block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68016" y="4571836"/>
            <a:ext cx="1328184" cy="369332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return block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52385" y="3043119"/>
            <a:ext cx="1006879" cy="646331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"/>
              </a:rPr>
              <a:t>add data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to block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12572" y="5867980"/>
            <a:ext cx="1155637" cy="369332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raise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8128" y="1484785"/>
            <a:ext cx="301710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Finite state automaton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118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721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2" grpId="0" animBg="1"/>
      <p:bldP spid="73" grpId="0" animBg="1"/>
      <p:bldP spid="74" grpId="0" animBg="1"/>
      <p:bldP spid="10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pattern: class </a:t>
            </a:r>
            <a:r>
              <a:rPr lang="en-US" dirty="0" err="1"/>
              <a:t>BlockParser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44184" y="1457489"/>
            <a:ext cx="7837402" cy="30469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BlockParser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endParaRPr lang="en-US" sz="16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1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__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__(self):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2  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self.__states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['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in_block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', '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not_in_block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', 'error']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3   self.__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comment_pattern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re.compile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(r'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#.*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')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4   self.__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block_begin_pattern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re.compile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r'</a:t>
            </a:r>
            <a:r>
              <a:rPr lang="en-US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begin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\s+(\w+)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')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5   self.__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block_end_pattern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re.compile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r'</a:t>
            </a:r>
            <a:r>
              <a:rPr lang="en-US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end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\s+(\w+)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')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6  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self.__state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None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7   self.__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current_block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None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8  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self.__blocks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None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9  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self.__match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None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10  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self.__reset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4184" y="4913874"/>
            <a:ext cx="4751622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1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__reset(self):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2   self.__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set_state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not_in_block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')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3   self.__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current_block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None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4  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self.__blocks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[]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5   </a:t>
            </a:r>
            <a:r>
              <a:rPr lang="en-US" sz="16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self.__match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3993" y="5661248"/>
            <a:ext cx="392575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Must be called before parsing a new file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119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253450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pattern: from model to 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03513" y="1477808"/>
            <a:ext cx="5984331" cy="5047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1 for line in 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block_file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2   line = 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self.__preprocess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(line)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3   if self.__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is_in_state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not_in_block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'):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4     if self.__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is_begin_block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(line):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5       self.__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init_block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5       self.__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set_state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in_block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')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6     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elif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self.__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is_end_block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(line):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7       raise 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DanglingEndBlockError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(self)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8   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elif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self.__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is_in_state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in_block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'):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9     if self.__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is_begin_block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(line):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10       raise 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NestedBlocksError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(self)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11     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elif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self.__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is_end_block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(line):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12       if self.__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end_matches_begin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():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13         self.__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finish_block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14         self.__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set_state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not_in_block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')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15       else: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16         raise 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NonMatchingBlockDelimitersError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(self)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17     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elif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self.__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is_data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(line):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18       self.__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add_data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(line)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19   else: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20     raise 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UnknownStateError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self.get_state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())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21 if self.__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s_in_state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in_block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'):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22   raise 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NonClosedBlockError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(self)</a:t>
            </a:r>
          </a:p>
        </p:txBody>
      </p:sp>
      <p:pic>
        <p:nvPicPr>
          <p:cNvPr id="82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336" y="1628800"/>
            <a:ext cx="3963144" cy="285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120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638917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reading: design patterns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Erich Gamma, Richard Helm, Ralph Johnson and John </a:t>
            </a:r>
            <a:r>
              <a:rPr lang="en-US" dirty="0" err="1"/>
              <a:t>Vlissides</a:t>
            </a:r>
            <a:r>
              <a:rPr lang="en-US" dirty="0"/>
              <a:t> (1994) </a:t>
            </a:r>
            <a:r>
              <a:rPr lang="en-US" i="1" dirty="0"/>
              <a:t>Design patterns: elements of reusable object-oriented software</a:t>
            </a:r>
            <a:r>
              <a:rPr lang="en-US" dirty="0"/>
              <a:t>, Addison-Wesley</a:t>
            </a:r>
            <a:endParaRPr lang="en-US" sz="2800" dirty="0"/>
          </a:p>
          <a:p>
            <a:r>
              <a:rPr lang="en-US" dirty="0" err="1"/>
              <a:t>Kamon</a:t>
            </a:r>
            <a:r>
              <a:rPr lang="en-US" dirty="0"/>
              <a:t> </a:t>
            </a:r>
            <a:r>
              <a:rPr lang="en-US" dirty="0" err="1"/>
              <a:t>Ayeva</a:t>
            </a:r>
            <a:r>
              <a:rPr lang="en-US" dirty="0"/>
              <a:t> and </a:t>
            </a:r>
            <a:r>
              <a:rPr lang="en-US" dirty="0" err="1"/>
              <a:t>Sakis</a:t>
            </a:r>
            <a:r>
              <a:rPr lang="en-US" dirty="0"/>
              <a:t> </a:t>
            </a:r>
            <a:r>
              <a:rPr lang="en-US" dirty="0" err="1"/>
              <a:t>Kesampalis</a:t>
            </a:r>
            <a:r>
              <a:rPr lang="en-US" dirty="0"/>
              <a:t> (2018) </a:t>
            </a:r>
            <a:r>
              <a:rPr lang="en-US" i="1" dirty="0"/>
              <a:t>Mastering Python Design patters, </a:t>
            </a:r>
            <a:r>
              <a:rPr lang="en-US" dirty="0" err="1"/>
              <a:t>Packt</a:t>
            </a:r>
            <a:r>
              <a:rPr lang="en-US" dirty="0"/>
              <a:t>&gt;</a:t>
            </a:r>
            <a:endParaRPr lang="en-US" sz="2800" dirty="0"/>
          </a:p>
          <a:p>
            <a:endParaRPr lang="en-US" sz="2800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0769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2365</TotalTime>
  <Words>9679</Words>
  <Application>Microsoft Office PowerPoint</Application>
  <PresentationFormat>Widescreen</PresentationFormat>
  <Paragraphs>1624</Paragraphs>
  <Slides>121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33" baseType="lpstr">
      <vt:lpstr>Arial</vt:lpstr>
      <vt:lpstr>Calibri</vt:lpstr>
      <vt:lpstr>Calibri Light</vt:lpstr>
      <vt:lpstr>Courier New</vt:lpstr>
      <vt:lpstr>Informal Roman</vt:lpstr>
      <vt:lpstr>Lucida Sans Typewriter</vt:lpstr>
      <vt:lpstr>Symbol</vt:lpstr>
      <vt:lpstr>Times New Roman</vt:lpstr>
      <vt:lpstr>Wingdings</vt:lpstr>
      <vt:lpstr>Office Theme</vt:lpstr>
      <vt:lpstr>1_Office Theme</vt:lpstr>
      <vt:lpstr>Equation</vt:lpstr>
      <vt:lpstr>Python software engineering</vt:lpstr>
      <vt:lpstr>PowerPoint Presentation</vt:lpstr>
      <vt:lpstr>PowerPoint Presentation</vt:lpstr>
      <vt:lpstr>Typographical conventions</vt:lpstr>
      <vt:lpstr>Best practices</vt:lpstr>
      <vt:lpstr>Code style matters</vt:lpstr>
      <vt:lpstr>Coding == story telling</vt:lpstr>
      <vt:lpstr>Coding conventions</vt:lpstr>
      <vt:lpstr>Use language idioms</vt:lpstr>
      <vt:lpstr>Tools</vt:lpstr>
      <vt:lpstr>Further reading</vt:lpstr>
      <vt:lpstr>Type hints</vt:lpstr>
      <vt:lpstr>Motivation</vt:lpstr>
      <vt:lpstr>Where to use?</vt:lpstr>
      <vt:lpstr>Example</vt:lpstr>
      <vt:lpstr>Better: type statements</vt:lpstr>
      <vt:lpstr>Classes</vt:lpstr>
      <vt:lpstr>Generic types</vt:lpstr>
      <vt:lpstr>New types</vt:lpstr>
      <vt:lpstr>Further reading</vt:lpstr>
      <vt:lpstr>Errors: dealing with exceptions</vt:lpstr>
      <vt:lpstr>Errors</vt:lpstr>
      <vt:lpstr>Playing catch</vt:lpstr>
      <vt:lpstr>More trouble</vt:lpstr>
      <vt:lpstr>Catching more</vt:lpstr>
      <vt:lpstr>All handled!</vt:lpstr>
      <vt:lpstr>Assertions</vt:lpstr>
      <vt:lpstr>Assert use cases</vt:lpstr>
      <vt:lpstr>Code organization</vt:lpstr>
      <vt:lpstr>Python modules &amp; packages</vt:lpstr>
      <vt:lpstr>Example module &amp; use</vt:lpstr>
      <vt:lpstr>Importing functions directly</vt:lpstr>
      <vt:lpstr>Double duty</vt:lpstr>
      <vt:lpstr>Package layout &amp; use example</vt:lpstr>
      <vt:lpstr>Writing documentation &amp; simple testing</vt:lpstr>
      <vt:lpstr>Writing documentation</vt:lpstr>
      <vt:lpstr>Formatting docstrings</vt:lpstr>
      <vt:lpstr>What to document and how?</vt:lpstr>
      <vt:lpstr>Testing: meeting expectations</vt:lpstr>
      <vt:lpstr>Failing tests</vt:lpstr>
      <vt:lpstr>Further reading: documentation</vt:lpstr>
      <vt:lpstr>Unit testing</vt:lpstr>
      <vt:lpstr>Unit testing</vt:lpstr>
      <vt:lpstr>Test</vt:lpstr>
      <vt:lpstr>Running tests</vt:lpstr>
      <vt:lpstr>Assertions</vt:lpstr>
      <vt:lpstr>Checking for expected failure</vt:lpstr>
      <vt:lpstr>Parametrized tests</vt:lpstr>
      <vt:lpstr>Fixtures</vt:lpstr>
      <vt:lpstr>Function-level fixtures</vt:lpstr>
      <vt:lpstr>Module-level fixtures</vt:lpstr>
      <vt:lpstr>Tear down</vt:lpstr>
      <vt:lpstr>Running tests</vt:lpstr>
      <vt:lpstr>Test coverage</vt:lpstr>
      <vt:lpstr>Coverage usage</vt:lpstr>
      <vt:lpstr>Coverage usage</vt:lpstr>
      <vt:lpstr>Further reading</vt:lpstr>
      <vt:lpstr>Object-oriented Python</vt:lpstr>
      <vt:lpstr>Motivation: what is programming?</vt:lpstr>
      <vt:lpstr>Object-orientation</vt:lpstr>
      <vt:lpstr>Value versus object identity</vt:lpstr>
      <vt:lpstr>Defining your own classes</vt:lpstr>
      <vt:lpstr>A simple point…</vt:lpstr>
      <vt:lpstr>Making a point… or two</vt:lpstr>
      <vt:lpstr>More to the point…</vt:lpstr>
      <vt:lpstr>Making a definite point</vt:lpstr>
      <vt:lpstr>Object attributes</vt:lpstr>
      <vt:lpstr>Object attributes: control</vt:lpstr>
      <vt:lpstr>Object attribute: setter</vt:lpstr>
      <vt:lpstr>Non-trivial getter/setter</vt:lpstr>
      <vt:lpstr>More object methods</vt:lpstr>
      <vt:lpstr>Object methods</vt:lpstr>
      <vt:lpstr>Static methods</vt:lpstr>
      <vt:lpstr>Variable length argument lists</vt:lpstr>
      <vt:lpstr>More elegant solution</vt:lpstr>
      <vt:lpstr>Quick interlude</vt:lpstr>
      <vt:lpstr>Inheritance</vt:lpstr>
      <vt:lpstr>Points with mass</vt:lpstr>
      <vt:lpstr>Base classes &amp; derivation</vt:lpstr>
      <vt:lpstr>Point with mass is still Point</vt:lpstr>
      <vt:lpstr>Class attributes</vt:lpstr>
      <vt:lpstr>All those methods</vt:lpstr>
      <vt:lpstr>One more point</vt:lpstr>
      <vt:lpstr>Alternatives</vt:lpstr>
      <vt:lpstr>Further reading</vt:lpstr>
      <vt:lpstr>Data representation: Python classes case study</vt:lpstr>
      <vt:lpstr>Going OO: data abstraction</vt:lpstr>
      <vt:lpstr>Class Block: attributes</vt:lpstr>
      <vt:lpstr>Class Block: methods</vt:lpstr>
      <vt:lpstr>Class Block: method implementations</vt:lpstr>
      <vt:lpstr>Python functional programming</vt:lpstr>
      <vt:lpstr>Motivation</vt:lpstr>
      <vt:lpstr>Sorting a simple list</vt:lpstr>
      <vt:lpstr>Sorting a complex list: key function</vt:lpstr>
      <vt:lpstr>Going functional: mapping</vt:lpstr>
      <vt:lpstr>Going functional: filtering</vt:lpstr>
      <vt:lpstr>Going functional: aggregating</vt:lpstr>
      <vt:lpstr>Going functional: zip it</vt:lpstr>
      <vt:lpstr>Primes version 1.0: iterator</vt:lpstr>
      <vt:lpstr>List comprehensions vs. generators</vt:lpstr>
      <vt:lpstr>Primes version 2.0: yield</vt:lpstr>
      <vt:lpstr>yield statement</vt:lpstr>
      <vt:lpstr>Primes version 3.0: filter</vt:lpstr>
      <vt:lpstr>Other useful functions in itertools</vt:lpstr>
      <vt:lpstr>Generating data (again)</vt:lpstr>
      <vt:lpstr>Further reading: functional style</vt:lpstr>
      <vt:lpstr>Design patterns</vt:lpstr>
      <vt:lpstr>Motivation</vt:lpstr>
      <vt:lpstr>Patterns</vt:lpstr>
      <vt:lpstr>Builder</vt:lpstr>
      <vt:lpstr>Factory</vt:lpstr>
      <vt:lpstr>Decorator</vt:lpstr>
      <vt:lpstr>Strategy</vt:lpstr>
      <vt:lpstr>State pattern: convert data</vt:lpstr>
      <vt:lpstr>State pattern: model the data</vt:lpstr>
      <vt:lpstr>State pattern: annotated data</vt:lpstr>
      <vt:lpstr>State pattern: improved model</vt:lpstr>
      <vt:lpstr>State pattern: computable model</vt:lpstr>
      <vt:lpstr>State pattern: class BlockParser</vt:lpstr>
      <vt:lpstr>State pattern: from model to code</vt:lpstr>
      <vt:lpstr>Further reading: design patterns</vt:lpstr>
    </vt:vector>
  </TitlesOfParts>
  <Company>UHasselt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software engineering</dc:title>
  <dc:creator>Geert Jan Bex</dc:creator>
  <cp:lastModifiedBy>Geert Jan Bex</cp:lastModifiedBy>
  <cp:revision>77</cp:revision>
  <dcterms:created xsi:type="dcterms:W3CDTF">2019-11-14T17:09:29Z</dcterms:created>
  <dcterms:modified xsi:type="dcterms:W3CDTF">2026-03-25T12:42:09Z</dcterms:modified>
</cp:coreProperties>
</file>